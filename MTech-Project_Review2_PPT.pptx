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147470489" r:id="rId2"/>
    <p:sldId id="2147470492" r:id="rId3"/>
    <p:sldId id="2147470493" r:id="rId4"/>
    <p:sldId id="2147470487" r:id="rId5"/>
    <p:sldId id="2147470494" r:id="rId6"/>
    <p:sldId id="2147470510" r:id="rId7"/>
    <p:sldId id="2147470497" r:id="rId8"/>
    <p:sldId id="2147470511" r:id="rId9"/>
    <p:sldId id="2147470517" r:id="rId10"/>
    <p:sldId id="2147470498" r:id="rId11"/>
    <p:sldId id="2147470512" r:id="rId12"/>
    <p:sldId id="2147470513" r:id="rId13"/>
    <p:sldId id="2147470500" r:id="rId14"/>
    <p:sldId id="2147470499" r:id="rId15"/>
    <p:sldId id="2147470501" r:id="rId16"/>
    <p:sldId id="2147470509" r:id="rId17"/>
    <p:sldId id="2147470508" r:id="rId18"/>
    <p:sldId id="2147470507" r:id="rId19"/>
    <p:sldId id="2147470506" r:id="rId20"/>
    <p:sldId id="2147470514" r:id="rId21"/>
    <p:sldId id="2147470505" r:id="rId22"/>
    <p:sldId id="2147470515" r:id="rId23"/>
    <p:sldId id="2147470504" r:id="rId24"/>
    <p:sldId id="2147470516" r:id="rId25"/>
    <p:sldId id="2147470503" r:id="rId26"/>
    <p:sldId id="2147470502"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25B9ED"/>
    <a:srgbClr val="47BDAE"/>
    <a:srgbClr val="30BBDA"/>
    <a:srgbClr val="47BDAF"/>
    <a:srgbClr val="696969"/>
    <a:srgbClr val="1C4D98"/>
    <a:srgbClr val="8BC431"/>
    <a:srgbClr val="97B6BA"/>
    <a:srgbClr val="24A8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57D2CEC-C762-4923-B751-5AF2474EE5CB}" v="382" dt="2026-09-24T05:07:05.84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elJacob Biju" userId="81237e03-fe25-4856-a313-93d87126eb3a" providerId="ADAL" clId="{3C0E42A9-D743-4645-8796-E3215A5B31F9}"/>
    <pc:docChg chg="undo custSel addSld delSld modSld sldOrd">
      <pc:chgData name="NoelJacob Biju" userId="81237e03-fe25-4856-a313-93d87126eb3a" providerId="ADAL" clId="{3C0E42A9-D743-4645-8796-E3215A5B31F9}" dt="2026-09-24T05:07:25.776" v="1397" actId="6549"/>
      <pc:docMkLst>
        <pc:docMk/>
      </pc:docMkLst>
      <pc:sldChg chg="addSp delSp modSp mod delAnim modAnim">
        <pc:chgData name="NoelJacob Biju" userId="81237e03-fe25-4856-a313-93d87126eb3a" providerId="ADAL" clId="{3C0E42A9-D743-4645-8796-E3215A5B31F9}" dt="2026-09-21T06:44:47.274" v="799"/>
        <pc:sldMkLst>
          <pc:docMk/>
          <pc:sldMk cId="3377586287" sldId="2147470487"/>
        </pc:sldMkLst>
        <pc:spChg chg="mod">
          <ac:chgData name="NoelJacob Biju" userId="81237e03-fe25-4856-a313-93d87126eb3a" providerId="ADAL" clId="{3C0E42A9-D743-4645-8796-E3215A5B31F9}" dt="2026-09-21T06:34:40.026" v="721" actId="20577"/>
          <ac:spMkLst>
            <pc:docMk/>
            <pc:sldMk cId="3377586287" sldId="2147470487"/>
            <ac:spMk id="3" creationId="{25EA9B7F-B60D-6297-DC95-0FDA7E6D7C7C}"/>
          </ac:spMkLst>
        </pc:spChg>
        <pc:spChg chg="mod">
          <ac:chgData name="NoelJacob Biju" userId="81237e03-fe25-4856-a313-93d87126eb3a" providerId="ADAL" clId="{3C0E42A9-D743-4645-8796-E3215A5B31F9}" dt="2026-09-21T06:44:47.274" v="799"/>
          <ac:spMkLst>
            <pc:docMk/>
            <pc:sldMk cId="3377586287" sldId="2147470487"/>
            <ac:spMk id="6" creationId="{65221164-7940-3B34-A613-28A74A63E0F7}"/>
          </ac:spMkLst>
        </pc:spChg>
        <pc:graphicFrameChg chg="add mod modGraphic">
          <ac:chgData name="NoelJacob Biju" userId="81237e03-fe25-4856-a313-93d87126eb3a" providerId="ADAL" clId="{3C0E42A9-D743-4645-8796-E3215A5B31F9}" dt="2026-09-21T04:45:00.853" v="382" actId="14100"/>
          <ac:graphicFrameMkLst>
            <pc:docMk/>
            <pc:sldMk cId="3377586287" sldId="2147470487"/>
            <ac:graphicFrameMk id="9" creationId="{1F16DD61-A78C-CBAE-A07B-6576C9DD3645}"/>
          </ac:graphicFrameMkLst>
        </pc:graphicFrameChg>
      </pc:sldChg>
      <pc:sldChg chg="modSp mod">
        <pc:chgData name="NoelJacob Biju" userId="81237e03-fe25-4856-a313-93d87126eb3a" providerId="ADAL" clId="{3C0E42A9-D743-4645-8796-E3215A5B31F9}" dt="2026-09-21T06:43:00.479" v="791" actId="20577"/>
        <pc:sldMkLst>
          <pc:docMk/>
          <pc:sldMk cId="3449507583" sldId="2147470489"/>
        </pc:sldMkLst>
        <pc:spChg chg="mod">
          <ac:chgData name="NoelJacob Biju" userId="81237e03-fe25-4856-a313-93d87126eb3a" providerId="ADAL" clId="{3C0E42A9-D743-4645-8796-E3215A5B31F9}" dt="2026-09-21T06:43:00.479" v="791" actId="20577"/>
          <ac:spMkLst>
            <pc:docMk/>
            <pc:sldMk cId="3449507583" sldId="2147470489"/>
            <ac:spMk id="4" creationId="{598A8852-79FE-2D69-0530-D7712358063B}"/>
          </ac:spMkLst>
        </pc:spChg>
      </pc:sldChg>
      <pc:sldChg chg="modSp mod modAnim">
        <pc:chgData name="NoelJacob Biju" userId="81237e03-fe25-4856-a313-93d87126eb3a" providerId="ADAL" clId="{3C0E42A9-D743-4645-8796-E3215A5B31F9}" dt="2026-09-21T06:46:23.534" v="812"/>
        <pc:sldMkLst>
          <pc:docMk/>
          <pc:sldMk cId="2088180620" sldId="2147470492"/>
        </pc:sldMkLst>
        <pc:spChg chg="mod">
          <ac:chgData name="NoelJacob Biju" userId="81237e03-fe25-4856-a313-93d87126eb3a" providerId="ADAL" clId="{3C0E42A9-D743-4645-8796-E3215A5B31F9}" dt="2026-09-21T04:42:16.938" v="263" actId="14100"/>
          <ac:spMkLst>
            <pc:docMk/>
            <pc:sldMk cId="2088180620" sldId="2147470492"/>
            <ac:spMk id="2" creationId="{67726612-73E0-5A94-F635-3A742DD5BA94}"/>
          </ac:spMkLst>
        </pc:spChg>
        <pc:spChg chg="mod">
          <ac:chgData name="NoelJacob Biju" userId="81237e03-fe25-4856-a313-93d87126eb3a" providerId="ADAL" clId="{3C0E42A9-D743-4645-8796-E3215A5B31F9}" dt="2026-09-21T06:34:58.937" v="755" actId="20577"/>
          <ac:spMkLst>
            <pc:docMk/>
            <pc:sldMk cId="2088180620" sldId="2147470492"/>
            <ac:spMk id="3" creationId="{AB4E3812-AF2F-9DD8-6ECF-C3425146B38F}"/>
          </ac:spMkLst>
        </pc:spChg>
        <pc:spChg chg="mod">
          <ac:chgData name="NoelJacob Biju" userId="81237e03-fe25-4856-a313-93d87126eb3a" providerId="ADAL" clId="{3C0E42A9-D743-4645-8796-E3215A5B31F9}" dt="2026-09-21T06:46:23.534" v="812"/>
          <ac:spMkLst>
            <pc:docMk/>
            <pc:sldMk cId="2088180620" sldId="2147470492"/>
            <ac:spMk id="4" creationId="{2D91B1D4-191E-E882-BD37-9FBAED57B57F}"/>
          </ac:spMkLst>
        </pc:spChg>
      </pc:sldChg>
      <pc:sldChg chg="modSp mod modAnim">
        <pc:chgData name="NoelJacob Biju" userId="81237e03-fe25-4856-a313-93d87126eb3a" providerId="ADAL" clId="{3C0E42A9-D743-4645-8796-E3215A5B31F9}" dt="2026-09-21T06:44:37.774" v="798"/>
        <pc:sldMkLst>
          <pc:docMk/>
          <pc:sldMk cId="1739450533" sldId="2147470493"/>
        </pc:sldMkLst>
        <pc:spChg chg="mod">
          <ac:chgData name="NoelJacob Biju" userId="81237e03-fe25-4856-a313-93d87126eb3a" providerId="ADAL" clId="{3C0E42A9-D743-4645-8796-E3215A5B31F9}" dt="2026-09-21T04:42:54.354" v="292" actId="20577"/>
          <ac:spMkLst>
            <pc:docMk/>
            <pc:sldMk cId="1739450533" sldId="2147470493"/>
            <ac:spMk id="2" creationId="{44D551BF-43EB-C049-6D3B-4D17D5775294}"/>
          </ac:spMkLst>
        </pc:spChg>
        <pc:spChg chg="mod">
          <ac:chgData name="NoelJacob Biju" userId="81237e03-fe25-4856-a313-93d87126eb3a" providerId="ADAL" clId="{3C0E42A9-D743-4645-8796-E3215A5B31F9}" dt="2026-09-21T06:34:49.601" v="738" actId="20577"/>
          <ac:spMkLst>
            <pc:docMk/>
            <pc:sldMk cId="1739450533" sldId="2147470493"/>
            <ac:spMk id="3" creationId="{72FF40D3-B05A-88C3-591F-882A93FC9918}"/>
          </ac:spMkLst>
        </pc:spChg>
        <pc:spChg chg="mod">
          <ac:chgData name="NoelJacob Biju" userId="81237e03-fe25-4856-a313-93d87126eb3a" providerId="ADAL" clId="{3C0E42A9-D743-4645-8796-E3215A5B31F9}" dt="2026-09-21T06:44:37.774" v="798"/>
          <ac:spMkLst>
            <pc:docMk/>
            <pc:sldMk cId="1739450533" sldId="2147470493"/>
            <ac:spMk id="4" creationId="{E4452DD5-D934-4955-F39B-2109AC72692F}"/>
          </ac:spMkLst>
        </pc:spChg>
      </pc:sldChg>
      <pc:sldChg chg="modSp mod modAnim">
        <pc:chgData name="NoelJacob Biju" userId="81237e03-fe25-4856-a313-93d87126eb3a" providerId="ADAL" clId="{3C0E42A9-D743-4645-8796-E3215A5B31F9}" dt="2026-09-21T06:44:56.981" v="800"/>
        <pc:sldMkLst>
          <pc:docMk/>
          <pc:sldMk cId="2034681921" sldId="2147470494"/>
        </pc:sldMkLst>
        <pc:spChg chg="mod">
          <ac:chgData name="NoelJacob Biju" userId="81237e03-fe25-4856-a313-93d87126eb3a" providerId="ADAL" clId="{3C0E42A9-D743-4645-8796-E3215A5B31F9}" dt="2026-09-21T04:51:45.996" v="436" actId="14100"/>
          <ac:spMkLst>
            <pc:docMk/>
            <pc:sldMk cId="2034681921" sldId="2147470494"/>
            <ac:spMk id="2" creationId="{D325C8EF-A5DD-AB22-0372-51B9ABE63526}"/>
          </ac:spMkLst>
        </pc:spChg>
        <pc:spChg chg="mod">
          <ac:chgData name="NoelJacob Biju" userId="81237e03-fe25-4856-a313-93d87126eb3a" providerId="ADAL" clId="{3C0E42A9-D743-4645-8796-E3215A5B31F9}" dt="2026-09-21T04:46:05.916" v="415" actId="6549"/>
          <ac:spMkLst>
            <pc:docMk/>
            <pc:sldMk cId="2034681921" sldId="2147470494"/>
            <ac:spMk id="3" creationId="{CB15F4B8-EED0-F7BE-96C7-D7AAE989A251}"/>
          </ac:spMkLst>
        </pc:spChg>
        <pc:spChg chg="mod">
          <ac:chgData name="NoelJacob Biju" userId="81237e03-fe25-4856-a313-93d87126eb3a" providerId="ADAL" clId="{3C0E42A9-D743-4645-8796-E3215A5B31F9}" dt="2026-09-21T06:44:56.981" v="800"/>
          <ac:spMkLst>
            <pc:docMk/>
            <pc:sldMk cId="2034681921" sldId="2147470494"/>
            <ac:spMk id="4" creationId="{6CE164B1-01DD-BF3B-88E8-DF2DEDBFA9EB}"/>
          </ac:spMkLst>
        </pc:spChg>
      </pc:sldChg>
      <pc:sldChg chg="modSp mod modAnim">
        <pc:chgData name="NoelJacob Biju" userId="81237e03-fe25-4856-a313-93d87126eb3a" providerId="ADAL" clId="{3C0E42A9-D743-4645-8796-E3215A5B31F9}" dt="2026-09-21T06:45:31.158" v="805"/>
        <pc:sldMkLst>
          <pc:docMk/>
          <pc:sldMk cId="679362563" sldId="2147470497"/>
        </pc:sldMkLst>
        <pc:spChg chg="mod">
          <ac:chgData name="NoelJacob Biju" userId="81237e03-fe25-4856-a313-93d87126eb3a" providerId="ADAL" clId="{3C0E42A9-D743-4645-8796-E3215A5B31F9}" dt="2026-09-21T05:43:21.924" v="493" actId="14100"/>
          <ac:spMkLst>
            <pc:docMk/>
            <pc:sldMk cId="679362563" sldId="2147470497"/>
            <ac:spMk id="2" creationId="{30F88864-2E71-2992-AD53-E8948837272B}"/>
          </ac:spMkLst>
        </pc:spChg>
        <pc:spChg chg="mod">
          <ac:chgData name="NoelJacob Biju" userId="81237e03-fe25-4856-a313-93d87126eb3a" providerId="ADAL" clId="{3C0E42A9-D743-4645-8796-E3215A5B31F9}" dt="2026-09-21T04:53:32.368" v="470" actId="6549"/>
          <ac:spMkLst>
            <pc:docMk/>
            <pc:sldMk cId="679362563" sldId="2147470497"/>
            <ac:spMk id="3" creationId="{3411E118-0427-BF72-3B78-1707B0D6E382}"/>
          </ac:spMkLst>
        </pc:spChg>
        <pc:spChg chg="mod">
          <ac:chgData name="NoelJacob Biju" userId="81237e03-fe25-4856-a313-93d87126eb3a" providerId="ADAL" clId="{3C0E42A9-D743-4645-8796-E3215A5B31F9}" dt="2026-09-21T06:45:31.158" v="805"/>
          <ac:spMkLst>
            <pc:docMk/>
            <pc:sldMk cId="679362563" sldId="2147470497"/>
            <ac:spMk id="4" creationId="{64F7A196-7B69-DD68-52A5-39CD9B799F7D}"/>
          </ac:spMkLst>
        </pc:spChg>
      </pc:sldChg>
      <pc:sldChg chg="modSp mod modAnim">
        <pc:chgData name="NoelJacob Biju" userId="81237e03-fe25-4856-a313-93d87126eb3a" providerId="ADAL" clId="{3C0E42A9-D743-4645-8796-E3215A5B31F9}" dt="2026-09-21T06:46:49.714" v="816"/>
        <pc:sldMkLst>
          <pc:docMk/>
          <pc:sldMk cId="107944653" sldId="2147470498"/>
        </pc:sldMkLst>
        <pc:spChg chg="mod">
          <ac:chgData name="NoelJacob Biju" userId="81237e03-fe25-4856-a313-93d87126eb3a" providerId="ADAL" clId="{3C0E42A9-D743-4645-8796-E3215A5B31F9}" dt="2026-09-21T05:44:40.214" v="524" actId="20577"/>
          <ac:spMkLst>
            <pc:docMk/>
            <pc:sldMk cId="107944653" sldId="2147470498"/>
            <ac:spMk id="2" creationId="{6E433592-8155-CD6F-B5E3-78AB52F31DE6}"/>
          </ac:spMkLst>
        </pc:spChg>
        <pc:spChg chg="mod">
          <ac:chgData name="NoelJacob Biju" userId="81237e03-fe25-4856-a313-93d87126eb3a" providerId="ADAL" clId="{3C0E42A9-D743-4645-8796-E3215A5B31F9}" dt="2026-09-21T06:34:26.569" v="702" actId="20577"/>
          <ac:spMkLst>
            <pc:docMk/>
            <pc:sldMk cId="107944653" sldId="2147470498"/>
            <ac:spMk id="3" creationId="{3D243BDD-B44E-04F0-FA93-336DD2FFA770}"/>
          </ac:spMkLst>
        </pc:spChg>
        <pc:spChg chg="mod">
          <ac:chgData name="NoelJacob Biju" userId="81237e03-fe25-4856-a313-93d87126eb3a" providerId="ADAL" clId="{3C0E42A9-D743-4645-8796-E3215A5B31F9}" dt="2026-09-21T06:46:49.714" v="816"/>
          <ac:spMkLst>
            <pc:docMk/>
            <pc:sldMk cId="107944653" sldId="2147470498"/>
            <ac:spMk id="4" creationId="{FEA3EC9D-D5AF-E54C-A3D0-5E42F32DC03B}"/>
          </ac:spMkLst>
        </pc:spChg>
      </pc:sldChg>
      <pc:sldChg chg="addSp delSp modSp mod delAnim">
        <pc:chgData name="NoelJacob Biju" userId="81237e03-fe25-4856-a313-93d87126eb3a" providerId="ADAL" clId="{3C0E42A9-D743-4645-8796-E3215A5B31F9}" dt="2026-09-21T06:47:33.739" v="822"/>
        <pc:sldMkLst>
          <pc:docMk/>
          <pc:sldMk cId="2198371957" sldId="2147470499"/>
        </pc:sldMkLst>
        <pc:spChg chg="mod">
          <ac:chgData name="NoelJacob Biju" userId="81237e03-fe25-4856-a313-93d87126eb3a" providerId="ADAL" clId="{3C0E42A9-D743-4645-8796-E3215A5B31F9}" dt="2026-09-21T06:34:06.134" v="664" actId="20577"/>
          <ac:spMkLst>
            <pc:docMk/>
            <pc:sldMk cId="2198371957" sldId="2147470499"/>
            <ac:spMk id="3" creationId="{DBEA9949-295E-B2C7-8E3A-639B0AD48F51}"/>
          </ac:spMkLst>
        </pc:spChg>
        <pc:spChg chg="mod">
          <ac:chgData name="NoelJacob Biju" userId="81237e03-fe25-4856-a313-93d87126eb3a" providerId="ADAL" clId="{3C0E42A9-D743-4645-8796-E3215A5B31F9}" dt="2026-09-21T06:47:33.739" v="822"/>
          <ac:spMkLst>
            <pc:docMk/>
            <pc:sldMk cId="2198371957" sldId="2147470499"/>
            <ac:spMk id="4" creationId="{AB5AC1E1-8B68-1019-1B7A-0CF7BDC8B3EC}"/>
          </ac:spMkLst>
        </pc:spChg>
        <pc:picChg chg="add mod">
          <ac:chgData name="NoelJacob Biju" userId="81237e03-fe25-4856-a313-93d87126eb3a" providerId="ADAL" clId="{3C0E42A9-D743-4645-8796-E3215A5B31F9}" dt="2026-09-21T06:33:56.044" v="647" actId="1076"/>
          <ac:picMkLst>
            <pc:docMk/>
            <pc:sldMk cId="2198371957" sldId="2147470499"/>
            <ac:picMk id="10" creationId="{A359D200-3185-C6D8-FCB6-B9B5A4CAD78C}"/>
          </ac:picMkLst>
        </pc:picChg>
      </pc:sldChg>
      <pc:sldChg chg="addSp delSp modSp mod delAnim">
        <pc:chgData name="NoelJacob Biju" userId="81237e03-fe25-4856-a313-93d87126eb3a" providerId="ADAL" clId="{3C0E42A9-D743-4645-8796-E3215A5B31F9}" dt="2026-09-21T06:47:22.636" v="821"/>
        <pc:sldMkLst>
          <pc:docMk/>
          <pc:sldMk cId="2501109131" sldId="2147470500"/>
        </pc:sldMkLst>
        <pc:spChg chg="mod">
          <ac:chgData name="NoelJacob Biju" userId="81237e03-fe25-4856-a313-93d87126eb3a" providerId="ADAL" clId="{3C0E42A9-D743-4645-8796-E3215A5B31F9}" dt="2026-09-21T06:34:13.915" v="681" actId="20577"/>
          <ac:spMkLst>
            <pc:docMk/>
            <pc:sldMk cId="2501109131" sldId="2147470500"/>
            <ac:spMk id="3" creationId="{E8F67352-6E77-1E87-24B7-ED7906E0679C}"/>
          </ac:spMkLst>
        </pc:spChg>
        <pc:spChg chg="mod">
          <ac:chgData name="NoelJacob Biju" userId="81237e03-fe25-4856-a313-93d87126eb3a" providerId="ADAL" clId="{3C0E42A9-D743-4645-8796-E3215A5B31F9}" dt="2026-09-21T06:47:22.636" v="821"/>
          <ac:spMkLst>
            <pc:docMk/>
            <pc:sldMk cId="2501109131" sldId="2147470500"/>
            <ac:spMk id="4" creationId="{8C26B487-77E4-5D5B-7416-E64E3C867A98}"/>
          </ac:spMkLst>
        </pc:spChg>
        <pc:graphicFrameChg chg="add mod modGraphic">
          <ac:chgData name="NoelJacob Biju" userId="81237e03-fe25-4856-a313-93d87126eb3a" providerId="ADAL" clId="{3C0E42A9-D743-4645-8796-E3215A5B31F9}" dt="2026-09-21T05:53:33.069" v="638" actId="12385"/>
          <ac:graphicFrameMkLst>
            <pc:docMk/>
            <pc:sldMk cId="2501109131" sldId="2147470500"/>
            <ac:graphicFrameMk id="9" creationId="{43FC746B-6628-9DE9-6AB2-3C1EFD334941}"/>
          </ac:graphicFrameMkLst>
        </pc:graphicFrameChg>
      </pc:sldChg>
      <pc:sldChg chg="modSp add mod ord">
        <pc:chgData name="NoelJacob Biju" userId="81237e03-fe25-4856-a313-93d87126eb3a" providerId="ADAL" clId="{3C0E42A9-D743-4645-8796-E3215A5B31F9}" dt="2026-09-21T06:43:22.652" v="796" actId="20577"/>
        <pc:sldMkLst>
          <pc:docMk/>
          <pc:sldMk cId="1721820254" sldId="2147470501"/>
        </pc:sldMkLst>
        <pc:spChg chg="mod">
          <ac:chgData name="NoelJacob Biju" userId="81237e03-fe25-4856-a313-93d87126eb3a" providerId="ADAL" clId="{3C0E42A9-D743-4645-8796-E3215A5B31F9}" dt="2026-09-21T06:43:22.652" v="796" actId="20577"/>
          <ac:spMkLst>
            <pc:docMk/>
            <pc:sldMk cId="1721820254" sldId="2147470501"/>
            <ac:spMk id="4" creationId="{B4A25F4C-5989-5D1C-030B-5FBCA474A7D7}"/>
          </ac:spMkLst>
        </pc:spChg>
      </pc:sldChg>
      <pc:sldChg chg="addSp delSp modSp add mod ord delAnim">
        <pc:chgData name="NoelJacob Biju" userId="81237e03-fe25-4856-a313-93d87126eb3a" providerId="ADAL" clId="{3C0E42A9-D743-4645-8796-E3215A5B31F9}" dt="2026-09-21T08:14:40.309" v="1183" actId="20577"/>
        <pc:sldMkLst>
          <pc:docMk/>
          <pc:sldMk cId="4195440524" sldId="2147470502"/>
        </pc:sldMkLst>
        <pc:spChg chg="mod">
          <ac:chgData name="NoelJacob Biju" userId="81237e03-fe25-4856-a313-93d87126eb3a" providerId="ADAL" clId="{3C0E42A9-D743-4645-8796-E3215A5B31F9}" dt="2026-09-21T08:14:40.309" v="1183" actId="20577"/>
          <ac:spMkLst>
            <pc:docMk/>
            <pc:sldMk cId="4195440524" sldId="2147470502"/>
            <ac:spMk id="3" creationId="{241E2666-43BA-0185-13CD-6D157DB23992}"/>
          </ac:spMkLst>
        </pc:spChg>
        <pc:spChg chg="mod">
          <ac:chgData name="NoelJacob Biju" userId="81237e03-fe25-4856-a313-93d87126eb3a" providerId="ADAL" clId="{3C0E42A9-D743-4645-8796-E3215A5B31F9}" dt="2026-09-21T08:14:31.660" v="1166" actId="20577"/>
          <ac:spMkLst>
            <pc:docMk/>
            <pc:sldMk cId="4195440524" sldId="2147470502"/>
            <ac:spMk id="4" creationId="{57AEB8F5-E665-6120-8BE4-448D4215129D}"/>
          </ac:spMkLst>
        </pc:spChg>
        <pc:picChg chg="add mod">
          <ac:chgData name="NoelJacob Biju" userId="81237e03-fe25-4856-a313-93d87126eb3a" providerId="ADAL" clId="{3C0E42A9-D743-4645-8796-E3215A5B31F9}" dt="2026-09-21T08:14:21.070" v="1156" actId="14100"/>
          <ac:picMkLst>
            <pc:docMk/>
            <pc:sldMk cId="4195440524" sldId="2147470502"/>
            <ac:picMk id="9" creationId="{49D45FAE-428D-08FC-93ED-E9BC51337237}"/>
          </ac:picMkLst>
        </pc:picChg>
      </pc:sldChg>
      <pc:sldChg chg="addSp delSp modSp add mod ord delAnim">
        <pc:chgData name="NoelJacob Biju" userId="81237e03-fe25-4856-a313-93d87126eb3a" providerId="ADAL" clId="{3C0E42A9-D743-4645-8796-E3215A5B31F9}" dt="2026-09-24T05:07:25.776" v="1397" actId="6549"/>
        <pc:sldMkLst>
          <pc:docMk/>
          <pc:sldMk cId="3805107261" sldId="2147470503"/>
        </pc:sldMkLst>
        <pc:spChg chg="mod">
          <ac:chgData name="NoelJacob Biju" userId="81237e03-fe25-4856-a313-93d87126eb3a" providerId="ADAL" clId="{3C0E42A9-D743-4645-8796-E3215A5B31F9}" dt="2026-09-24T05:07:25.776" v="1397" actId="6549"/>
          <ac:spMkLst>
            <pc:docMk/>
            <pc:sldMk cId="3805107261" sldId="2147470503"/>
            <ac:spMk id="3" creationId="{9BC25845-FDA0-609E-65B2-6593EC3020F2}"/>
          </ac:spMkLst>
        </pc:spChg>
        <pc:spChg chg="mod">
          <ac:chgData name="NoelJacob Biju" userId="81237e03-fe25-4856-a313-93d87126eb3a" providerId="ADAL" clId="{3C0E42A9-D743-4645-8796-E3215A5B31F9}" dt="2026-09-21T06:52:47.577" v="872"/>
          <ac:spMkLst>
            <pc:docMk/>
            <pc:sldMk cId="3805107261" sldId="2147470503"/>
            <ac:spMk id="4" creationId="{104BB4EF-386D-0131-7F9E-30185D53FC77}"/>
          </ac:spMkLst>
        </pc:spChg>
        <pc:graphicFrameChg chg="add mod modGraphic">
          <ac:chgData name="NoelJacob Biju" userId="81237e03-fe25-4856-a313-93d87126eb3a" providerId="ADAL" clId="{3C0E42A9-D743-4645-8796-E3215A5B31F9}" dt="2026-09-24T05:07:07.200" v="1380" actId="20577"/>
          <ac:graphicFrameMkLst>
            <pc:docMk/>
            <pc:sldMk cId="3805107261" sldId="2147470503"/>
            <ac:graphicFrameMk id="8" creationId="{66867885-0069-F76A-87DE-19FA4F62A48B}"/>
          </ac:graphicFrameMkLst>
        </pc:graphicFrameChg>
      </pc:sldChg>
      <pc:sldChg chg="modSp add mod ord modAnim">
        <pc:chgData name="NoelJacob Biju" userId="81237e03-fe25-4856-a313-93d87126eb3a" providerId="ADAL" clId="{3C0E42A9-D743-4645-8796-E3215A5B31F9}" dt="2026-09-21T08:06:33.731" v="1149" actId="6549"/>
        <pc:sldMkLst>
          <pc:docMk/>
          <pc:sldMk cId="593750036" sldId="2147470504"/>
        </pc:sldMkLst>
        <pc:spChg chg="mod">
          <ac:chgData name="NoelJacob Biju" userId="81237e03-fe25-4856-a313-93d87126eb3a" providerId="ADAL" clId="{3C0E42A9-D743-4645-8796-E3215A5B31F9}" dt="2026-09-21T07:03:51.297" v="1096" actId="14100"/>
          <ac:spMkLst>
            <pc:docMk/>
            <pc:sldMk cId="593750036" sldId="2147470504"/>
            <ac:spMk id="2" creationId="{BDB9EF82-4930-750B-A7B0-40EF99E4268E}"/>
          </ac:spMkLst>
        </pc:spChg>
        <pc:spChg chg="mod">
          <ac:chgData name="NoelJacob Biju" userId="81237e03-fe25-4856-a313-93d87126eb3a" providerId="ADAL" clId="{3C0E42A9-D743-4645-8796-E3215A5B31F9}" dt="2026-09-21T08:06:33.731" v="1149" actId="6549"/>
          <ac:spMkLst>
            <pc:docMk/>
            <pc:sldMk cId="593750036" sldId="2147470504"/>
            <ac:spMk id="3" creationId="{7655AA39-9120-8CAD-D722-EDFB9B92E88E}"/>
          </ac:spMkLst>
        </pc:spChg>
        <pc:spChg chg="mod">
          <ac:chgData name="NoelJacob Biju" userId="81237e03-fe25-4856-a313-93d87126eb3a" providerId="ADAL" clId="{3C0E42A9-D743-4645-8796-E3215A5B31F9}" dt="2026-09-21T06:52:28.759" v="871"/>
          <ac:spMkLst>
            <pc:docMk/>
            <pc:sldMk cId="593750036" sldId="2147470504"/>
            <ac:spMk id="4" creationId="{AF62B12A-4E27-AC98-9030-F6EE166835B5}"/>
          </ac:spMkLst>
        </pc:spChg>
      </pc:sldChg>
      <pc:sldChg chg="modSp add mod ord modAnim">
        <pc:chgData name="NoelJacob Biju" userId="81237e03-fe25-4856-a313-93d87126eb3a" providerId="ADAL" clId="{3C0E42A9-D743-4645-8796-E3215A5B31F9}" dt="2026-09-21T06:59:53.261" v="1025"/>
        <pc:sldMkLst>
          <pc:docMk/>
          <pc:sldMk cId="3399622664" sldId="2147470505"/>
        </pc:sldMkLst>
        <pc:spChg chg="mod">
          <ac:chgData name="NoelJacob Biju" userId="81237e03-fe25-4856-a313-93d87126eb3a" providerId="ADAL" clId="{3C0E42A9-D743-4645-8796-E3215A5B31F9}" dt="2026-09-21T06:59:52.492" v="1024" actId="20577"/>
          <ac:spMkLst>
            <pc:docMk/>
            <pc:sldMk cId="3399622664" sldId="2147470505"/>
            <ac:spMk id="2" creationId="{45910631-BA56-1C07-AF18-A655A0B9F1E1}"/>
          </ac:spMkLst>
        </pc:spChg>
        <pc:spChg chg="mod">
          <ac:chgData name="NoelJacob Biju" userId="81237e03-fe25-4856-a313-93d87126eb3a" providerId="ADAL" clId="{3C0E42A9-D743-4645-8796-E3215A5B31F9}" dt="2026-09-21T06:59:08.053" v="1009" actId="6549"/>
          <ac:spMkLst>
            <pc:docMk/>
            <pc:sldMk cId="3399622664" sldId="2147470505"/>
            <ac:spMk id="3" creationId="{2F4F09A1-02F8-6DAB-D6A7-E743BA336DD8}"/>
          </ac:spMkLst>
        </pc:spChg>
        <pc:spChg chg="mod">
          <ac:chgData name="NoelJacob Biju" userId="81237e03-fe25-4856-a313-93d87126eb3a" providerId="ADAL" clId="{3C0E42A9-D743-4645-8796-E3215A5B31F9}" dt="2026-09-21T06:52:19.257" v="870"/>
          <ac:spMkLst>
            <pc:docMk/>
            <pc:sldMk cId="3399622664" sldId="2147470505"/>
            <ac:spMk id="4" creationId="{DEDB2D44-1ADD-DED0-B3AE-E0471BD2B20C}"/>
          </ac:spMkLst>
        </pc:spChg>
      </pc:sldChg>
      <pc:sldChg chg="modSp add mod ord modAnim">
        <pc:chgData name="NoelJacob Biju" userId="81237e03-fe25-4856-a313-93d87126eb3a" providerId="ADAL" clId="{3C0E42A9-D743-4645-8796-E3215A5B31F9}" dt="2026-09-21T06:58:12.829" v="976" actId="6549"/>
        <pc:sldMkLst>
          <pc:docMk/>
          <pc:sldMk cId="561120316" sldId="2147470506"/>
        </pc:sldMkLst>
        <pc:spChg chg="mod">
          <ac:chgData name="NoelJacob Biju" userId="81237e03-fe25-4856-a313-93d87126eb3a" providerId="ADAL" clId="{3C0E42A9-D743-4645-8796-E3215A5B31F9}" dt="2026-09-21T06:58:05.500" v="958" actId="20577"/>
          <ac:spMkLst>
            <pc:docMk/>
            <pc:sldMk cId="561120316" sldId="2147470506"/>
            <ac:spMk id="2" creationId="{9AC83F95-3FC9-78CA-59EB-99985AA6D0F1}"/>
          </ac:spMkLst>
        </pc:spChg>
        <pc:spChg chg="mod">
          <ac:chgData name="NoelJacob Biju" userId="81237e03-fe25-4856-a313-93d87126eb3a" providerId="ADAL" clId="{3C0E42A9-D743-4645-8796-E3215A5B31F9}" dt="2026-09-21T06:58:12.829" v="976" actId="6549"/>
          <ac:spMkLst>
            <pc:docMk/>
            <pc:sldMk cId="561120316" sldId="2147470506"/>
            <ac:spMk id="3" creationId="{74F5564D-852C-4E60-A57E-D91B5CD896E1}"/>
          </ac:spMkLst>
        </pc:spChg>
        <pc:spChg chg="mod">
          <ac:chgData name="NoelJacob Biju" userId="81237e03-fe25-4856-a313-93d87126eb3a" providerId="ADAL" clId="{3C0E42A9-D743-4645-8796-E3215A5B31F9}" dt="2026-09-21T06:51:44.486" v="869"/>
          <ac:spMkLst>
            <pc:docMk/>
            <pc:sldMk cId="561120316" sldId="2147470506"/>
            <ac:spMk id="4" creationId="{866C414C-6837-CB17-7384-46834ABB3376}"/>
          </ac:spMkLst>
        </pc:spChg>
      </pc:sldChg>
      <pc:sldChg chg="addSp delSp modSp add mod ord delAnim">
        <pc:chgData name="NoelJacob Biju" userId="81237e03-fe25-4856-a313-93d87126eb3a" providerId="ADAL" clId="{3C0E42A9-D743-4645-8796-E3215A5B31F9}" dt="2026-09-21T06:57:33.117" v="943" actId="20577"/>
        <pc:sldMkLst>
          <pc:docMk/>
          <pc:sldMk cId="1649872773" sldId="2147470507"/>
        </pc:sldMkLst>
        <pc:spChg chg="mod">
          <ac:chgData name="NoelJacob Biju" userId="81237e03-fe25-4856-a313-93d87126eb3a" providerId="ADAL" clId="{3C0E42A9-D743-4645-8796-E3215A5B31F9}" dt="2026-09-21T06:57:33.117" v="943" actId="20577"/>
          <ac:spMkLst>
            <pc:docMk/>
            <pc:sldMk cId="1649872773" sldId="2147470507"/>
            <ac:spMk id="3" creationId="{D4D0530F-5703-0F91-A5A5-D82D381175A6}"/>
          </ac:spMkLst>
        </pc:spChg>
        <pc:spChg chg="mod">
          <ac:chgData name="NoelJacob Biju" userId="81237e03-fe25-4856-a313-93d87126eb3a" providerId="ADAL" clId="{3C0E42A9-D743-4645-8796-E3215A5B31F9}" dt="2026-09-21T06:51:34.445" v="868"/>
          <ac:spMkLst>
            <pc:docMk/>
            <pc:sldMk cId="1649872773" sldId="2147470507"/>
            <ac:spMk id="6" creationId="{F29E2BDE-55C3-AFEC-8A63-4574A9AF917B}"/>
          </ac:spMkLst>
        </pc:spChg>
        <pc:graphicFrameChg chg="add mod modGraphic">
          <ac:chgData name="NoelJacob Biju" userId="81237e03-fe25-4856-a313-93d87126eb3a" providerId="ADAL" clId="{3C0E42A9-D743-4645-8796-E3215A5B31F9}" dt="2026-09-21T06:57:13.804" v="924" actId="12385"/>
          <ac:graphicFrameMkLst>
            <pc:docMk/>
            <pc:sldMk cId="1649872773" sldId="2147470507"/>
            <ac:graphicFrameMk id="8" creationId="{A1617156-C459-767B-2D48-DA478EED4C7C}"/>
          </ac:graphicFrameMkLst>
        </pc:graphicFrameChg>
      </pc:sldChg>
      <pc:sldChg chg="modSp add mod ord modAnim">
        <pc:chgData name="NoelJacob Biju" userId="81237e03-fe25-4856-a313-93d87126eb3a" providerId="ADAL" clId="{3C0E42A9-D743-4645-8796-E3215A5B31F9}" dt="2026-09-21T06:55:40.550" v="913" actId="14100"/>
        <pc:sldMkLst>
          <pc:docMk/>
          <pc:sldMk cId="1514146004" sldId="2147470508"/>
        </pc:sldMkLst>
        <pc:spChg chg="mod">
          <ac:chgData name="NoelJacob Biju" userId="81237e03-fe25-4856-a313-93d87126eb3a" providerId="ADAL" clId="{3C0E42A9-D743-4645-8796-E3215A5B31F9}" dt="2026-09-21T06:55:40.550" v="913" actId="14100"/>
          <ac:spMkLst>
            <pc:docMk/>
            <pc:sldMk cId="1514146004" sldId="2147470508"/>
            <ac:spMk id="2" creationId="{6869546A-7D0D-BE31-24A4-390484DA74C7}"/>
          </ac:spMkLst>
        </pc:spChg>
        <pc:spChg chg="mod">
          <ac:chgData name="NoelJacob Biju" userId="81237e03-fe25-4856-a313-93d87126eb3a" providerId="ADAL" clId="{3C0E42A9-D743-4645-8796-E3215A5B31F9}" dt="2026-09-21T06:53:10.334" v="890" actId="20577"/>
          <ac:spMkLst>
            <pc:docMk/>
            <pc:sldMk cId="1514146004" sldId="2147470508"/>
            <ac:spMk id="3" creationId="{1E4B4D7F-6013-7CFD-0784-8DA61F217592}"/>
          </ac:spMkLst>
        </pc:spChg>
        <pc:spChg chg="mod">
          <ac:chgData name="NoelJacob Biju" userId="81237e03-fe25-4856-a313-93d87126eb3a" providerId="ADAL" clId="{3C0E42A9-D743-4645-8796-E3215A5B31F9}" dt="2026-09-21T06:51:25.803" v="867"/>
          <ac:spMkLst>
            <pc:docMk/>
            <pc:sldMk cId="1514146004" sldId="2147470508"/>
            <ac:spMk id="4" creationId="{B6981D75-1261-387D-8D40-29B22CF2C22D}"/>
          </ac:spMkLst>
        </pc:spChg>
      </pc:sldChg>
      <pc:sldChg chg="modSp add mod ord modAnim">
        <pc:chgData name="NoelJacob Biju" userId="81237e03-fe25-4856-a313-93d87126eb3a" providerId="ADAL" clId="{3C0E42A9-D743-4645-8796-E3215A5B31F9}" dt="2026-09-21T06:51:10.736" v="866" actId="121"/>
        <pc:sldMkLst>
          <pc:docMk/>
          <pc:sldMk cId="3602596812" sldId="2147470509"/>
        </pc:sldMkLst>
        <pc:spChg chg="mod">
          <ac:chgData name="NoelJacob Biju" userId="81237e03-fe25-4856-a313-93d87126eb3a" providerId="ADAL" clId="{3C0E42A9-D743-4645-8796-E3215A5B31F9}" dt="2026-09-21T06:50:12.172" v="844" actId="14100"/>
          <ac:spMkLst>
            <pc:docMk/>
            <pc:sldMk cId="3602596812" sldId="2147470509"/>
            <ac:spMk id="2" creationId="{CB149D0E-641B-E5E4-F087-A8469DFCE9F8}"/>
          </ac:spMkLst>
        </pc:spChg>
        <pc:spChg chg="mod">
          <ac:chgData name="NoelJacob Biju" userId="81237e03-fe25-4856-a313-93d87126eb3a" providerId="ADAL" clId="{3C0E42A9-D743-4645-8796-E3215A5B31F9}" dt="2026-09-21T06:50:32.272" v="863" actId="20577"/>
          <ac:spMkLst>
            <pc:docMk/>
            <pc:sldMk cId="3602596812" sldId="2147470509"/>
            <ac:spMk id="3" creationId="{5A73C2A0-F8C3-FD1A-C29B-7BF755BBD036}"/>
          </ac:spMkLst>
        </pc:spChg>
        <pc:spChg chg="mod">
          <ac:chgData name="NoelJacob Biju" userId="81237e03-fe25-4856-a313-93d87126eb3a" providerId="ADAL" clId="{3C0E42A9-D743-4645-8796-E3215A5B31F9}" dt="2026-09-21T06:51:10.736" v="866" actId="121"/>
          <ac:spMkLst>
            <pc:docMk/>
            <pc:sldMk cId="3602596812" sldId="2147470509"/>
            <ac:spMk id="4" creationId="{F0E65F8B-82E0-2C0A-C3D9-33389C9F8A2C}"/>
          </ac:spMkLst>
        </pc:spChg>
      </pc:sldChg>
      <pc:sldChg chg="modSp add mod modAnim">
        <pc:chgData name="NoelJacob Biju" userId="81237e03-fe25-4856-a313-93d87126eb3a" providerId="ADAL" clId="{3C0E42A9-D743-4645-8796-E3215A5B31F9}" dt="2026-09-21T06:45:15.262" v="804" actId="20577"/>
        <pc:sldMkLst>
          <pc:docMk/>
          <pc:sldMk cId="3280982729" sldId="2147470510"/>
        </pc:sldMkLst>
        <pc:spChg chg="mod">
          <ac:chgData name="NoelJacob Biju" userId="81237e03-fe25-4856-a313-93d87126eb3a" providerId="ADAL" clId="{3C0E42A9-D743-4645-8796-E3215A5B31F9}" dt="2026-09-21T04:50:30.902" v="432" actId="14100"/>
          <ac:spMkLst>
            <pc:docMk/>
            <pc:sldMk cId="3280982729" sldId="2147470510"/>
            <ac:spMk id="2" creationId="{C5894BA7-732E-4F4D-D7C0-72279E9E366B}"/>
          </ac:spMkLst>
        </pc:spChg>
        <pc:spChg chg="mod">
          <ac:chgData name="NoelJacob Biju" userId="81237e03-fe25-4856-a313-93d87126eb3a" providerId="ADAL" clId="{3C0E42A9-D743-4645-8796-E3215A5B31F9}" dt="2026-09-21T04:46:23.340" v="430" actId="20577"/>
          <ac:spMkLst>
            <pc:docMk/>
            <pc:sldMk cId="3280982729" sldId="2147470510"/>
            <ac:spMk id="3" creationId="{D00F95EE-7408-909B-D27A-4F13C220897A}"/>
          </ac:spMkLst>
        </pc:spChg>
        <pc:spChg chg="mod">
          <ac:chgData name="NoelJacob Biju" userId="81237e03-fe25-4856-a313-93d87126eb3a" providerId="ADAL" clId="{3C0E42A9-D743-4645-8796-E3215A5B31F9}" dt="2026-09-21T06:45:15.262" v="804" actId="20577"/>
          <ac:spMkLst>
            <pc:docMk/>
            <pc:sldMk cId="3280982729" sldId="2147470510"/>
            <ac:spMk id="4" creationId="{8AEB623F-2C77-FCF0-1224-C010124C1F2E}"/>
          </ac:spMkLst>
        </pc:spChg>
      </pc:sldChg>
      <pc:sldChg chg="modSp add mod modAnim">
        <pc:chgData name="NoelJacob Biju" userId="81237e03-fe25-4856-a313-93d87126eb3a" providerId="ADAL" clId="{3C0E42A9-D743-4645-8796-E3215A5B31F9}" dt="2026-09-21T06:46:35.356" v="813"/>
        <pc:sldMkLst>
          <pc:docMk/>
          <pc:sldMk cId="3429622065" sldId="2147470511"/>
        </pc:sldMkLst>
        <pc:spChg chg="mod">
          <ac:chgData name="NoelJacob Biju" userId="81237e03-fe25-4856-a313-93d87126eb3a" providerId="ADAL" clId="{3C0E42A9-D743-4645-8796-E3215A5B31F9}" dt="2026-09-21T05:43:40.944" v="494" actId="20577"/>
          <ac:spMkLst>
            <pc:docMk/>
            <pc:sldMk cId="3429622065" sldId="2147470511"/>
            <ac:spMk id="2" creationId="{173B54DA-ECEB-413C-C64F-C25852A19747}"/>
          </ac:spMkLst>
        </pc:spChg>
        <pc:spChg chg="mod">
          <ac:chgData name="NoelJacob Biju" userId="81237e03-fe25-4856-a313-93d87126eb3a" providerId="ADAL" clId="{3C0E42A9-D743-4645-8796-E3215A5B31F9}" dt="2026-09-21T05:43:50.163" v="509" actId="20577"/>
          <ac:spMkLst>
            <pc:docMk/>
            <pc:sldMk cId="3429622065" sldId="2147470511"/>
            <ac:spMk id="3" creationId="{9EA46213-34B0-0105-99FF-D3E463F085E7}"/>
          </ac:spMkLst>
        </pc:spChg>
        <pc:spChg chg="mod">
          <ac:chgData name="NoelJacob Biju" userId="81237e03-fe25-4856-a313-93d87126eb3a" providerId="ADAL" clId="{3C0E42A9-D743-4645-8796-E3215A5B31F9}" dt="2026-09-21T06:46:35.356" v="813"/>
          <ac:spMkLst>
            <pc:docMk/>
            <pc:sldMk cId="3429622065" sldId="2147470511"/>
            <ac:spMk id="4" creationId="{54079C09-623E-E82A-95E0-597EFD8970FE}"/>
          </ac:spMkLst>
        </pc:spChg>
      </pc:sldChg>
      <pc:sldChg chg="modSp add mod modAnim">
        <pc:chgData name="NoelJacob Biju" userId="81237e03-fe25-4856-a313-93d87126eb3a" providerId="ADAL" clId="{3C0E42A9-D743-4645-8796-E3215A5B31F9}" dt="2026-09-21T06:47:00.554" v="817"/>
        <pc:sldMkLst>
          <pc:docMk/>
          <pc:sldMk cId="1163681081" sldId="2147470512"/>
        </pc:sldMkLst>
        <pc:spChg chg="mod">
          <ac:chgData name="NoelJacob Biju" userId="81237e03-fe25-4856-a313-93d87126eb3a" providerId="ADAL" clId="{3C0E42A9-D743-4645-8796-E3215A5B31F9}" dt="2026-09-21T05:45:35.225" v="562" actId="14100"/>
          <ac:spMkLst>
            <pc:docMk/>
            <pc:sldMk cId="1163681081" sldId="2147470512"/>
            <ac:spMk id="2" creationId="{777DB0EC-819C-4FF3-AC1C-2561E0D1A818}"/>
          </ac:spMkLst>
        </pc:spChg>
        <pc:spChg chg="mod">
          <ac:chgData name="NoelJacob Biju" userId="81237e03-fe25-4856-a313-93d87126eb3a" providerId="ADAL" clId="{3C0E42A9-D743-4645-8796-E3215A5B31F9}" dt="2026-09-21T05:44:56.562" v="557" actId="20577"/>
          <ac:spMkLst>
            <pc:docMk/>
            <pc:sldMk cId="1163681081" sldId="2147470512"/>
            <ac:spMk id="3" creationId="{50EFA8C9-EEE2-CBCF-CCE3-354019A24499}"/>
          </ac:spMkLst>
        </pc:spChg>
        <pc:spChg chg="mod">
          <ac:chgData name="NoelJacob Biju" userId="81237e03-fe25-4856-a313-93d87126eb3a" providerId="ADAL" clId="{3C0E42A9-D743-4645-8796-E3215A5B31F9}" dt="2026-09-21T06:47:00.554" v="817"/>
          <ac:spMkLst>
            <pc:docMk/>
            <pc:sldMk cId="1163681081" sldId="2147470512"/>
            <ac:spMk id="4" creationId="{8C2C792A-EF08-D452-BB12-32CECFD3998B}"/>
          </ac:spMkLst>
        </pc:spChg>
      </pc:sldChg>
      <pc:sldChg chg="addSp delSp modSp add mod addAnim delAnim modAnim">
        <pc:chgData name="NoelJacob Biju" userId="81237e03-fe25-4856-a313-93d87126eb3a" providerId="ADAL" clId="{3C0E42A9-D743-4645-8796-E3215A5B31F9}" dt="2026-09-21T06:47:13.462" v="820"/>
        <pc:sldMkLst>
          <pc:docMk/>
          <pc:sldMk cId="2291459773" sldId="2147470513"/>
        </pc:sldMkLst>
        <pc:spChg chg="mod">
          <ac:chgData name="NoelJacob Biju" userId="81237e03-fe25-4856-a313-93d87126eb3a" providerId="ADAL" clId="{3C0E42A9-D743-4645-8796-E3215A5B31F9}" dt="2026-09-21T06:47:13.462" v="820"/>
          <ac:spMkLst>
            <pc:docMk/>
            <pc:sldMk cId="2291459773" sldId="2147470513"/>
            <ac:spMk id="4" creationId="{1858D1A1-29D8-17DB-233F-177102FB4F6D}"/>
          </ac:spMkLst>
        </pc:spChg>
        <pc:spChg chg="add mod">
          <ac:chgData name="NoelJacob Biju" userId="81237e03-fe25-4856-a313-93d87126eb3a" providerId="ADAL" clId="{3C0E42A9-D743-4645-8796-E3215A5B31F9}" dt="2026-09-21T05:49:59.936" v="605" actId="255"/>
          <ac:spMkLst>
            <pc:docMk/>
            <pc:sldMk cId="2291459773" sldId="2147470513"/>
            <ac:spMk id="9" creationId="{46527056-D611-E0A5-541C-0899353FAB90}"/>
          </ac:spMkLst>
        </pc:spChg>
        <pc:graphicFrameChg chg="add mod modGraphic">
          <ac:chgData name="NoelJacob Biju" userId="81237e03-fe25-4856-a313-93d87126eb3a" providerId="ADAL" clId="{3C0E42A9-D743-4645-8796-E3215A5B31F9}" dt="2026-09-21T05:49:19.763" v="600" actId="12385"/>
          <ac:graphicFrameMkLst>
            <pc:docMk/>
            <pc:sldMk cId="2291459773" sldId="2147470513"/>
            <ac:graphicFrameMk id="8" creationId="{B331B743-D1BF-EC35-B4DA-61AA183AC41D}"/>
          </ac:graphicFrameMkLst>
        </pc:graphicFrameChg>
      </pc:sldChg>
      <pc:sldChg chg="modSp add mod modAnim">
        <pc:chgData name="NoelJacob Biju" userId="81237e03-fe25-4856-a313-93d87126eb3a" providerId="ADAL" clId="{3C0E42A9-D743-4645-8796-E3215A5B31F9}" dt="2026-09-21T06:58:55.964" v="992"/>
        <pc:sldMkLst>
          <pc:docMk/>
          <pc:sldMk cId="2886231289" sldId="2147470514"/>
        </pc:sldMkLst>
        <pc:spChg chg="mod">
          <ac:chgData name="NoelJacob Biju" userId="81237e03-fe25-4856-a313-93d87126eb3a" providerId="ADAL" clId="{3C0E42A9-D743-4645-8796-E3215A5B31F9}" dt="2026-09-21T06:58:29.537" v="991" actId="20577"/>
          <ac:spMkLst>
            <pc:docMk/>
            <pc:sldMk cId="2886231289" sldId="2147470514"/>
            <ac:spMk id="3" creationId="{B8E88580-82B2-7F99-FE3A-9F7206542EFE}"/>
          </ac:spMkLst>
        </pc:spChg>
      </pc:sldChg>
      <pc:sldChg chg="modSp add mod modAnim">
        <pc:chgData name="NoelJacob Biju" userId="81237e03-fe25-4856-a313-93d87126eb3a" providerId="ADAL" clId="{3C0E42A9-D743-4645-8796-E3215A5B31F9}" dt="2026-09-21T07:00:23.934" v="1041" actId="20577"/>
        <pc:sldMkLst>
          <pc:docMk/>
          <pc:sldMk cId="3558615221" sldId="2147470515"/>
        </pc:sldMkLst>
        <pc:spChg chg="mod">
          <ac:chgData name="NoelJacob Biju" userId="81237e03-fe25-4856-a313-93d87126eb3a" providerId="ADAL" clId="{3C0E42A9-D743-4645-8796-E3215A5B31F9}" dt="2026-09-21T07:00:23.934" v="1041" actId="20577"/>
          <ac:spMkLst>
            <pc:docMk/>
            <pc:sldMk cId="3558615221" sldId="2147470515"/>
            <ac:spMk id="3" creationId="{D6739E3D-3465-C54A-5230-6C8681E5DCB5}"/>
          </ac:spMkLst>
        </pc:spChg>
      </pc:sldChg>
      <pc:sldChg chg="modSp add mod">
        <pc:chgData name="NoelJacob Biju" userId="81237e03-fe25-4856-a313-93d87126eb3a" providerId="ADAL" clId="{3C0E42A9-D743-4645-8796-E3215A5B31F9}" dt="2026-09-21T07:04:27.346" v="1132" actId="20577"/>
        <pc:sldMkLst>
          <pc:docMk/>
          <pc:sldMk cId="2452577298" sldId="2147470516"/>
        </pc:sldMkLst>
        <pc:spChg chg="mod">
          <ac:chgData name="NoelJacob Biju" userId="81237e03-fe25-4856-a313-93d87126eb3a" providerId="ADAL" clId="{3C0E42A9-D743-4645-8796-E3215A5B31F9}" dt="2026-09-21T07:04:27.346" v="1132" actId="20577"/>
          <ac:spMkLst>
            <pc:docMk/>
            <pc:sldMk cId="2452577298" sldId="2147470516"/>
            <ac:spMk id="3" creationId="{E9038DDE-04BB-1D10-DC1E-8EEE71CEDACF}"/>
          </ac:spMkLst>
        </pc:spChg>
      </pc:sldChg>
      <pc:sldChg chg="modSp add mod modAnim">
        <pc:chgData name="NoelJacob Biju" userId="81237e03-fe25-4856-a313-93d87126eb3a" providerId="ADAL" clId="{3C0E42A9-D743-4645-8796-E3215A5B31F9}" dt="2026-09-24T05:06:05.318" v="1341"/>
        <pc:sldMkLst>
          <pc:docMk/>
          <pc:sldMk cId="956663661" sldId="2147470517"/>
        </pc:sldMkLst>
        <pc:spChg chg="mod">
          <ac:chgData name="NoelJacob Biju" userId="81237e03-fe25-4856-a313-93d87126eb3a" providerId="ADAL" clId="{3C0E42A9-D743-4645-8796-E3215A5B31F9}" dt="2026-09-24T05:06:02.937" v="1339" actId="14100"/>
          <ac:spMkLst>
            <pc:docMk/>
            <pc:sldMk cId="956663661" sldId="2147470517"/>
            <ac:spMk id="2" creationId="{D2ACCE20-0592-AC65-1112-728E1DF59108}"/>
          </ac:spMkLst>
        </pc:spChg>
        <pc:spChg chg="mod">
          <ac:chgData name="NoelJacob Biju" userId="81237e03-fe25-4856-a313-93d87126eb3a" providerId="ADAL" clId="{3C0E42A9-D743-4645-8796-E3215A5B31F9}" dt="2026-09-24T05:05:05.216" v="1335" actId="20577"/>
          <ac:spMkLst>
            <pc:docMk/>
            <pc:sldMk cId="956663661" sldId="2147470517"/>
            <ac:spMk id="3" creationId="{C9C086ED-88E8-8B10-5B92-92C4982C372B}"/>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3F4D17B-9B25-2D63-E389-71163BD2C8E7}"/>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FC4ED1-FB42-4A6C-B292-B8C58946A859}"/>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535A630-145D-4232-9865-98341E30F7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7083635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837F2-3C53-43E6-9F25-242D13C5ABD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D302C3C5-9B28-493B-9422-74FF4AE1808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70436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9B68FAD-9CFA-CBF0-4B37-9944C2E932A1}"/>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D4B6E2-CC70-4366-ABC8-87480CC35BD1}"/>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A0D34EE-ED80-45A7-B964-53ED80D9466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3433036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3BCD6-D227-4C30-8364-6F161FA122F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5DC3054-5604-4679-AF7D-07BF06BE01A4}"/>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247BA85-32D5-4EA3-9F8B-5A8B9251743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961234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F33A1-3BE5-4F1B-8E70-082254902238}"/>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E4C4CAE0-72F2-4F22-A85A-772E3DA044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EDE67E9-F76F-4049-98D4-82E9E7C800E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332A94-E906-4159-9FE4-E63CFAE0BE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C16D1AA-A642-4FEB-91F0-3F506A2AE8F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9363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BF108-6EC2-4592-9D33-716E6B1ACF9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826736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7387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2AB71-FC15-4C88-A99B-0D66CDCEEF56}"/>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0369B3E-A4BB-45D7-ABB7-1E151F04FE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FD4C72-B215-468A-8722-23007428B0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694330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42731-906B-40B4-86D3-CD7878598D2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61042F1-26FD-477E-A079-62384AA43E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C52E8FE-8F89-4D08-8341-786A0381BB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738541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B0375-D926-48D9-8605-813B1B64E6F6}"/>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B8D7657-21CC-45AA-A2CE-92653962FC4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39364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A09EBA-4206-40BF-81B1-742CF8BD5BA1}"/>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B8BE7B-6EB1-4B41-A25B-B41833E5B2B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11384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255996" y="1271219"/>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
        <p:nvSpPr>
          <p:cNvPr id="4" name="Text Placeholder 13">
            <a:extLst>
              <a:ext uri="{FF2B5EF4-FFF2-40B4-BE49-F238E27FC236}">
                <a16:creationId xmlns:a16="http://schemas.microsoft.com/office/drawing/2014/main" id="{06C9D6B8-9A00-34FD-3E41-E67F07F278E4}"/>
              </a:ext>
            </a:extLst>
          </p:cNvPr>
          <p:cNvSpPr>
            <a:spLocks noGrp="1"/>
          </p:cNvSpPr>
          <p:nvPr>
            <p:ph type="body" sz="quarter" idx="15" hasCustomPrompt="1"/>
          </p:nvPr>
        </p:nvSpPr>
        <p:spPr>
          <a:xfrm>
            <a:off x="255996" y="629525"/>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36477356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173803" y="469835"/>
            <a:ext cx="11672300" cy="650048"/>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2443542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microsoft.com/office/2007/relationships/hdphoto" Target="../media/hdphoto1.wdp"/><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19" Type="http://schemas.microsoft.com/office/2007/relationships/hdphoto" Target="../media/hdphoto2.wdp"/><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2D087FE-85BE-5152-9EB5-3B57AE38DD48}"/>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 y="5337544"/>
            <a:ext cx="12191994" cy="1548307"/>
          </a:xfrm>
          <a:prstGeom prst="rect">
            <a:avLst/>
          </a:prstGeom>
        </p:spPr>
      </p:pic>
      <p:sp>
        <p:nvSpPr>
          <p:cNvPr id="7" name="Rectangle 6">
            <a:extLst>
              <a:ext uri="{FF2B5EF4-FFF2-40B4-BE49-F238E27FC236}">
                <a16:creationId xmlns:a16="http://schemas.microsoft.com/office/drawing/2014/main" id="{8EFA70D2-ADBF-0DD4-D7D1-F37201867E99}"/>
              </a:ext>
            </a:extLst>
          </p:cNvPr>
          <p:cNvSpPr/>
          <p:nvPr userDrawn="1"/>
        </p:nvSpPr>
        <p:spPr>
          <a:xfrm>
            <a:off x="0" y="0"/>
            <a:ext cx="12192000" cy="365125"/>
          </a:xfrm>
          <a:prstGeom prst="rect">
            <a:avLst/>
          </a:prstGeom>
          <a:gradFill>
            <a:gsLst>
              <a:gs pos="5000">
                <a:srgbClr val="47BDAE"/>
              </a:gs>
              <a:gs pos="59000">
                <a:srgbClr val="25B9ED"/>
              </a:gs>
              <a:gs pos="100000">
                <a:srgbClr val="FFFF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2000" b="1" i="1" dirty="0">
              <a:solidFill>
                <a:schemeClr val="bg1">
                  <a:lumMod val="75000"/>
                </a:schemeClr>
              </a:solidFill>
            </a:endParaRPr>
          </a:p>
        </p:txBody>
      </p:sp>
      <p:sp>
        <p:nvSpPr>
          <p:cNvPr id="3" name="Text Placeholder 2">
            <a:extLst>
              <a:ext uri="{FF2B5EF4-FFF2-40B4-BE49-F238E27FC236}">
                <a16:creationId xmlns:a16="http://schemas.microsoft.com/office/drawing/2014/main" id="{F8BC08DB-FBED-4A43-AE4B-B2CE371FE61E}"/>
              </a:ext>
            </a:extLst>
          </p:cNvPr>
          <p:cNvSpPr>
            <a:spLocks noGrp="1"/>
          </p:cNvSpPr>
          <p:nvPr>
            <p:ph type="body" idx="1"/>
          </p:nvPr>
        </p:nvSpPr>
        <p:spPr>
          <a:xfrm>
            <a:off x="677271" y="1191757"/>
            <a:ext cx="11004446" cy="479500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28" name="Picture 4" descr="LTIMindtree logo in transparent PNG and vectorized SVG formats">
            <a:extLst>
              <a:ext uri="{FF2B5EF4-FFF2-40B4-BE49-F238E27FC236}">
                <a16:creationId xmlns:a16="http://schemas.microsoft.com/office/drawing/2014/main" id="{21F70453-17DB-04F6-290A-DCDEF9FDE02E}"/>
              </a:ext>
            </a:extLst>
          </p:cNvPr>
          <p:cNvPicPr>
            <a:picLocks noChangeAspect="1" noChangeArrowheads="1"/>
          </p:cNvPicPr>
          <p:nvPr userDrawn="1"/>
        </p:nvPicPr>
        <p:blipFill>
          <a:blip r:embed="rId16">
            <a:extLst>
              <a:ext uri="{BEBA8EAE-BF5A-486C-A8C5-ECC9F3942E4B}">
                <a14:imgProps xmlns:a14="http://schemas.microsoft.com/office/drawing/2010/main">
                  <a14:imgLayer r:embed="rId17">
                    <a14:imgEffect>
                      <a14:saturation sat="400000"/>
                    </a14:imgEffect>
                    <a14:imgEffect>
                      <a14:brightnessContrast bright="-20000"/>
                    </a14:imgEffect>
                  </a14:imgLayer>
                </a14:imgProps>
              </a:ext>
              <a:ext uri="{28A0092B-C50C-407E-A947-70E740481C1C}">
                <a14:useLocalDpi xmlns:a14="http://schemas.microsoft.com/office/drawing/2010/main" val="0"/>
              </a:ext>
            </a:extLst>
          </a:blip>
          <a:srcRect/>
          <a:stretch>
            <a:fillRect/>
          </a:stretch>
        </p:blipFill>
        <p:spPr bwMode="auto">
          <a:xfrm>
            <a:off x="10545387" y="6562429"/>
            <a:ext cx="1541059" cy="295571"/>
          </a:xfrm>
          <a:prstGeom prst="rect">
            <a:avLst/>
          </a:prstGeom>
          <a:noFill/>
        </p:spPr>
      </p:pic>
      <p:sp>
        <p:nvSpPr>
          <p:cNvPr id="6" name="Title Placeholder 1">
            <a:extLst>
              <a:ext uri="{FF2B5EF4-FFF2-40B4-BE49-F238E27FC236}">
                <a16:creationId xmlns:a16="http://schemas.microsoft.com/office/drawing/2014/main" id="{DBDE3A73-7407-B3B5-0BC2-D13C973D143A}"/>
              </a:ext>
            </a:extLst>
          </p:cNvPr>
          <p:cNvSpPr txBox="1">
            <a:spLocks/>
          </p:cNvSpPr>
          <p:nvPr userDrawn="1"/>
        </p:nvSpPr>
        <p:spPr>
          <a:xfrm>
            <a:off x="221274" y="88514"/>
            <a:ext cx="8176583" cy="110324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p>
        </p:txBody>
      </p:sp>
      <p:sp>
        <p:nvSpPr>
          <p:cNvPr id="11" name="Text Placeholder 2">
            <a:extLst>
              <a:ext uri="{FF2B5EF4-FFF2-40B4-BE49-F238E27FC236}">
                <a16:creationId xmlns:a16="http://schemas.microsoft.com/office/drawing/2014/main" id="{70A0B4C8-C250-76C3-01DB-D728F6B32656}"/>
              </a:ext>
            </a:extLst>
          </p:cNvPr>
          <p:cNvSpPr txBox="1">
            <a:spLocks/>
          </p:cNvSpPr>
          <p:nvPr userDrawn="1"/>
        </p:nvSpPr>
        <p:spPr>
          <a:xfrm>
            <a:off x="391411" y="640135"/>
            <a:ext cx="11290305" cy="5237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latin typeface="Calibri (Body)"/>
            </a:endParaRPr>
          </a:p>
        </p:txBody>
      </p:sp>
      <p:sp>
        <p:nvSpPr>
          <p:cNvPr id="12" name="Text Placeholder 2">
            <a:extLst>
              <a:ext uri="{FF2B5EF4-FFF2-40B4-BE49-F238E27FC236}">
                <a16:creationId xmlns:a16="http://schemas.microsoft.com/office/drawing/2014/main" id="{349D7A90-F0A3-C216-D67E-9B86D1BECDF5}"/>
              </a:ext>
            </a:extLst>
          </p:cNvPr>
          <p:cNvSpPr txBox="1">
            <a:spLocks/>
          </p:cNvSpPr>
          <p:nvPr userDrawn="1"/>
        </p:nvSpPr>
        <p:spPr>
          <a:xfrm>
            <a:off x="158720" y="413891"/>
            <a:ext cx="10025576" cy="6859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13" name="Picture 12">
            <a:extLst>
              <a:ext uri="{FF2B5EF4-FFF2-40B4-BE49-F238E27FC236}">
                <a16:creationId xmlns:a16="http://schemas.microsoft.com/office/drawing/2014/main" id="{383075D7-F006-A81F-68F1-A5F218FAF004}"/>
              </a:ext>
            </a:extLst>
          </p:cNvPr>
          <p:cNvPicPr>
            <a:picLocks noChangeAspect="1"/>
          </p:cNvPicPr>
          <p:nvPr userDrawn="1"/>
        </p:nvPicPr>
        <p:blipFill>
          <a:blip r:embed="rId18">
            <a:extLst>
              <a:ext uri="{BEBA8EAE-BF5A-486C-A8C5-ECC9F3942E4B}">
                <a14:imgProps xmlns:a14="http://schemas.microsoft.com/office/drawing/2010/main">
                  <a14:imgLayer r:embed="rId19">
                    <a14:imgEffect>
                      <a14:brightnessContrast bright="-20000" contrast="20000"/>
                    </a14:imgEffect>
                  </a14:imgLayer>
                </a14:imgProps>
              </a:ext>
            </a:extLst>
          </a:blip>
          <a:stretch>
            <a:fillRect/>
          </a:stretch>
        </p:blipFill>
        <p:spPr>
          <a:xfrm>
            <a:off x="105554" y="6358271"/>
            <a:ext cx="964436" cy="411216"/>
          </a:xfrm>
          <a:prstGeom prst="rect">
            <a:avLst/>
          </a:prstGeom>
        </p:spPr>
      </p:pic>
    </p:spTree>
    <p:extLst>
      <p:ext uri="{BB962C8B-B14F-4D97-AF65-F5344CB8AC3E}">
        <p14:creationId xmlns:p14="http://schemas.microsoft.com/office/powerpoint/2010/main" val="26804827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microsoft.com/office/2007/relationships/hdphoto" Target="../media/hdphoto3.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microsoft.com/office/2007/relationships/hdphoto" Target="../media/hdphoto3.wdp"/></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8D30BC0-07A3-DCDA-0D0B-DD40C2178A62}"/>
              </a:ext>
            </a:extLst>
          </p:cNvPr>
          <p:cNvSpPr/>
          <p:nvPr/>
        </p:nvSpPr>
        <p:spPr>
          <a:xfrm>
            <a:off x="-31269" y="29737"/>
            <a:ext cx="12254538" cy="6868389"/>
          </a:xfrm>
          <a:prstGeom prst="rect">
            <a:avLst/>
          </a:prstGeom>
          <a:gradFill>
            <a:gsLst>
              <a:gs pos="0">
                <a:srgbClr val="47BDAF"/>
              </a:gs>
              <a:gs pos="100000">
                <a:srgbClr val="3793A6"/>
              </a:gs>
              <a:gs pos="39000">
                <a:srgbClr val="1C4D98"/>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utiger LT Pro 45 Light" panose="020B0403030504020204" pitchFamily="34" charset="0"/>
              <a:ea typeface="+mn-ea"/>
              <a:cs typeface="+mn-cs"/>
            </a:endParaRPr>
          </a:p>
        </p:txBody>
      </p:sp>
      <p:sp>
        <p:nvSpPr>
          <p:cNvPr id="14" name="Text Placeholder 1">
            <a:extLst>
              <a:ext uri="{FF2B5EF4-FFF2-40B4-BE49-F238E27FC236}">
                <a16:creationId xmlns:a16="http://schemas.microsoft.com/office/drawing/2014/main" id="{0741E81D-922F-23FE-07A9-320FA2B27E3A}"/>
              </a:ext>
            </a:extLst>
          </p:cNvPr>
          <p:cNvSpPr>
            <a:spLocks noGrp="1"/>
          </p:cNvSpPr>
          <p:nvPr>
            <p:ph type="body" sz="quarter" idx="13"/>
          </p:nvPr>
        </p:nvSpPr>
        <p:spPr>
          <a:xfrm>
            <a:off x="2289635" y="17705"/>
            <a:ext cx="6910121" cy="1058125"/>
          </a:xfrm>
        </p:spPr>
        <p:txBody>
          <a:bodyPr/>
          <a:lstStyle/>
          <a:p>
            <a:pPr marL="0" indent="0" algn="ctr">
              <a:buNone/>
            </a:pPr>
            <a:r>
              <a:rPr lang="en-US" sz="4400" dirty="0">
                <a:solidFill>
                  <a:schemeClr val="bg1"/>
                </a:solidFill>
              </a:rPr>
              <a:t>M.Tech/MCA Program </a:t>
            </a:r>
          </a:p>
          <a:p>
            <a:pPr marL="0" indent="0" algn="ctr">
              <a:buNone/>
            </a:pPr>
            <a:r>
              <a:rPr lang="en-US" sz="2000" dirty="0">
                <a:solidFill>
                  <a:schemeClr val="bg1"/>
                </a:solidFill>
              </a:rPr>
              <a:t>Advanced Industry Integrated Programs</a:t>
            </a:r>
          </a:p>
        </p:txBody>
      </p:sp>
      <p:cxnSp>
        <p:nvCxnSpPr>
          <p:cNvPr id="15" name="Straight Connector 14">
            <a:extLst>
              <a:ext uri="{FF2B5EF4-FFF2-40B4-BE49-F238E27FC236}">
                <a16:creationId xmlns:a16="http://schemas.microsoft.com/office/drawing/2014/main" id="{ED19DFA2-C55E-F4D5-C53A-B5ECEB442DC1}"/>
              </a:ext>
            </a:extLst>
          </p:cNvPr>
          <p:cNvCxnSpPr/>
          <p:nvPr/>
        </p:nvCxnSpPr>
        <p:spPr>
          <a:xfrm>
            <a:off x="2977350" y="1120307"/>
            <a:ext cx="58662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41AA452C-B3E6-7A79-FD46-04E813851A85}"/>
              </a:ext>
            </a:extLst>
          </p:cNvPr>
          <p:cNvSpPr/>
          <p:nvPr/>
        </p:nvSpPr>
        <p:spPr>
          <a:xfrm>
            <a:off x="4125951" y="1177578"/>
            <a:ext cx="3033131" cy="286036"/>
          </a:xfrm>
          <a:prstGeom prst="roundRect">
            <a:avLst/>
          </a:prstGeom>
          <a:solidFill>
            <a:schemeClr val="accent6">
              <a:lumMod val="20000"/>
              <a:lumOff val="80000"/>
            </a:schemeClr>
          </a:solidFill>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dirty="0">
                <a:ln>
                  <a:noFill/>
                </a:ln>
                <a:solidFill>
                  <a:srgbClr val="595959"/>
                </a:solidFill>
                <a:effectLst/>
                <a:uLnTx/>
                <a:uFillTx/>
                <a:latin typeface="Frutiger 45 bold"/>
                <a:ea typeface="+mn-ea"/>
                <a:cs typeface="Calibri" panose="020F0502020204030204" pitchFamily="34" charset="0"/>
              </a:rPr>
              <a:t>Jointly offered by University and LTIMindTree</a:t>
            </a:r>
          </a:p>
        </p:txBody>
      </p:sp>
      <p:sp>
        <p:nvSpPr>
          <p:cNvPr id="4" name="TextBox 3">
            <a:extLst>
              <a:ext uri="{FF2B5EF4-FFF2-40B4-BE49-F238E27FC236}">
                <a16:creationId xmlns:a16="http://schemas.microsoft.com/office/drawing/2014/main" id="{598A8852-79FE-2D69-0530-D7712358063B}"/>
              </a:ext>
            </a:extLst>
          </p:cNvPr>
          <p:cNvSpPr txBox="1"/>
          <p:nvPr/>
        </p:nvSpPr>
        <p:spPr>
          <a:xfrm>
            <a:off x="180236" y="1659822"/>
            <a:ext cx="11428184" cy="489364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dirty="0">
                <a:solidFill>
                  <a:prstClr val="white"/>
                </a:solidFill>
                <a:cs typeface="Calibri" panose="020F0502020204030204" pitchFamily="34" charset="0"/>
              </a:rPr>
              <a:t>Review II</a:t>
            </a:r>
          </a:p>
          <a:p>
            <a:pPr algn="ctr">
              <a:defRPr/>
            </a:pPr>
            <a:r>
              <a:rPr lang="en-IN" sz="3600" dirty="0">
                <a:solidFill>
                  <a:schemeClr val="bg1"/>
                </a:solidFill>
              </a:rPr>
              <a:t>Real-Time DevOps Incident Triage &amp; Auto-Remediation Agent</a:t>
            </a: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a:p>
            <a:pPr lvl="0" algn="ctr">
              <a:defRPr/>
            </a:pPr>
            <a:r>
              <a:rPr lang="en-US" sz="2400" b="1" dirty="0">
                <a:solidFill>
                  <a:prstClr val="white"/>
                </a:solidFill>
                <a:cs typeface="Calibri" panose="020F0502020204030204" pitchFamily="34" charset="0"/>
              </a:rPr>
              <a:t>Noel Jacob Biju</a:t>
            </a:r>
          </a:p>
          <a:p>
            <a:pPr lvl="0" algn="ctr">
              <a:defRPr/>
            </a:pPr>
            <a:r>
              <a:rPr lang="en-US" sz="2400" b="1" dirty="0">
                <a:solidFill>
                  <a:prstClr val="white"/>
                </a:solidFill>
                <a:cs typeface="Calibri" panose="020F0502020204030204" pitchFamily="34" charset="0"/>
              </a:rPr>
              <a:t>MTech AI&amp;ML with </a:t>
            </a:r>
            <a:r>
              <a:rPr lang="en-US" sz="2400" b="1" dirty="0" err="1">
                <a:solidFill>
                  <a:prstClr val="white"/>
                </a:solidFill>
                <a:cs typeface="Calibri" panose="020F0502020204030204" pitchFamily="34" charset="0"/>
              </a:rPr>
              <a:t>LTiMindtree</a:t>
            </a:r>
            <a:r>
              <a:rPr lang="en-US" sz="2400" b="1" dirty="0">
                <a:solidFill>
                  <a:prstClr val="white"/>
                </a:solidFill>
                <a:cs typeface="Calibri" panose="020F0502020204030204" pitchFamily="34" charset="0"/>
              </a:rPr>
              <a:t> collaboration</a:t>
            </a:r>
          </a:p>
          <a:p>
            <a:pPr lvl="0" algn="ctr">
              <a:defRPr/>
            </a:pPr>
            <a:r>
              <a:rPr lang="en-US" sz="2400" b="1" dirty="0">
                <a:solidFill>
                  <a:prstClr val="white"/>
                </a:solidFill>
                <a:cs typeface="Calibri" panose="020F0502020204030204" pitchFamily="34" charset="0"/>
              </a:rPr>
              <a:t>T9988</a:t>
            </a:r>
          </a:p>
          <a:p>
            <a:pPr lvl="0" algn="ctr">
              <a:defRPr/>
            </a:pPr>
            <a:r>
              <a:rPr lang="en-US" sz="2400" b="1" dirty="0">
                <a:solidFill>
                  <a:prstClr val="white"/>
                </a:solidFill>
                <a:cs typeface="Calibri" panose="020F0502020204030204" pitchFamily="34" charset="0"/>
              </a:rPr>
              <a:t>VIT Chennai</a:t>
            </a:r>
          </a:p>
          <a:p>
            <a:pPr lvl="0" algn="ctr">
              <a:defRPr/>
            </a:pPr>
            <a:endParaRPr lang="en-US" sz="5400" b="1" dirty="0">
              <a:solidFill>
                <a:prstClr val="white"/>
              </a:solidFill>
              <a:latin typeface="Frutiger 45 bold"/>
              <a:cs typeface="Calibri" panose="020F0502020204030204" pitchFamily="34" charset="0"/>
            </a:endParaRP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p:txBody>
      </p:sp>
      <p:graphicFrame>
        <p:nvGraphicFramePr>
          <p:cNvPr id="3" name="Table 2">
            <a:extLst>
              <a:ext uri="{FF2B5EF4-FFF2-40B4-BE49-F238E27FC236}">
                <a16:creationId xmlns:a16="http://schemas.microsoft.com/office/drawing/2014/main" id="{0E7F5D19-19F4-F87F-17C2-8520612BCFEC}"/>
              </a:ext>
            </a:extLst>
          </p:cNvPr>
          <p:cNvGraphicFramePr>
            <a:graphicFrameLocks noGrp="1"/>
          </p:cNvGraphicFramePr>
          <p:nvPr/>
        </p:nvGraphicFramePr>
        <p:xfrm>
          <a:off x="-47290" y="5501244"/>
          <a:ext cx="12239216" cy="3264833"/>
        </p:xfrm>
        <a:graphic>
          <a:graphicData uri="http://schemas.openxmlformats.org/drawingml/2006/table">
            <a:tbl>
              <a:tblPr firstRow="1" bandRow="1">
                <a:tableStyleId>{5940675A-B579-460E-94D1-54222C63F5DA}</a:tableStyleId>
              </a:tblPr>
              <a:tblGrid>
                <a:gridCol w="6119608">
                  <a:extLst>
                    <a:ext uri="{9D8B030D-6E8A-4147-A177-3AD203B41FA5}">
                      <a16:colId xmlns:a16="http://schemas.microsoft.com/office/drawing/2014/main" val="586572480"/>
                    </a:ext>
                  </a:extLst>
                </a:gridCol>
                <a:gridCol w="6119608">
                  <a:extLst>
                    <a:ext uri="{9D8B030D-6E8A-4147-A177-3AD203B41FA5}">
                      <a16:colId xmlns:a16="http://schemas.microsoft.com/office/drawing/2014/main" val="157907922"/>
                    </a:ext>
                  </a:extLst>
                </a:gridCol>
              </a:tblGrid>
              <a:tr h="15274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Knowledge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                                                                     Implementation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3668230"/>
                  </a:ext>
                </a:extLst>
              </a:tr>
              <a:tr h="1184198">
                <a:tc>
                  <a:txBody>
                    <a:bodyPr/>
                    <a:lstStyle/>
                    <a:p>
                      <a:endParaRPr lang="en-US" dirty="0"/>
                    </a:p>
                    <a:p>
                      <a:endParaRPr lang="en-US" dirty="0"/>
                    </a:p>
                    <a:p>
                      <a:endParaRPr lang="en-US" dirty="0"/>
                    </a:p>
                    <a:p>
                      <a:endParaRPr lang="en-US" dirty="0"/>
                    </a:p>
                    <a:p>
                      <a:endParaRPr lang="en-US" dirty="0"/>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66263768"/>
                  </a:ext>
                </a:extLst>
              </a:tr>
            </a:tbl>
          </a:graphicData>
        </a:graphic>
      </p:graphicFrame>
      <p:pic>
        <p:nvPicPr>
          <p:cNvPr id="8" name="Picture 7">
            <a:extLst>
              <a:ext uri="{FF2B5EF4-FFF2-40B4-BE49-F238E27FC236}">
                <a16:creationId xmlns:a16="http://schemas.microsoft.com/office/drawing/2014/main" id="{2715C658-0B94-5B63-55F1-B9B6F645F0D0}"/>
              </a:ext>
            </a:extLst>
          </p:cNvPr>
          <p:cNvPicPr>
            <a:picLocks noChangeAspect="1"/>
          </p:cNvPicPr>
          <p:nvPr/>
        </p:nvPicPr>
        <p:blipFill>
          <a:blip r:embed="rId2"/>
          <a:stretch>
            <a:fillRect/>
          </a:stretch>
        </p:blipFill>
        <p:spPr>
          <a:xfrm>
            <a:off x="9775332" y="5852667"/>
            <a:ext cx="1987468" cy="847417"/>
          </a:xfrm>
          <a:prstGeom prst="rect">
            <a:avLst/>
          </a:prstGeom>
        </p:spPr>
      </p:pic>
      <p:pic>
        <p:nvPicPr>
          <p:cNvPr id="9" name="Picture 2" descr="LTIMindtree - Technology Consulting and Digital Solutions Company">
            <a:extLst>
              <a:ext uri="{FF2B5EF4-FFF2-40B4-BE49-F238E27FC236}">
                <a16:creationId xmlns:a16="http://schemas.microsoft.com/office/drawing/2014/main" id="{B3D78849-E5F7-1DB2-227F-14244586123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0" y="5852667"/>
            <a:ext cx="3886489" cy="8648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95075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18EFD-13D1-118F-A8E4-F9E2D3695A6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7726612-73E0-5A94-F635-3A742DD5BA94}"/>
              </a:ext>
            </a:extLst>
          </p:cNvPr>
          <p:cNvSpPr>
            <a:spLocks noGrp="1"/>
          </p:cNvSpPr>
          <p:nvPr>
            <p:ph type="body" sz="quarter" idx="13"/>
          </p:nvPr>
        </p:nvSpPr>
        <p:spPr>
          <a:xfrm>
            <a:off x="255996" y="1271219"/>
            <a:ext cx="11936004" cy="4142989"/>
          </a:xfrm>
        </p:spPr>
        <p:txBody>
          <a:bodyPr/>
          <a:lstStyle/>
          <a:p>
            <a:pPr fontAlgn="t">
              <a:buNone/>
            </a:pPr>
            <a:r>
              <a:rPr lang="en-IN" b="0" dirty="0"/>
              <a:t>The </a:t>
            </a:r>
            <a:r>
              <a:rPr lang="en-IN" dirty="0"/>
              <a:t>Agentic SRE Copilot</a:t>
            </a:r>
            <a:r>
              <a:rPr lang="en-IN" b="0" dirty="0"/>
              <a:t> is an AI-powered incident management and auto-remediation platform designed to automate the complete lifecycle of incident detection, analysis, diagnosis, and recovery in cloud-native environments. The system leverages </a:t>
            </a:r>
            <a:r>
              <a:rPr lang="en-IN" dirty="0"/>
              <a:t>Multi-Agent AI, Retrieval-Augmented Generation (RAG), </a:t>
            </a:r>
            <a:r>
              <a:rPr lang="en-IN" dirty="0" err="1"/>
              <a:t>MiniLM</a:t>
            </a:r>
            <a:r>
              <a:rPr lang="en-IN" dirty="0"/>
              <a:t> embeddings, </a:t>
            </a:r>
            <a:r>
              <a:rPr lang="en-IN" dirty="0" err="1"/>
              <a:t>ChromaDB</a:t>
            </a:r>
            <a:r>
              <a:rPr lang="en-IN" dirty="0"/>
              <a:t>, and Kubernetes</a:t>
            </a:r>
            <a:r>
              <a:rPr lang="en-IN" b="0" dirty="0"/>
              <a:t> to intelligently perform incident triage, log and metrics analysis, root cause identification, and context-aware runbook retrieval. Based on the identified root cause, it generates remediation recommendations and executes automated recovery actions such as deployment restarts and scaling through Kubernetes. By minimizing manual intervention and enabling self-healing capabilities, the Agentic SRE Copilot reduces </a:t>
            </a:r>
            <a:r>
              <a:rPr lang="en-IN" dirty="0"/>
              <a:t>Mean Time to Resolution (MTTR)</a:t>
            </a:r>
            <a:r>
              <a:rPr lang="en-IN" b="0" dirty="0"/>
              <a:t>, improves service reliability, and enhances the operational efficiency of modern cloud-native applications.</a:t>
            </a:r>
            <a:endParaRPr lang="en-IN" dirty="0"/>
          </a:p>
          <a:p>
            <a:pPr marL="0" indent="0">
              <a:lnSpc>
                <a:spcPct val="150000"/>
              </a:lnSpc>
              <a:buNone/>
            </a:pPr>
            <a:endParaRPr lang="en-US" sz="2400" b="0" dirty="0">
              <a:solidFill>
                <a:srgbClr val="5583D1"/>
              </a:solidFill>
            </a:endParaRPr>
          </a:p>
        </p:txBody>
      </p:sp>
      <p:sp>
        <p:nvSpPr>
          <p:cNvPr id="3" name="TextBox 2">
            <a:extLst>
              <a:ext uri="{FF2B5EF4-FFF2-40B4-BE49-F238E27FC236}">
                <a16:creationId xmlns:a16="http://schemas.microsoft.com/office/drawing/2014/main" id="{AB4E3812-AF2F-9DD8-6ECF-C3425146B38F}"/>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Introduction….</a:t>
            </a:r>
          </a:p>
        </p:txBody>
      </p:sp>
      <p:cxnSp>
        <p:nvCxnSpPr>
          <p:cNvPr id="5" name="Straight Connector 4">
            <a:extLst>
              <a:ext uri="{FF2B5EF4-FFF2-40B4-BE49-F238E27FC236}">
                <a16:creationId xmlns:a16="http://schemas.microsoft.com/office/drawing/2014/main" id="{A295426A-3395-FE92-30C7-C8A6AC62DE62}"/>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D91B1D4-191E-E882-BD37-9FBAED57B57F}"/>
              </a:ext>
            </a:extLst>
          </p:cNvPr>
          <p:cNvSpPr txBox="1"/>
          <p:nvPr/>
        </p:nvSpPr>
        <p:spPr>
          <a:xfrm>
            <a:off x="6093893" y="57036"/>
            <a:ext cx="6098107" cy="923330"/>
          </a:xfrm>
          <a:prstGeom prst="rect">
            <a:avLst/>
          </a:prstGeom>
          <a:noFill/>
        </p:spPr>
        <p:txBody>
          <a:bodyPr wrap="square" rtlCol="0">
            <a:spAutoFit/>
          </a:bodyPr>
          <a:lstStyle/>
          <a:p>
            <a:pPr algn="ctr">
              <a:defRPr/>
            </a:pPr>
            <a:r>
              <a:rPr lang="en-IN" dirty="0">
                <a:solidFill>
                  <a:schemeClr val="bg1"/>
                </a:solidFill>
              </a:rPr>
              <a:t>Real-Time DevOps Incident Triage &amp; Auto-Remediation Agent</a:t>
            </a:r>
            <a:endParaRPr lang="en-US" sz="3200" b="1" dirty="0">
              <a:solidFill>
                <a:prstClr val="white"/>
              </a:solidFill>
              <a:latin typeface="Frutiger 45 bold"/>
              <a:cs typeface="Calibri" panose="020F0502020204030204" pitchFamily="34" charset="0"/>
            </a:endParaRPr>
          </a:p>
          <a:p>
            <a:pPr algn="r"/>
            <a:endParaRPr lang="en-US" sz="1800" b="1" i="1" dirty="0">
              <a:solidFill>
                <a:srgbClr val="FFFFFF"/>
              </a:solidFill>
            </a:endParaRPr>
          </a:p>
          <a:p>
            <a:pPr algn="r"/>
            <a:endParaRPr lang="en-US" dirty="0"/>
          </a:p>
        </p:txBody>
      </p:sp>
    </p:spTree>
    <p:extLst>
      <p:ext uri="{BB962C8B-B14F-4D97-AF65-F5344CB8AC3E}">
        <p14:creationId xmlns:p14="http://schemas.microsoft.com/office/powerpoint/2010/main" val="2088180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1235D-73A1-0B84-0745-6B97432CB07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4D551BF-43EB-C049-6D3B-4D17D5775294}"/>
              </a:ext>
            </a:extLst>
          </p:cNvPr>
          <p:cNvSpPr>
            <a:spLocks noGrp="1"/>
          </p:cNvSpPr>
          <p:nvPr>
            <p:ph type="body" sz="quarter" idx="13"/>
          </p:nvPr>
        </p:nvSpPr>
        <p:spPr>
          <a:xfrm>
            <a:off x="255996" y="1271219"/>
            <a:ext cx="10624338" cy="4142989"/>
          </a:xfrm>
        </p:spPr>
        <p:txBody>
          <a:bodyPr/>
          <a:lstStyle/>
          <a:p>
            <a:pPr marL="0" indent="0">
              <a:buNone/>
            </a:pPr>
            <a:r>
              <a:rPr lang="en-IN" b="0" dirty="0"/>
              <a:t>The primary objective of the </a:t>
            </a:r>
            <a:r>
              <a:rPr lang="en-IN" dirty="0"/>
              <a:t>Agentic SRE Copilot</a:t>
            </a:r>
            <a:r>
              <a:rPr lang="en-IN" b="0" dirty="0"/>
              <a:t> is to automate incident management and remediation in cloud-native environments using </a:t>
            </a:r>
            <a:r>
              <a:rPr lang="en-IN" dirty="0"/>
              <a:t>Artificial Intelligence, Retrieval-Augmented Generation (RAG), and Kubernetes</a:t>
            </a:r>
            <a:r>
              <a:rPr lang="en-IN" b="0" dirty="0"/>
              <a:t>. The system aims to perform intelligent incident triage, log and metrics analysis, root cause identification, context-aware runbook retrieval, and automated recovery actions to reduce </a:t>
            </a:r>
            <a:r>
              <a:rPr lang="en-IN" dirty="0"/>
              <a:t>Mean Time to Resolution (MTTR)</a:t>
            </a:r>
            <a:r>
              <a:rPr lang="en-IN" b="0" dirty="0"/>
              <a:t>, minimize manual intervention, improve service reliability, and enable self-healing infrastructure for modern applications.</a:t>
            </a:r>
          </a:p>
          <a:p>
            <a:pPr marL="0" indent="0">
              <a:lnSpc>
                <a:spcPct val="150000"/>
              </a:lnSpc>
              <a:buNone/>
            </a:pPr>
            <a:endParaRPr lang="en-US" sz="2400" b="0" dirty="0">
              <a:solidFill>
                <a:srgbClr val="5583D1"/>
              </a:solidFill>
            </a:endParaRPr>
          </a:p>
        </p:txBody>
      </p:sp>
      <p:sp>
        <p:nvSpPr>
          <p:cNvPr id="3" name="TextBox 2">
            <a:extLst>
              <a:ext uri="{FF2B5EF4-FFF2-40B4-BE49-F238E27FC236}">
                <a16:creationId xmlns:a16="http://schemas.microsoft.com/office/drawing/2014/main" id="{72FF40D3-B05A-88C3-591F-882A93FC9918}"/>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Objective….</a:t>
            </a:r>
          </a:p>
        </p:txBody>
      </p:sp>
      <p:cxnSp>
        <p:nvCxnSpPr>
          <p:cNvPr id="5" name="Straight Connector 4">
            <a:extLst>
              <a:ext uri="{FF2B5EF4-FFF2-40B4-BE49-F238E27FC236}">
                <a16:creationId xmlns:a16="http://schemas.microsoft.com/office/drawing/2014/main" id="{12740D4D-2363-70E1-0E6E-1BDDA8C33C8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4452DD5-D934-4955-F39B-2109AC72692F}"/>
              </a:ext>
            </a:extLst>
          </p:cNvPr>
          <p:cNvSpPr txBox="1"/>
          <p:nvPr/>
        </p:nvSpPr>
        <p:spPr>
          <a:xfrm>
            <a:off x="6093893" y="57036"/>
            <a:ext cx="6098107" cy="646331"/>
          </a:xfrm>
          <a:prstGeom prst="rect">
            <a:avLst/>
          </a:prstGeom>
          <a:noFill/>
        </p:spPr>
        <p:txBody>
          <a:bodyPr wrap="square" rtlCol="0">
            <a:spAutoFit/>
          </a:bodyPr>
          <a:lstStyle/>
          <a:p>
            <a:pPr algn="ctr">
              <a:defRPr/>
            </a:pPr>
            <a:r>
              <a:rPr lang="en-IN" dirty="0">
                <a:solidFill>
                  <a:schemeClr val="bg1"/>
                </a:solidFill>
              </a:rPr>
              <a:t>Real-Time DevOps Incident Triage &amp; Auto-Remediation Agent</a:t>
            </a:r>
            <a:endParaRPr lang="en-US" sz="3200" b="1" dirty="0">
              <a:solidFill>
                <a:prstClr val="white"/>
              </a:solidFill>
              <a:latin typeface="Frutiger 45 bold"/>
              <a:cs typeface="Calibri" panose="020F0502020204030204" pitchFamily="34" charset="0"/>
            </a:endParaRPr>
          </a:p>
          <a:p>
            <a:pPr algn="r"/>
            <a:endParaRPr lang="en-US" dirty="0"/>
          </a:p>
        </p:txBody>
      </p:sp>
    </p:spTree>
    <p:extLst>
      <p:ext uri="{BB962C8B-B14F-4D97-AF65-F5344CB8AC3E}">
        <p14:creationId xmlns:p14="http://schemas.microsoft.com/office/powerpoint/2010/main" val="1739450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5EA9B7F-B60D-6297-DC95-0FDA7E6D7C7C}"/>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Module name</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06F77F89-4F98-73F2-FD5A-5DD416A6F12F}"/>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5221164-7940-3B34-A613-28A74A63E0F7}"/>
              </a:ext>
            </a:extLst>
          </p:cNvPr>
          <p:cNvSpPr txBox="1"/>
          <p:nvPr/>
        </p:nvSpPr>
        <p:spPr>
          <a:xfrm>
            <a:off x="6093893" y="57036"/>
            <a:ext cx="6098107" cy="646331"/>
          </a:xfrm>
          <a:prstGeom prst="rect">
            <a:avLst/>
          </a:prstGeom>
          <a:noFill/>
        </p:spPr>
        <p:txBody>
          <a:bodyPr wrap="square" rtlCol="0">
            <a:spAutoFit/>
          </a:bodyPr>
          <a:lstStyle/>
          <a:p>
            <a:pPr algn="ctr">
              <a:defRPr/>
            </a:pPr>
            <a:r>
              <a:rPr lang="en-IN" dirty="0">
                <a:solidFill>
                  <a:schemeClr val="bg1"/>
                </a:solidFill>
              </a:rPr>
              <a:t>Real-Time DevOps Incident Triage &amp; Auto-Remediation Agent</a:t>
            </a:r>
            <a:endParaRPr lang="en-US" sz="3200" b="1" dirty="0">
              <a:solidFill>
                <a:prstClr val="white"/>
              </a:solidFill>
              <a:latin typeface="Frutiger 45 bold"/>
              <a:cs typeface="Calibri" panose="020F0502020204030204" pitchFamily="34" charset="0"/>
            </a:endParaRPr>
          </a:p>
          <a:p>
            <a:pPr algn="r"/>
            <a:endParaRPr lang="en-US" dirty="0"/>
          </a:p>
        </p:txBody>
      </p:sp>
      <p:graphicFrame>
        <p:nvGraphicFramePr>
          <p:cNvPr id="9" name="Table 8">
            <a:extLst>
              <a:ext uri="{FF2B5EF4-FFF2-40B4-BE49-F238E27FC236}">
                <a16:creationId xmlns:a16="http://schemas.microsoft.com/office/drawing/2014/main" id="{1F16DD61-A78C-CBAE-A07B-6576C9DD3645}"/>
              </a:ext>
            </a:extLst>
          </p:cNvPr>
          <p:cNvGraphicFramePr>
            <a:graphicFrameLocks noGrp="1"/>
          </p:cNvGraphicFramePr>
          <p:nvPr>
            <p:extLst>
              <p:ext uri="{D42A27DB-BD31-4B8C-83A1-F6EECF244321}">
                <p14:modId xmlns:p14="http://schemas.microsoft.com/office/powerpoint/2010/main" val="1251068210"/>
              </p:ext>
            </p:extLst>
          </p:nvPr>
        </p:nvGraphicFramePr>
        <p:xfrm>
          <a:off x="1292843" y="1349115"/>
          <a:ext cx="10624338" cy="5200055"/>
        </p:xfrm>
        <a:graphic>
          <a:graphicData uri="http://schemas.openxmlformats.org/drawingml/2006/table">
            <a:tbl>
              <a:tblPr>
                <a:tableStyleId>{2D5ABB26-0587-4C30-8999-92F81FD0307C}</a:tableStyleId>
              </a:tblPr>
              <a:tblGrid>
                <a:gridCol w="5312169">
                  <a:extLst>
                    <a:ext uri="{9D8B030D-6E8A-4147-A177-3AD203B41FA5}">
                      <a16:colId xmlns:a16="http://schemas.microsoft.com/office/drawing/2014/main" val="2355018210"/>
                    </a:ext>
                  </a:extLst>
                </a:gridCol>
                <a:gridCol w="5312169">
                  <a:extLst>
                    <a:ext uri="{9D8B030D-6E8A-4147-A177-3AD203B41FA5}">
                      <a16:colId xmlns:a16="http://schemas.microsoft.com/office/drawing/2014/main" val="2308400044"/>
                    </a:ext>
                  </a:extLst>
                </a:gridCol>
              </a:tblGrid>
              <a:tr h="298036">
                <a:tc>
                  <a:txBody>
                    <a:bodyPr/>
                    <a:lstStyle/>
                    <a:p>
                      <a:pPr>
                        <a:buNone/>
                      </a:pPr>
                      <a:r>
                        <a:rPr lang="en-IN" sz="1600" dirty="0"/>
                        <a:t>Module Name</a:t>
                      </a:r>
                    </a:p>
                  </a:txBody>
                  <a:tcPr marL="70504" marR="70504" marT="35252" marB="35252" anchor="ctr"/>
                </a:tc>
                <a:tc>
                  <a:txBody>
                    <a:bodyPr/>
                    <a:lstStyle/>
                    <a:p>
                      <a:pPr>
                        <a:buNone/>
                      </a:pPr>
                      <a:r>
                        <a:rPr lang="en-IN" sz="1600"/>
                        <a:t>Function</a:t>
                      </a:r>
                    </a:p>
                  </a:txBody>
                  <a:tcPr marL="70504" marR="70504" marT="35252" marB="35252" anchor="ctr"/>
                </a:tc>
                <a:extLst>
                  <a:ext uri="{0D108BD9-81ED-4DB2-BD59-A6C34878D82A}">
                    <a16:rowId xmlns:a16="http://schemas.microsoft.com/office/drawing/2014/main" val="346012444"/>
                  </a:ext>
                </a:extLst>
              </a:tr>
              <a:tr h="529225">
                <a:tc>
                  <a:txBody>
                    <a:bodyPr/>
                    <a:lstStyle/>
                    <a:p>
                      <a:pPr>
                        <a:buNone/>
                      </a:pPr>
                      <a:r>
                        <a:rPr lang="en-IN" sz="1600" dirty="0"/>
                        <a:t>Incident Ingestion Module</a:t>
                      </a:r>
                    </a:p>
                  </a:txBody>
                  <a:tcPr marL="70504" marR="70504" marT="35252" marB="35252" anchor="ctr"/>
                </a:tc>
                <a:tc>
                  <a:txBody>
                    <a:bodyPr/>
                    <a:lstStyle/>
                    <a:p>
                      <a:pPr>
                        <a:buNone/>
                      </a:pPr>
                      <a:r>
                        <a:rPr lang="en-IN" sz="1600"/>
                        <a:t>Collects incident data, logs, metrics, and events from monitoring systems.</a:t>
                      </a:r>
                    </a:p>
                  </a:txBody>
                  <a:tcPr marL="70504" marR="70504" marT="35252" marB="35252" anchor="ctr"/>
                </a:tc>
                <a:extLst>
                  <a:ext uri="{0D108BD9-81ED-4DB2-BD59-A6C34878D82A}">
                    <a16:rowId xmlns:a16="http://schemas.microsoft.com/office/drawing/2014/main" val="1232121999"/>
                  </a:ext>
                </a:extLst>
              </a:tr>
              <a:tr h="298036">
                <a:tc>
                  <a:txBody>
                    <a:bodyPr/>
                    <a:lstStyle/>
                    <a:p>
                      <a:pPr>
                        <a:buNone/>
                      </a:pPr>
                      <a:r>
                        <a:rPr lang="en-IN" sz="1600" dirty="0"/>
                        <a:t>Incident Triage Module</a:t>
                      </a:r>
                    </a:p>
                  </a:txBody>
                  <a:tcPr marL="70504" marR="70504" marT="35252" marB="35252" anchor="ctr"/>
                </a:tc>
                <a:tc>
                  <a:txBody>
                    <a:bodyPr/>
                    <a:lstStyle/>
                    <a:p>
                      <a:pPr>
                        <a:buNone/>
                      </a:pPr>
                      <a:r>
                        <a:rPr lang="en-IN" sz="1600"/>
                        <a:t>Classifies incidents based on severity and priority.</a:t>
                      </a:r>
                    </a:p>
                  </a:txBody>
                  <a:tcPr marL="70504" marR="70504" marT="35252" marB="35252" anchor="ctr"/>
                </a:tc>
                <a:extLst>
                  <a:ext uri="{0D108BD9-81ED-4DB2-BD59-A6C34878D82A}">
                    <a16:rowId xmlns:a16="http://schemas.microsoft.com/office/drawing/2014/main" val="27643987"/>
                  </a:ext>
                </a:extLst>
              </a:tr>
              <a:tr h="488701">
                <a:tc>
                  <a:txBody>
                    <a:bodyPr/>
                    <a:lstStyle/>
                    <a:p>
                      <a:pPr>
                        <a:buNone/>
                      </a:pPr>
                      <a:r>
                        <a:rPr lang="en-IN" sz="1600" dirty="0"/>
                        <a:t>Log Analysis Module</a:t>
                      </a:r>
                    </a:p>
                  </a:txBody>
                  <a:tcPr marL="70504" marR="70504" marT="35252" marB="35252" anchor="ctr"/>
                </a:tc>
                <a:tc>
                  <a:txBody>
                    <a:bodyPr/>
                    <a:lstStyle/>
                    <a:p>
                      <a:pPr>
                        <a:buNone/>
                      </a:pPr>
                      <a:r>
                        <a:rPr lang="en-IN" sz="1600"/>
                        <a:t>Analyzes logs to identify errors, exceptions, and anomalies.</a:t>
                      </a:r>
                    </a:p>
                  </a:txBody>
                  <a:tcPr marL="70504" marR="70504" marT="35252" marB="35252" anchor="ctr"/>
                </a:tc>
                <a:extLst>
                  <a:ext uri="{0D108BD9-81ED-4DB2-BD59-A6C34878D82A}">
                    <a16:rowId xmlns:a16="http://schemas.microsoft.com/office/drawing/2014/main" val="2024419713"/>
                  </a:ext>
                </a:extLst>
              </a:tr>
              <a:tr h="529225">
                <a:tc>
                  <a:txBody>
                    <a:bodyPr/>
                    <a:lstStyle/>
                    <a:p>
                      <a:pPr>
                        <a:buNone/>
                      </a:pPr>
                      <a:r>
                        <a:rPr lang="en-IN" sz="1600" dirty="0"/>
                        <a:t>Metrics Analysis Module</a:t>
                      </a:r>
                    </a:p>
                  </a:txBody>
                  <a:tcPr marL="70504" marR="70504" marT="35252" marB="35252" anchor="ctr"/>
                </a:tc>
                <a:tc>
                  <a:txBody>
                    <a:bodyPr/>
                    <a:lstStyle/>
                    <a:p>
                      <a:pPr>
                        <a:buNone/>
                      </a:pPr>
                      <a:r>
                        <a:rPr lang="en-IN" sz="1600"/>
                        <a:t>Monitors performance metrics such as latency and response time.</a:t>
                      </a:r>
                    </a:p>
                  </a:txBody>
                  <a:tcPr marL="70504" marR="70504" marT="35252" marB="35252" anchor="ctr"/>
                </a:tc>
                <a:extLst>
                  <a:ext uri="{0D108BD9-81ED-4DB2-BD59-A6C34878D82A}">
                    <a16:rowId xmlns:a16="http://schemas.microsoft.com/office/drawing/2014/main" val="3107040937"/>
                  </a:ext>
                </a:extLst>
              </a:tr>
              <a:tr h="488701">
                <a:tc>
                  <a:txBody>
                    <a:bodyPr/>
                    <a:lstStyle/>
                    <a:p>
                      <a:pPr>
                        <a:buNone/>
                      </a:pPr>
                      <a:r>
                        <a:rPr lang="en-IN" sz="1600" dirty="0"/>
                        <a:t>Root Cause Analysis (RCA) Module</a:t>
                      </a:r>
                    </a:p>
                  </a:txBody>
                  <a:tcPr marL="70504" marR="70504" marT="35252" marB="35252" anchor="ctr"/>
                </a:tc>
                <a:tc>
                  <a:txBody>
                    <a:bodyPr/>
                    <a:lstStyle/>
                    <a:p>
                      <a:pPr>
                        <a:buNone/>
                      </a:pPr>
                      <a:r>
                        <a:rPr lang="en-IN" sz="1600"/>
                        <a:t>Determines the underlying cause of incidents and failures.</a:t>
                      </a:r>
                    </a:p>
                  </a:txBody>
                  <a:tcPr marL="70504" marR="70504" marT="35252" marB="35252" anchor="ctr"/>
                </a:tc>
                <a:extLst>
                  <a:ext uri="{0D108BD9-81ED-4DB2-BD59-A6C34878D82A}">
                    <a16:rowId xmlns:a16="http://schemas.microsoft.com/office/drawing/2014/main" val="1022186750"/>
                  </a:ext>
                </a:extLst>
              </a:tr>
              <a:tr h="529225">
                <a:tc>
                  <a:txBody>
                    <a:bodyPr/>
                    <a:lstStyle/>
                    <a:p>
                      <a:pPr>
                        <a:buNone/>
                      </a:pPr>
                      <a:r>
                        <a:rPr lang="en-IN" sz="1600" dirty="0"/>
                        <a:t>Runbook Retrieval (RAG) Module</a:t>
                      </a:r>
                    </a:p>
                  </a:txBody>
                  <a:tcPr marL="70504" marR="70504" marT="35252" marB="35252" anchor="ctr"/>
                </a:tc>
                <a:tc>
                  <a:txBody>
                    <a:bodyPr/>
                    <a:lstStyle/>
                    <a:p>
                      <a:pPr>
                        <a:buNone/>
                      </a:pPr>
                      <a:r>
                        <a:rPr lang="en-IN" sz="1600"/>
                        <a:t>Retrieves relevant troubleshooting guides and operational runbooks.</a:t>
                      </a:r>
                    </a:p>
                  </a:txBody>
                  <a:tcPr marL="70504" marR="70504" marT="35252" marB="35252" anchor="ctr"/>
                </a:tc>
                <a:extLst>
                  <a:ext uri="{0D108BD9-81ED-4DB2-BD59-A6C34878D82A}">
                    <a16:rowId xmlns:a16="http://schemas.microsoft.com/office/drawing/2014/main" val="2479066117"/>
                  </a:ext>
                </a:extLst>
              </a:tr>
              <a:tr h="529225">
                <a:tc>
                  <a:txBody>
                    <a:bodyPr/>
                    <a:lstStyle/>
                    <a:p>
                      <a:pPr>
                        <a:buNone/>
                      </a:pPr>
                      <a:r>
                        <a:rPr lang="en-IN" sz="1600" dirty="0"/>
                        <a:t>Remediation Planning Module</a:t>
                      </a:r>
                    </a:p>
                  </a:txBody>
                  <a:tcPr marL="70504" marR="70504" marT="35252" marB="35252" anchor="ctr"/>
                </a:tc>
                <a:tc>
                  <a:txBody>
                    <a:bodyPr/>
                    <a:lstStyle/>
                    <a:p>
                      <a:pPr>
                        <a:buNone/>
                      </a:pPr>
                      <a:r>
                        <a:rPr lang="en-IN" sz="1600"/>
                        <a:t>Generates recovery actions based on RCA results and retrieved runbooks.</a:t>
                      </a:r>
                    </a:p>
                  </a:txBody>
                  <a:tcPr marL="70504" marR="70504" marT="35252" marB="35252" anchor="ctr"/>
                </a:tc>
                <a:extLst>
                  <a:ext uri="{0D108BD9-81ED-4DB2-BD59-A6C34878D82A}">
                    <a16:rowId xmlns:a16="http://schemas.microsoft.com/office/drawing/2014/main" val="2034109112"/>
                  </a:ext>
                </a:extLst>
              </a:tr>
              <a:tr h="488701">
                <a:tc>
                  <a:txBody>
                    <a:bodyPr/>
                    <a:lstStyle/>
                    <a:p>
                      <a:pPr>
                        <a:buNone/>
                      </a:pPr>
                      <a:r>
                        <a:rPr lang="en-IN" sz="1600" dirty="0"/>
                        <a:t>LLM Intelligence Module</a:t>
                      </a:r>
                    </a:p>
                  </a:txBody>
                  <a:tcPr marL="70504" marR="70504" marT="35252" marB="35252" anchor="ctr"/>
                </a:tc>
                <a:tc>
                  <a:txBody>
                    <a:bodyPr/>
                    <a:lstStyle/>
                    <a:p>
                      <a:pPr>
                        <a:buNone/>
                      </a:pPr>
                      <a:r>
                        <a:rPr lang="en-IN" sz="1600"/>
                        <a:t>Uses Groq-powered LLMs for reasoning and decision-making.</a:t>
                      </a:r>
                    </a:p>
                  </a:txBody>
                  <a:tcPr marL="70504" marR="70504" marT="35252" marB="35252" anchor="ctr"/>
                </a:tc>
                <a:extLst>
                  <a:ext uri="{0D108BD9-81ED-4DB2-BD59-A6C34878D82A}">
                    <a16:rowId xmlns:a16="http://schemas.microsoft.com/office/drawing/2014/main" val="1396465977"/>
                  </a:ext>
                </a:extLst>
              </a:tr>
              <a:tr h="298036">
                <a:tc>
                  <a:txBody>
                    <a:bodyPr/>
                    <a:lstStyle/>
                    <a:p>
                      <a:pPr>
                        <a:buNone/>
                      </a:pPr>
                      <a:r>
                        <a:rPr lang="en-IN" sz="1600" dirty="0"/>
                        <a:t>Kubernetes Auto-Remediation Module</a:t>
                      </a:r>
                    </a:p>
                  </a:txBody>
                  <a:tcPr marL="70504" marR="70504" marT="35252" marB="35252" anchor="ctr"/>
                </a:tc>
                <a:tc>
                  <a:txBody>
                    <a:bodyPr/>
                    <a:lstStyle/>
                    <a:p>
                      <a:pPr>
                        <a:buNone/>
                      </a:pPr>
                      <a:r>
                        <a:rPr lang="en-IN" sz="1600"/>
                        <a:t>Executes actions such as deployment restart and scaling.</a:t>
                      </a:r>
                    </a:p>
                  </a:txBody>
                  <a:tcPr marL="70504" marR="70504" marT="35252" marB="35252" anchor="ctr"/>
                </a:tc>
                <a:extLst>
                  <a:ext uri="{0D108BD9-81ED-4DB2-BD59-A6C34878D82A}">
                    <a16:rowId xmlns:a16="http://schemas.microsoft.com/office/drawing/2014/main" val="1776629769"/>
                  </a:ext>
                </a:extLst>
              </a:tr>
              <a:tr h="529225">
                <a:tc>
                  <a:txBody>
                    <a:bodyPr/>
                    <a:lstStyle/>
                    <a:p>
                      <a:pPr>
                        <a:buNone/>
                      </a:pPr>
                      <a:r>
                        <a:rPr lang="en-IN" sz="1600" dirty="0"/>
                        <a:t>Workflow Orchestration Module</a:t>
                      </a:r>
                    </a:p>
                  </a:txBody>
                  <a:tcPr marL="70504" marR="70504" marT="35252" marB="35252" anchor="ctr"/>
                </a:tc>
                <a:tc>
                  <a:txBody>
                    <a:bodyPr/>
                    <a:lstStyle/>
                    <a:p>
                      <a:pPr>
                        <a:buNone/>
                      </a:pPr>
                      <a:r>
                        <a:rPr lang="en-IN" sz="1600" dirty="0"/>
                        <a:t>Coordinates communication between all modules and manages the workflow.</a:t>
                      </a:r>
                    </a:p>
                  </a:txBody>
                  <a:tcPr marL="70504" marR="70504" marT="35252" marB="35252" anchor="ctr"/>
                </a:tc>
                <a:extLst>
                  <a:ext uri="{0D108BD9-81ED-4DB2-BD59-A6C34878D82A}">
                    <a16:rowId xmlns:a16="http://schemas.microsoft.com/office/drawing/2014/main" val="3011576583"/>
                  </a:ext>
                </a:extLst>
              </a:tr>
            </a:tbl>
          </a:graphicData>
        </a:graphic>
      </p:graphicFrame>
    </p:spTree>
    <p:extLst>
      <p:ext uri="{BB962C8B-B14F-4D97-AF65-F5344CB8AC3E}">
        <p14:creationId xmlns:p14="http://schemas.microsoft.com/office/powerpoint/2010/main" val="33775862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2D7CD-C158-6FC1-06C7-09444D2DE02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325C8EF-A5DD-AB22-0372-51B9ABE63526}"/>
              </a:ext>
            </a:extLst>
          </p:cNvPr>
          <p:cNvSpPr>
            <a:spLocks noGrp="1"/>
          </p:cNvSpPr>
          <p:nvPr>
            <p:ph type="body" sz="quarter" idx="13"/>
          </p:nvPr>
        </p:nvSpPr>
        <p:spPr>
          <a:xfrm>
            <a:off x="255996" y="1271219"/>
            <a:ext cx="10461971" cy="4142989"/>
          </a:xfrm>
        </p:spPr>
        <p:txBody>
          <a:bodyPr/>
          <a:lstStyle/>
          <a:p>
            <a:pPr fontAlgn="t">
              <a:buNone/>
            </a:pPr>
            <a:r>
              <a:rPr lang="en-IN" b="0" dirty="0"/>
              <a:t>The </a:t>
            </a:r>
            <a:r>
              <a:rPr lang="en-IN" dirty="0"/>
              <a:t>Agentic SRE Copilot</a:t>
            </a:r>
            <a:r>
              <a:rPr lang="en-IN" b="0" dirty="0"/>
              <a:t> follows a </a:t>
            </a:r>
            <a:r>
              <a:rPr lang="en-IN" dirty="0"/>
              <a:t>Multi-Agent AI and RAG-based approach</a:t>
            </a:r>
            <a:r>
              <a:rPr lang="en-IN" b="0" dirty="0"/>
              <a:t> to automate incident management in cloud-native environments. The process begins with the </a:t>
            </a:r>
            <a:r>
              <a:rPr lang="en-IN" dirty="0"/>
              <a:t>Incident Ingestion Module</a:t>
            </a:r>
            <a:r>
              <a:rPr lang="en-IN" b="0" dirty="0"/>
              <a:t>, which collects incident details, logs, and performance metrics. The </a:t>
            </a:r>
            <a:r>
              <a:rPr lang="en-IN" dirty="0"/>
              <a:t>Incident Triage Module</a:t>
            </a:r>
            <a:r>
              <a:rPr lang="en-IN" b="0" dirty="0"/>
              <a:t> prioritizes incidents based on severity, while the </a:t>
            </a:r>
            <a:r>
              <a:rPr lang="en-IN" dirty="0"/>
              <a:t>Log Analysis</a:t>
            </a:r>
            <a:r>
              <a:rPr lang="en-IN" b="0" dirty="0"/>
              <a:t> and </a:t>
            </a:r>
            <a:r>
              <a:rPr lang="en-IN" dirty="0"/>
              <a:t>Metrics Analysis Modules</a:t>
            </a:r>
            <a:r>
              <a:rPr lang="en-IN" b="0" dirty="0"/>
              <a:t> identify anomalies and performance issues. The </a:t>
            </a:r>
            <a:r>
              <a:rPr lang="en-IN" dirty="0"/>
              <a:t>Root Cause Analysis (RCA) Module</a:t>
            </a:r>
            <a:r>
              <a:rPr lang="en-IN" b="0" dirty="0"/>
              <a:t> then determines the underlying cause of the incident by correlating the collected information.</a:t>
            </a:r>
          </a:p>
          <a:p>
            <a:pPr marL="0" indent="0">
              <a:lnSpc>
                <a:spcPct val="150000"/>
              </a:lnSpc>
              <a:buNone/>
            </a:pPr>
            <a:endParaRPr lang="en-US" sz="2400" b="0" dirty="0">
              <a:solidFill>
                <a:srgbClr val="5583D1"/>
              </a:solidFill>
            </a:endParaRPr>
          </a:p>
        </p:txBody>
      </p:sp>
      <p:sp>
        <p:nvSpPr>
          <p:cNvPr id="3" name="TextBox 2">
            <a:extLst>
              <a:ext uri="{FF2B5EF4-FFF2-40B4-BE49-F238E27FC236}">
                <a16:creationId xmlns:a16="http://schemas.microsoft.com/office/drawing/2014/main" id="{CB15F4B8-EED0-F7BE-96C7-D7AAE989A251}"/>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Methodology/Modeling Plan</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a:t>
            </a:r>
          </a:p>
        </p:txBody>
      </p:sp>
      <p:cxnSp>
        <p:nvCxnSpPr>
          <p:cNvPr id="5" name="Straight Connector 4">
            <a:extLst>
              <a:ext uri="{FF2B5EF4-FFF2-40B4-BE49-F238E27FC236}">
                <a16:creationId xmlns:a16="http://schemas.microsoft.com/office/drawing/2014/main" id="{5A882B44-FCE4-BF93-E951-46CF2238FB7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CE164B1-01DD-BF3B-88E8-DF2DEDBFA9EB}"/>
              </a:ext>
            </a:extLst>
          </p:cNvPr>
          <p:cNvSpPr txBox="1"/>
          <p:nvPr/>
        </p:nvSpPr>
        <p:spPr>
          <a:xfrm>
            <a:off x="6093893" y="57036"/>
            <a:ext cx="6098107" cy="646331"/>
          </a:xfrm>
          <a:prstGeom prst="rect">
            <a:avLst/>
          </a:prstGeom>
          <a:noFill/>
        </p:spPr>
        <p:txBody>
          <a:bodyPr wrap="square" rtlCol="0">
            <a:spAutoFit/>
          </a:bodyPr>
          <a:lstStyle/>
          <a:p>
            <a:pPr algn="ctr">
              <a:defRPr/>
            </a:pPr>
            <a:r>
              <a:rPr lang="en-IN" dirty="0">
                <a:solidFill>
                  <a:schemeClr val="bg1"/>
                </a:solidFill>
              </a:rPr>
              <a:t>Real-Time DevOps Incident Triage &amp; Auto-Remediation Agent</a:t>
            </a:r>
            <a:endParaRPr lang="en-US" sz="3200" b="1" dirty="0">
              <a:solidFill>
                <a:prstClr val="white"/>
              </a:solidFill>
              <a:latin typeface="Frutiger 45 bold"/>
              <a:cs typeface="Calibri" panose="020F0502020204030204" pitchFamily="34" charset="0"/>
            </a:endParaRPr>
          </a:p>
          <a:p>
            <a:pPr algn="r"/>
            <a:endParaRPr lang="en-US" dirty="0"/>
          </a:p>
        </p:txBody>
      </p:sp>
    </p:spTree>
    <p:extLst>
      <p:ext uri="{BB962C8B-B14F-4D97-AF65-F5344CB8AC3E}">
        <p14:creationId xmlns:p14="http://schemas.microsoft.com/office/powerpoint/2010/main" val="2034681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69246-E9E3-C004-AB95-9C2BFA8840D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5894BA7-732E-4F4D-D7C0-72279E9E366B}"/>
              </a:ext>
            </a:extLst>
          </p:cNvPr>
          <p:cNvSpPr>
            <a:spLocks noGrp="1"/>
          </p:cNvSpPr>
          <p:nvPr>
            <p:ph type="body" sz="quarter" idx="13"/>
          </p:nvPr>
        </p:nvSpPr>
        <p:spPr>
          <a:xfrm>
            <a:off x="255995" y="1271219"/>
            <a:ext cx="11736135" cy="4142989"/>
          </a:xfrm>
        </p:spPr>
        <p:txBody>
          <a:bodyPr/>
          <a:lstStyle/>
          <a:p>
            <a:pPr fontAlgn="t">
              <a:buNone/>
            </a:pPr>
            <a:r>
              <a:rPr lang="en-IN" b="0" dirty="0"/>
              <a:t>The identified root cause is converted into embeddings using </a:t>
            </a:r>
            <a:r>
              <a:rPr lang="en-IN" dirty="0" err="1"/>
              <a:t>MiniLM</a:t>
            </a:r>
            <a:r>
              <a:rPr lang="en-IN" b="0" dirty="0"/>
              <a:t> and searched against </a:t>
            </a:r>
            <a:r>
              <a:rPr lang="en-IN" dirty="0" err="1"/>
              <a:t>ChromaDB</a:t>
            </a:r>
            <a:r>
              <a:rPr lang="en-IN" b="0" dirty="0"/>
              <a:t> to retrieve relevant runbooks through the </a:t>
            </a:r>
            <a:r>
              <a:rPr lang="en-IN" dirty="0"/>
              <a:t>RAG-Based Retrieval Module</a:t>
            </a:r>
            <a:r>
              <a:rPr lang="en-IN" b="0" dirty="0"/>
              <a:t>. Based on the retrieved knowledge, the </a:t>
            </a:r>
            <a:r>
              <a:rPr lang="en-IN" dirty="0"/>
              <a:t>Remediation Planning</a:t>
            </a:r>
            <a:r>
              <a:rPr lang="en-IN" b="0" dirty="0"/>
              <a:t> and </a:t>
            </a:r>
            <a:r>
              <a:rPr lang="en-IN" dirty="0"/>
              <a:t>LLM Intelligence Modules</a:t>
            </a:r>
            <a:r>
              <a:rPr lang="en-IN" b="0" dirty="0"/>
              <a:t> generate recovery recommendations. Finally, the </a:t>
            </a:r>
            <a:r>
              <a:rPr lang="en-IN" dirty="0"/>
              <a:t>Kubernetes Auto-Remediation Module</a:t>
            </a:r>
            <a:r>
              <a:rPr lang="en-IN" b="0" dirty="0"/>
              <a:t> executes actions such as deployment restart, pod recovery, or scaling to restore service availability. The entire workflow is coordinated by the </a:t>
            </a:r>
            <a:r>
              <a:rPr lang="en-IN" dirty="0"/>
              <a:t>Workflow Orchestration Module</a:t>
            </a:r>
            <a:r>
              <a:rPr lang="en-IN" b="0" dirty="0"/>
              <a:t>, enabling intelligent and automated incident resolution.</a:t>
            </a:r>
          </a:p>
        </p:txBody>
      </p:sp>
      <p:sp>
        <p:nvSpPr>
          <p:cNvPr id="3" name="TextBox 2">
            <a:extLst>
              <a:ext uri="{FF2B5EF4-FFF2-40B4-BE49-F238E27FC236}">
                <a16:creationId xmlns:a16="http://schemas.microsoft.com/office/drawing/2014/main" id="{D00F95EE-7408-909B-D27A-4F13C220897A}"/>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Methodology/Modeling Plan</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….(Continuation)</a:t>
            </a:r>
          </a:p>
        </p:txBody>
      </p:sp>
      <p:cxnSp>
        <p:nvCxnSpPr>
          <p:cNvPr id="5" name="Straight Connector 4">
            <a:extLst>
              <a:ext uri="{FF2B5EF4-FFF2-40B4-BE49-F238E27FC236}">
                <a16:creationId xmlns:a16="http://schemas.microsoft.com/office/drawing/2014/main" id="{D03997E1-4F2D-1C38-785C-4EF36F1EECEC}"/>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8AEB623F-2C77-FCF0-1224-C010124C1F2E}"/>
              </a:ext>
            </a:extLst>
          </p:cNvPr>
          <p:cNvSpPr txBox="1"/>
          <p:nvPr/>
        </p:nvSpPr>
        <p:spPr>
          <a:xfrm>
            <a:off x="6093893" y="57036"/>
            <a:ext cx="6098107" cy="369332"/>
          </a:xfrm>
          <a:prstGeom prst="rect">
            <a:avLst/>
          </a:prstGeom>
          <a:noFill/>
        </p:spPr>
        <p:txBody>
          <a:bodyPr wrap="square" rtlCol="0">
            <a:spAutoFit/>
          </a:bodyPr>
          <a:lstStyle/>
          <a:p>
            <a:pPr algn="ctr">
              <a:defRPr/>
            </a:pPr>
            <a:r>
              <a:rPr lang="en-IN" dirty="0">
                <a:solidFill>
                  <a:schemeClr val="bg1"/>
                </a:solidFill>
              </a:rPr>
              <a:t>Real-Time DevOps Incident Triage &amp; Auto-Remediation Agent</a:t>
            </a:r>
            <a:endParaRPr lang="en-US" sz="3200" b="1" dirty="0">
              <a:solidFill>
                <a:prstClr val="white"/>
              </a:solidFill>
              <a:latin typeface="Frutiger 45 bold"/>
              <a:cs typeface="Calibri" panose="020F0502020204030204" pitchFamily="34" charset="0"/>
            </a:endParaRPr>
          </a:p>
        </p:txBody>
      </p:sp>
    </p:spTree>
    <p:extLst>
      <p:ext uri="{BB962C8B-B14F-4D97-AF65-F5344CB8AC3E}">
        <p14:creationId xmlns:p14="http://schemas.microsoft.com/office/powerpoint/2010/main" val="3280982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CEA2B-384E-F256-4734-5578EDB524A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0F88864-2E71-2992-AD53-E8948837272B}"/>
              </a:ext>
            </a:extLst>
          </p:cNvPr>
          <p:cNvSpPr>
            <a:spLocks noGrp="1"/>
          </p:cNvSpPr>
          <p:nvPr>
            <p:ph type="body" sz="quarter" idx="13"/>
          </p:nvPr>
        </p:nvSpPr>
        <p:spPr>
          <a:xfrm>
            <a:off x="255995" y="1271219"/>
            <a:ext cx="11151519" cy="4142989"/>
          </a:xfrm>
        </p:spPr>
        <p:txBody>
          <a:bodyPr/>
          <a:lstStyle/>
          <a:p>
            <a:pPr marL="0" indent="0">
              <a:buNone/>
            </a:pPr>
            <a:r>
              <a:rPr lang="en-IN" b="0" dirty="0"/>
              <a:t>Data preprocessing is a crucial step in the </a:t>
            </a:r>
            <a:r>
              <a:rPr lang="en-IN" dirty="0"/>
              <a:t>Agentic SRE Copilot</a:t>
            </a:r>
            <a:r>
              <a:rPr lang="en-IN" b="0" dirty="0"/>
              <a:t> as it ensures that incident data is accurate, consistent, and suitable for analysis. The system collects incident reports, application logs, system logs, performance metrics, and runbooks from various sources. The collected data is cleaned by removing duplicate records, handling missing or inconsistent values, standardizing formats, and masking sensitive information such as credentials or confidential data. After preprocessing, the textual information is transformed into semantic vector representations using the </a:t>
            </a:r>
            <a:r>
              <a:rPr lang="en-IN" dirty="0" err="1"/>
              <a:t>MiniLM</a:t>
            </a:r>
            <a:r>
              <a:rPr lang="en-IN" dirty="0"/>
              <a:t> embedding model</a:t>
            </a:r>
            <a:r>
              <a:rPr lang="en-IN" b="0" dirty="0"/>
              <a:t>. These embeddings are then stored in </a:t>
            </a:r>
            <a:r>
              <a:rPr lang="en-IN" dirty="0" err="1"/>
              <a:t>ChromaDB</a:t>
            </a:r>
            <a:r>
              <a:rPr lang="en-IN" b="0" dirty="0"/>
              <a:t>, enabling efficient similarity search and context-aware retrieval of troubleshooting runbooks through the RAG framework.</a:t>
            </a:r>
          </a:p>
          <a:p>
            <a:pPr marL="0" indent="0">
              <a:lnSpc>
                <a:spcPct val="150000"/>
              </a:lnSpc>
              <a:buNone/>
            </a:pPr>
            <a:endParaRPr lang="en-US" sz="2400" b="0" dirty="0">
              <a:solidFill>
                <a:srgbClr val="5583D1"/>
              </a:solidFill>
            </a:endParaRPr>
          </a:p>
        </p:txBody>
      </p:sp>
      <p:sp>
        <p:nvSpPr>
          <p:cNvPr id="3" name="TextBox 2">
            <a:extLst>
              <a:ext uri="{FF2B5EF4-FFF2-40B4-BE49-F238E27FC236}">
                <a16:creationId xmlns:a16="http://schemas.microsoft.com/office/drawing/2014/main" id="{3411E118-0427-BF72-3B78-1707B0D6E382}"/>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Data preprocessing &amp; EDA</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a:t>
            </a:r>
          </a:p>
        </p:txBody>
      </p:sp>
      <p:cxnSp>
        <p:nvCxnSpPr>
          <p:cNvPr id="5" name="Straight Connector 4">
            <a:extLst>
              <a:ext uri="{FF2B5EF4-FFF2-40B4-BE49-F238E27FC236}">
                <a16:creationId xmlns:a16="http://schemas.microsoft.com/office/drawing/2014/main" id="{7A5618F6-CE69-311A-F79A-D12C7E917449}"/>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4F7A196-7B69-DD68-52A5-39CD9B799F7D}"/>
              </a:ext>
            </a:extLst>
          </p:cNvPr>
          <p:cNvSpPr txBox="1"/>
          <p:nvPr/>
        </p:nvSpPr>
        <p:spPr>
          <a:xfrm>
            <a:off x="6093893" y="57036"/>
            <a:ext cx="6098107" cy="646331"/>
          </a:xfrm>
          <a:prstGeom prst="rect">
            <a:avLst/>
          </a:prstGeom>
          <a:noFill/>
        </p:spPr>
        <p:txBody>
          <a:bodyPr wrap="square" rtlCol="0">
            <a:spAutoFit/>
          </a:bodyPr>
          <a:lstStyle/>
          <a:p>
            <a:pPr algn="ctr">
              <a:defRPr/>
            </a:pPr>
            <a:r>
              <a:rPr lang="en-IN" dirty="0">
                <a:solidFill>
                  <a:schemeClr val="bg1"/>
                </a:solidFill>
              </a:rPr>
              <a:t>Real-Time DevOps Incident Triage &amp; Auto-Remediation Agent</a:t>
            </a:r>
            <a:endParaRPr lang="en-US" sz="3200" b="1" dirty="0">
              <a:solidFill>
                <a:prstClr val="white"/>
              </a:solidFill>
              <a:latin typeface="Frutiger 45 bold"/>
              <a:cs typeface="Calibri" panose="020F0502020204030204" pitchFamily="34" charset="0"/>
            </a:endParaRPr>
          </a:p>
          <a:p>
            <a:pPr algn="r"/>
            <a:endParaRPr lang="en-US" dirty="0"/>
          </a:p>
        </p:txBody>
      </p:sp>
    </p:spTree>
    <p:extLst>
      <p:ext uri="{BB962C8B-B14F-4D97-AF65-F5344CB8AC3E}">
        <p14:creationId xmlns:p14="http://schemas.microsoft.com/office/powerpoint/2010/main" val="679362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A6AB6-0513-0A7D-A5C9-9B4CAF78576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73B54DA-ECEB-413C-C64F-C25852A19747}"/>
              </a:ext>
            </a:extLst>
          </p:cNvPr>
          <p:cNvSpPr>
            <a:spLocks noGrp="1"/>
          </p:cNvSpPr>
          <p:nvPr>
            <p:ph type="body" sz="quarter" idx="13"/>
          </p:nvPr>
        </p:nvSpPr>
        <p:spPr>
          <a:xfrm>
            <a:off x="255996" y="1271219"/>
            <a:ext cx="11481302" cy="4142989"/>
          </a:xfrm>
        </p:spPr>
        <p:txBody>
          <a:bodyPr/>
          <a:lstStyle/>
          <a:p>
            <a:pPr marL="0" indent="0">
              <a:buNone/>
            </a:pPr>
            <a:r>
              <a:rPr lang="en-IN" b="0" dirty="0"/>
              <a:t>Exploratory Data Analysis (EDA) is performed to gain insights into incident </a:t>
            </a:r>
            <a:r>
              <a:rPr lang="en-IN" b="0" dirty="0" err="1"/>
              <a:t>behavior</a:t>
            </a:r>
            <a:r>
              <a:rPr lang="en-IN" b="0" dirty="0"/>
              <a:t> and system performance. The analysis focuses on identifying recurring failure patterns, common root causes, error frequencies, latency trends, response times, and resource utilization metrics. By examining these patterns, the system can better understand relationships between incidents and operational metrics, improving the accuracy of root cause analysis and remediation planning. The insights obtained from EDA help optimize incident classification, enhance runbook retrieval, and support faster automated recovery, ultimately reducing </a:t>
            </a:r>
            <a:r>
              <a:rPr lang="en-IN" dirty="0"/>
              <a:t>Mean Time to Resolution (MTTR)</a:t>
            </a:r>
            <a:r>
              <a:rPr lang="en-IN" b="0" dirty="0"/>
              <a:t> and improving overall service reliability.</a:t>
            </a:r>
          </a:p>
          <a:p>
            <a:pPr marL="0" indent="0">
              <a:lnSpc>
                <a:spcPct val="150000"/>
              </a:lnSpc>
              <a:buNone/>
            </a:pPr>
            <a:endParaRPr lang="en-US" sz="2400" b="0" dirty="0">
              <a:solidFill>
                <a:srgbClr val="5583D1"/>
              </a:solidFill>
            </a:endParaRPr>
          </a:p>
        </p:txBody>
      </p:sp>
      <p:sp>
        <p:nvSpPr>
          <p:cNvPr id="3" name="TextBox 2">
            <a:extLst>
              <a:ext uri="{FF2B5EF4-FFF2-40B4-BE49-F238E27FC236}">
                <a16:creationId xmlns:a16="http://schemas.microsoft.com/office/drawing/2014/main" id="{9EA46213-34B0-0105-99FF-D3E463F085E7}"/>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Data preprocessing &amp; EDA</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….(Continuation)</a:t>
            </a:r>
          </a:p>
        </p:txBody>
      </p:sp>
      <p:cxnSp>
        <p:nvCxnSpPr>
          <p:cNvPr id="5" name="Straight Connector 4">
            <a:extLst>
              <a:ext uri="{FF2B5EF4-FFF2-40B4-BE49-F238E27FC236}">
                <a16:creationId xmlns:a16="http://schemas.microsoft.com/office/drawing/2014/main" id="{C96EF7BB-728D-6BAA-55F8-70121A2DBF69}"/>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54079C09-623E-E82A-95E0-597EFD8970FE}"/>
              </a:ext>
            </a:extLst>
          </p:cNvPr>
          <p:cNvSpPr txBox="1"/>
          <p:nvPr/>
        </p:nvSpPr>
        <p:spPr>
          <a:xfrm>
            <a:off x="6093893" y="57036"/>
            <a:ext cx="6098107" cy="646331"/>
          </a:xfrm>
          <a:prstGeom prst="rect">
            <a:avLst/>
          </a:prstGeom>
          <a:noFill/>
        </p:spPr>
        <p:txBody>
          <a:bodyPr wrap="square" rtlCol="0">
            <a:spAutoFit/>
          </a:bodyPr>
          <a:lstStyle/>
          <a:p>
            <a:pPr algn="ctr">
              <a:defRPr/>
            </a:pPr>
            <a:r>
              <a:rPr lang="en-IN" dirty="0">
                <a:solidFill>
                  <a:schemeClr val="bg1"/>
                </a:solidFill>
              </a:rPr>
              <a:t>Real-Time DevOps Incident Triage &amp; Auto-Remediation Agent</a:t>
            </a:r>
            <a:endParaRPr lang="en-US" sz="3200" b="1" dirty="0">
              <a:solidFill>
                <a:prstClr val="white"/>
              </a:solidFill>
              <a:latin typeface="Frutiger 45 bold"/>
              <a:cs typeface="Calibri" panose="020F0502020204030204" pitchFamily="34" charset="0"/>
            </a:endParaRPr>
          </a:p>
          <a:p>
            <a:pPr algn="r"/>
            <a:endParaRPr lang="en-US" dirty="0"/>
          </a:p>
        </p:txBody>
      </p:sp>
    </p:spTree>
    <p:extLst>
      <p:ext uri="{BB962C8B-B14F-4D97-AF65-F5344CB8AC3E}">
        <p14:creationId xmlns:p14="http://schemas.microsoft.com/office/powerpoint/2010/main" val="34296220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5D811-8A8A-BB1C-BA63-9FC00664480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2ACCE20-0592-AC65-1112-728E1DF59108}"/>
              </a:ext>
            </a:extLst>
          </p:cNvPr>
          <p:cNvSpPr>
            <a:spLocks noGrp="1"/>
          </p:cNvSpPr>
          <p:nvPr>
            <p:ph type="body" sz="quarter" idx="13"/>
          </p:nvPr>
        </p:nvSpPr>
        <p:spPr>
          <a:xfrm>
            <a:off x="255996" y="1271219"/>
            <a:ext cx="11481302" cy="4142989"/>
          </a:xfrm>
        </p:spPr>
        <p:txBody>
          <a:bodyPr/>
          <a:lstStyle/>
          <a:p>
            <a:pPr marL="0" indent="0">
              <a:buNone/>
            </a:pPr>
            <a:r>
              <a:rPr lang="en-IN" b="0" dirty="0"/>
              <a:t>Data privacy is an important consideration in the Agentic SRE Copilot, as incident logs may contain sensitive information such as credentials, API keys, IP addresses, and system configurations. To protect this data, sensitive information is sanitized or masked before analysis, and incident data can be processed locally using </a:t>
            </a:r>
            <a:r>
              <a:rPr lang="en-IN" b="0" dirty="0" err="1"/>
              <a:t>MiniLM</a:t>
            </a:r>
            <a:r>
              <a:rPr lang="en-IN" b="0" dirty="0"/>
              <a:t> and </a:t>
            </a:r>
            <a:r>
              <a:rPr lang="en-IN" b="0" dirty="0" err="1"/>
              <a:t>ChromaDB</a:t>
            </a:r>
            <a:r>
              <a:rPr lang="en-IN" b="0" dirty="0"/>
              <a:t>. The system uses Role-Based Access Control (RBAC) to restrict access to remediation actions and operational data. Additionally, external website links are not automatically trusted and must be validated before use to avoid security risks. By relying on trusted internal runbooks and secure processing mechanisms, the platform ensures confidentiality, integrity, and secure incident management.</a:t>
            </a:r>
          </a:p>
          <a:p>
            <a:pPr marL="0" indent="0">
              <a:lnSpc>
                <a:spcPct val="150000"/>
              </a:lnSpc>
              <a:buNone/>
            </a:pPr>
            <a:endParaRPr lang="en-US" sz="2400" b="0" dirty="0">
              <a:solidFill>
                <a:srgbClr val="5583D1"/>
              </a:solidFill>
            </a:endParaRPr>
          </a:p>
        </p:txBody>
      </p:sp>
      <p:sp>
        <p:nvSpPr>
          <p:cNvPr id="3" name="TextBox 2">
            <a:extLst>
              <a:ext uri="{FF2B5EF4-FFF2-40B4-BE49-F238E27FC236}">
                <a16:creationId xmlns:a16="http://schemas.microsoft.com/office/drawing/2014/main" id="{C9C086ED-88E8-8B10-5B92-92C4982C372B}"/>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Data Privacy and Security</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FB8311FB-9FE0-583C-D55E-F315FE2F46B5}"/>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DA50D3CA-D654-324E-DDDF-F453B499905D}"/>
              </a:ext>
            </a:extLst>
          </p:cNvPr>
          <p:cNvSpPr txBox="1"/>
          <p:nvPr/>
        </p:nvSpPr>
        <p:spPr>
          <a:xfrm>
            <a:off x="6093893" y="57036"/>
            <a:ext cx="6098107" cy="646331"/>
          </a:xfrm>
          <a:prstGeom prst="rect">
            <a:avLst/>
          </a:prstGeom>
          <a:noFill/>
        </p:spPr>
        <p:txBody>
          <a:bodyPr wrap="square" rtlCol="0">
            <a:spAutoFit/>
          </a:bodyPr>
          <a:lstStyle/>
          <a:p>
            <a:pPr algn="ctr">
              <a:defRPr/>
            </a:pPr>
            <a:r>
              <a:rPr lang="en-IN" dirty="0">
                <a:solidFill>
                  <a:schemeClr val="bg1"/>
                </a:solidFill>
              </a:rPr>
              <a:t>Real-Time DevOps Incident Triage &amp; Auto-Remediation Agent</a:t>
            </a:r>
            <a:endParaRPr lang="en-US" sz="3200" b="1" dirty="0">
              <a:solidFill>
                <a:prstClr val="white"/>
              </a:solidFill>
              <a:latin typeface="Frutiger 45 bold"/>
              <a:cs typeface="Calibri" panose="020F0502020204030204" pitchFamily="34" charset="0"/>
            </a:endParaRPr>
          </a:p>
          <a:p>
            <a:pPr algn="r"/>
            <a:endParaRPr lang="en-US" dirty="0"/>
          </a:p>
        </p:txBody>
      </p:sp>
    </p:spTree>
    <p:extLst>
      <p:ext uri="{BB962C8B-B14F-4D97-AF65-F5344CB8AC3E}">
        <p14:creationId xmlns:p14="http://schemas.microsoft.com/office/powerpoint/2010/main" val="95666366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7B675-E694-7663-D55C-2461C40B8B8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E433592-8155-CD6F-B5E3-78AB52F31DE6}"/>
              </a:ext>
            </a:extLst>
          </p:cNvPr>
          <p:cNvSpPr>
            <a:spLocks noGrp="1"/>
          </p:cNvSpPr>
          <p:nvPr>
            <p:ph type="body" sz="quarter" idx="13"/>
          </p:nvPr>
        </p:nvSpPr>
        <p:spPr>
          <a:xfrm>
            <a:off x="255996" y="1271219"/>
            <a:ext cx="10624338" cy="4142989"/>
          </a:xfrm>
        </p:spPr>
        <p:txBody>
          <a:bodyPr/>
          <a:lstStyle/>
          <a:p>
            <a:pPr marL="0" indent="0">
              <a:buNone/>
            </a:pPr>
            <a:r>
              <a:rPr lang="en-IN" b="0" dirty="0"/>
              <a:t>The </a:t>
            </a:r>
            <a:r>
              <a:rPr lang="en-IN" dirty="0"/>
              <a:t>Agentic SRE Copilot</a:t>
            </a:r>
            <a:r>
              <a:rPr lang="en-IN" b="0" dirty="0"/>
              <a:t> adopts a </a:t>
            </a:r>
            <a:r>
              <a:rPr lang="en-IN" dirty="0"/>
              <a:t>Multi-Agent AI and Retrieval-Augmented Generation (RAG)</a:t>
            </a:r>
            <a:r>
              <a:rPr lang="en-IN" b="0" dirty="0"/>
              <a:t> based approach to automate incident management and recovery. The system begins by collecting incident data, logs, and performance metrics through </a:t>
            </a:r>
            <a:r>
              <a:rPr lang="en-IN" b="0" dirty="0" err="1"/>
              <a:t>FastAPI</a:t>
            </a:r>
            <a:r>
              <a:rPr lang="en-IN" b="0" dirty="0"/>
              <a:t> APIs. The </a:t>
            </a:r>
            <a:r>
              <a:rPr lang="en-IN" dirty="0"/>
              <a:t>Incident Triage Agent</a:t>
            </a:r>
            <a:r>
              <a:rPr lang="en-IN" b="0" dirty="0"/>
              <a:t> prioritizes incidents based on severity, while the </a:t>
            </a:r>
            <a:r>
              <a:rPr lang="en-IN" dirty="0"/>
              <a:t>Log Analysis</a:t>
            </a:r>
            <a:r>
              <a:rPr lang="en-IN" b="0" dirty="0"/>
              <a:t> and </a:t>
            </a:r>
            <a:r>
              <a:rPr lang="en-IN" dirty="0"/>
              <a:t>Metrics Analysis Modules</a:t>
            </a:r>
            <a:r>
              <a:rPr lang="en-IN" b="0" dirty="0"/>
              <a:t> identify anomalies, failures, and performance bottlenecks. The </a:t>
            </a:r>
            <a:r>
              <a:rPr lang="en-IN" dirty="0"/>
              <a:t>Root Cause Analysis (RCA) Module</a:t>
            </a:r>
            <a:r>
              <a:rPr lang="en-IN" b="0" dirty="0"/>
              <a:t> correlates this information to determine the most probable cause of the incident.</a:t>
            </a:r>
          </a:p>
          <a:p>
            <a:pPr marL="0" indent="0">
              <a:lnSpc>
                <a:spcPct val="150000"/>
              </a:lnSpc>
              <a:buNone/>
            </a:pPr>
            <a:endParaRPr lang="en-US" sz="2400" b="0" dirty="0">
              <a:solidFill>
                <a:srgbClr val="5583D1"/>
              </a:solidFill>
            </a:endParaRPr>
          </a:p>
        </p:txBody>
      </p:sp>
      <p:sp>
        <p:nvSpPr>
          <p:cNvPr id="3" name="TextBox 2">
            <a:extLst>
              <a:ext uri="{FF2B5EF4-FFF2-40B4-BE49-F238E27FC236}">
                <a16:creationId xmlns:a16="http://schemas.microsoft.com/office/drawing/2014/main" id="{3D243BDD-B44E-04F0-FA93-336DD2FFA770}"/>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Approach/Algorithms/Tools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14963133-FFA1-7CF4-9FAD-E6A120EF4238}"/>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FEA3EC9D-D5AF-E54C-A3D0-5E42F32DC03B}"/>
              </a:ext>
            </a:extLst>
          </p:cNvPr>
          <p:cNvSpPr txBox="1"/>
          <p:nvPr/>
        </p:nvSpPr>
        <p:spPr>
          <a:xfrm>
            <a:off x="6093893" y="57036"/>
            <a:ext cx="6098107" cy="646331"/>
          </a:xfrm>
          <a:prstGeom prst="rect">
            <a:avLst/>
          </a:prstGeom>
          <a:noFill/>
        </p:spPr>
        <p:txBody>
          <a:bodyPr wrap="square" rtlCol="0">
            <a:spAutoFit/>
          </a:bodyPr>
          <a:lstStyle/>
          <a:p>
            <a:pPr algn="ctr">
              <a:defRPr/>
            </a:pPr>
            <a:r>
              <a:rPr lang="en-IN" dirty="0">
                <a:solidFill>
                  <a:schemeClr val="bg1"/>
                </a:solidFill>
              </a:rPr>
              <a:t>Real-Time DevOps Incident Triage &amp; Auto-Remediation Agent</a:t>
            </a:r>
            <a:endParaRPr lang="en-US" sz="3200" b="1" dirty="0">
              <a:solidFill>
                <a:prstClr val="white"/>
              </a:solidFill>
              <a:latin typeface="Frutiger 45 bold"/>
              <a:cs typeface="Calibri" panose="020F0502020204030204" pitchFamily="34" charset="0"/>
            </a:endParaRPr>
          </a:p>
          <a:p>
            <a:pPr algn="r"/>
            <a:endParaRPr lang="en-US" dirty="0"/>
          </a:p>
        </p:txBody>
      </p:sp>
    </p:spTree>
    <p:extLst>
      <p:ext uri="{BB962C8B-B14F-4D97-AF65-F5344CB8AC3E}">
        <p14:creationId xmlns:p14="http://schemas.microsoft.com/office/powerpoint/2010/main" val="107944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66ED9-E2BB-CC1F-6637-B06E8160055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77DB0EC-819C-4FF3-AC1C-2561E0D1A818}"/>
              </a:ext>
            </a:extLst>
          </p:cNvPr>
          <p:cNvSpPr>
            <a:spLocks noGrp="1"/>
          </p:cNvSpPr>
          <p:nvPr>
            <p:ph type="body" sz="quarter" idx="13"/>
          </p:nvPr>
        </p:nvSpPr>
        <p:spPr>
          <a:xfrm>
            <a:off x="255996" y="1271219"/>
            <a:ext cx="10624338" cy="4142989"/>
          </a:xfrm>
        </p:spPr>
        <p:txBody>
          <a:bodyPr/>
          <a:lstStyle/>
          <a:p>
            <a:pPr fontAlgn="t">
              <a:buNone/>
            </a:pPr>
            <a:r>
              <a:rPr lang="en-IN" b="0" dirty="0"/>
              <a:t>To provide intelligent troubleshooting support, the identified root cause is converted into semantic embeddings using the </a:t>
            </a:r>
            <a:r>
              <a:rPr lang="en-IN" dirty="0" err="1"/>
              <a:t>MiniLM</a:t>
            </a:r>
            <a:r>
              <a:rPr lang="en-IN" dirty="0"/>
              <a:t> Embedding Model</a:t>
            </a:r>
            <a:r>
              <a:rPr lang="en-IN" b="0" dirty="0"/>
              <a:t>. These embeddings are stored and searched within </a:t>
            </a:r>
            <a:r>
              <a:rPr lang="en-IN" dirty="0" err="1"/>
              <a:t>ChromaDB</a:t>
            </a:r>
            <a:r>
              <a:rPr lang="en-IN" b="0" dirty="0"/>
              <a:t>, enabling the </a:t>
            </a:r>
            <a:r>
              <a:rPr lang="en-IN" dirty="0"/>
              <a:t>RAG Module</a:t>
            </a:r>
            <a:r>
              <a:rPr lang="en-IN" b="0" dirty="0"/>
              <a:t> to retrieve the most relevant runbooks and troubleshooting guides. The </a:t>
            </a:r>
            <a:r>
              <a:rPr lang="en-IN" dirty="0" err="1"/>
              <a:t>Groq</a:t>
            </a:r>
            <a:r>
              <a:rPr lang="en-IN" dirty="0"/>
              <a:t>-powered LLM</a:t>
            </a:r>
            <a:r>
              <a:rPr lang="en-IN" b="0" dirty="0"/>
              <a:t> enhances decision-making by generating context-aware remediation recommendations. Finally, the </a:t>
            </a:r>
            <a:r>
              <a:rPr lang="en-IN" dirty="0"/>
              <a:t>Kubernetes Auto-Remediation Module</a:t>
            </a:r>
            <a:r>
              <a:rPr lang="en-IN" b="0" dirty="0"/>
              <a:t> executes recovery actions such as deployment restarts, pod recovery, and workload scaling, enabling self-healing infrastructure and reducing Mean Time to Resolution (MTTR).</a:t>
            </a:r>
          </a:p>
          <a:p>
            <a:pPr marL="0" indent="0">
              <a:lnSpc>
                <a:spcPct val="150000"/>
              </a:lnSpc>
              <a:buNone/>
            </a:pPr>
            <a:endParaRPr lang="en-US" sz="2400" b="0" dirty="0">
              <a:solidFill>
                <a:srgbClr val="5583D1"/>
              </a:solidFill>
            </a:endParaRPr>
          </a:p>
        </p:txBody>
      </p:sp>
      <p:sp>
        <p:nvSpPr>
          <p:cNvPr id="3" name="TextBox 2">
            <a:extLst>
              <a:ext uri="{FF2B5EF4-FFF2-40B4-BE49-F238E27FC236}">
                <a16:creationId xmlns:a16="http://schemas.microsoft.com/office/drawing/2014/main" id="{50EFA8C9-EEE2-CBCF-CCE3-354019A24499}"/>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Approach/Algorithms/Tools</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….(Continuation)</a:t>
            </a:r>
          </a:p>
        </p:txBody>
      </p:sp>
      <p:cxnSp>
        <p:nvCxnSpPr>
          <p:cNvPr id="5" name="Straight Connector 4">
            <a:extLst>
              <a:ext uri="{FF2B5EF4-FFF2-40B4-BE49-F238E27FC236}">
                <a16:creationId xmlns:a16="http://schemas.microsoft.com/office/drawing/2014/main" id="{E103CA2E-5B2F-D839-C44E-E7689D77F35A}"/>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8C2C792A-EF08-D452-BB12-32CECFD3998B}"/>
              </a:ext>
            </a:extLst>
          </p:cNvPr>
          <p:cNvSpPr txBox="1"/>
          <p:nvPr/>
        </p:nvSpPr>
        <p:spPr>
          <a:xfrm>
            <a:off x="6093893" y="57036"/>
            <a:ext cx="6098107" cy="646331"/>
          </a:xfrm>
          <a:prstGeom prst="rect">
            <a:avLst/>
          </a:prstGeom>
          <a:noFill/>
        </p:spPr>
        <p:txBody>
          <a:bodyPr wrap="square" rtlCol="0">
            <a:spAutoFit/>
          </a:bodyPr>
          <a:lstStyle/>
          <a:p>
            <a:pPr algn="ctr">
              <a:defRPr/>
            </a:pPr>
            <a:r>
              <a:rPr lang="en-IN" dirty="0">
                <a:solidFill>
                  <a:schemeClr val="bg1"/>
                </a:solidFill>
              </a:rPr>
              <a:t>Real-Time DevOps Incident Triage &amp; Auto-Remediation Agent</a:t>
            </a:r>
            <a:endParaRPr lang="en-US" sz="3200" b="1" dirty="0">
              <a:solidFill>
                <a:prstClr val="white"/>
              </a:solidFill>
              <a:latin typeface="Frutiger 45 bold"/>
              <a:cs typeface="Calibri" panose="020F0502020204030204" pitchFamily="34" charset="0"/>
            </a:endParaRPr>
          </a:p>
          <a:p>
            <a:pPr algn="r"/>
            <a:endParaRPr lang="en-US" dirty="0"/>
          </a:p>
        </p:txBody>
      </p:sp>
    </p:spTree>
    <p:extLst>
      <p:ext uri="{BB962C8B-B14F-4D97-AF65-F5344CB8AC3E}">
        <p14:creationId xmlns:p14="http://schemas.microsoft.com/office/powerpoint/2010/main" val="1163681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60397-F54D-E544-C255-AC9B822F617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198C5FB-1C02-C8BB-4181-252B5F8D28B4}"/>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Approach/Algorithms/Tools</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….(Continuation)</a:t>
            </a:r>
          </a:p>
        </p:txBody>
      </p:sp>
      <p:cxnSp>
        <p:nvCxnSpPr>
          <p:cNvPr id="5" name="Straight Connector 4">
            <a:extLst>
              <a:ext uri="{FF2B5EF4-FFF2-40B4-BE49-F238E27FC236}">
                <a16:creationId xmlns:a16="http://schemas.microsoft.com/office/drawing/2014/main" id="{979C91DE-75F7-17C2-DE4D-2DE5153FB8DB}"/>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1858D1A1-29D8-17DB-233F-177102FB4F6D}"/>
              </a:ext>
            </a:extLst>
          </p:cNvPr>
          <p:cNvSpPr txBox="1"/>
          <p:nvPr/>
        </p:nvSpPr>
        <p:spPr>
          <a:xfrm>
            <a:off x="6093893" y="57036"/>
            <a:ext cx="6098107" cy="646331"/>
          </a:xfrm>
          <a:prstGeom prst="rect">
            <a:avLst/>
          </a:prstGeom>
          <a:noFill/>
        </p:spPr>
        <p:txBody>
          <a:bodyPr wrap="square" rtlCol="0">
            <a:spAutoFit/>
          </a:bodyPr>
          <a:lstStyle/>
          <a:p>
            <a:pPr algn="ctr">
              <a:defRPr/>
            </a:pPr>
            <a:r>
              <a:rPr lang="en-IN" dirty="0">
                <a:solidFill>
                  <a:schemeClr val="bg1"/>
                </a:solidFill>
              </a:rPr>
              <a:t>Real-Time DevOps Incident Triage &amp; Auto-Remediation Agent</a:t>
            </a:r>
            <a:endParaRPr lang="en-US" sz="3200" b="1" dirty="0">
              <a:solidFill>
                <a:prstClr val="white"/>
              </a:solidFill>
              <a:latin typeface="Frutiger 45 bold"/>
              <a:cs typeface="Calibri" panose="020F0502020204030204" pitchFamily="34" charset="0"/>
            </a:endParaRPr>
          </a:p>
          <a:p>
            <a:pPr algn="r"/>
            <a:endParaRPr lang="en-US" dirty="0"/>
          </a:p>
        </p:txBody>
      </p:sp>
      <p:graphicFrame>
        <p:nvGraphicFramePr>
          <p:cNvPr id="8" name="Table 7">
            <a:extLst>
              <a:ext uri="{FF2B5EF4-FFF2-40B4-BE49-F238E27FC236}">
                <a16:creationId xmlns:a16="http://schemas.microsoft.com/office/drawing/2014/main" id="{B331B743-D1BF-EC35-B4DA-61AA183AC41D}"/>
              </a:ext>
            </a:extLst>
          </p:cNvPr>
          <p:cNvGraphicFramePr>
            <a:graphicFrameLocks noGrp="1"/>
          </p:cNvGraphicFramePr>
          <p:nvPr>
            <p:extLst>
              <p:ext uri="{D42A27DB-BD31-4B8C-83A1-F6EECF244321}">
                <p14:modId xmlns:p14="http://schemas.microsoft.com/office/powerpoint/2010/main" val="266033599"/>
              </p:ext>
            </p:extLst>
          </p:nvPr>
        </p:nvGraphicFramePr>
        <p:xfrm>
          <a:off x="2578308" y="1234638"/>
          <a:ext cx="9044985" cy="5178248"/>
        </p:xfrm>
        <a:graphic>
          <a:graphicData uri="http://schemas.openxmlformats.org/drawingml/2006/table">
            <a:tbl>
              <a:tblPr>
                <a:tableStyleId>{2D5ABB26-0587-4C30-8999-92F81FD0307C}</a:tableStyleId>
              </a:tblPr>
              <a:tblGrid>
                <a:gridCol w="3014995">
                  <a:extLst>
                    <a:ext uri="{9D8B030D-6E8A-4147-A177-3AD203B41FA5}">
                      <a16:colId xmlns:a16="http://schemas.microsoft.com/office/drawing/2014/main" val="3054884288"/>
                    </a:ext>
                  </a:extLst>
                </a:gridCol>
                <a:gridCol w="3014995">
                  <a:extLst>
                    <a:ext uri="{9D8B030D-6E8A-4147-A177-3AD203B41FA5}">
                      <a16:colId xmlns:a16="http://schemas.microsoft.com/office/drawing/2014/main" val="4089262130"/>
                    </a:ext>
                  </a:extLst>
                </a:gridCol>
                <a:gridCol w="3014995">
                  <a:extLst>
                    <a:ext uri="{9D8B030D-6E8A-4147-A177-3AD203B41FA5}">
                      <a16:colId xmlns:a16="http://schemas.microsoft.com/office/drawing/2014/main" val="37385629"/>
                    </a:ext>
                  </a:extLst>
                </a:gridCol>
              </a:tblGrid>
              <a:tr h="370464">
                <a:tc>
                  <a:txBody>
                    <a:bodyPr/>
                    <a:lstStyle/>
                    <a:p>
                      <a:pPr>
                        <a:buNone/>
                      </a:pPr>
                      <a:r>
                        <a:rPr lang="en-IN" sz="1800"/>
                        <a:t>Category</a:t>
                      </a:r>
                    </a:p>
                  </a:txBody>
                  <a:tcPr marL="90458" marR="90458" marT="45229" marB="45229" anchor="ctr"/>
                </a:tc>
                <a:tc>
                  <a:txBody>
                    <a:bodyPr/>
                    <a:lstStyle/>
                    <a:p>
                      <a:pPr>
                        <a:buNone/>
                      </a:pPr>
                      <a:r>
                        <a:rPr lang="en-IN" sz="1800"/>
                        <a:t>Algorithm / Tool</a:t>
                      </a:r>
                    </a:p>
                  </a:txBody>
                  <a:tcPr marL="90458" marR="90458" marT="45229" marB="45229" anchor="ctr"/>
                </a:tc>
                <a:tc>
                  <a:txBody>
                    <a:bodyPr/>
                    <a:lstStyle/>
                    <a:p>
                      <a:pPr>
                        <a:buNone/>
                      </a:pPr>
                      <a:r>
                        <a:rPr lang="en-IN" sz="1800"/>
                        <a:t>Purpose</a:t>
                      </a:r>
                    </a:p>
                  </a:txBody>
                  <a:tcPr marL="90458" marR="90458" marT="45229" marB="45229" anchor="ctr"/>
                </a:tc>
                <a:extLst>
                  <a:ext uri="{0D108BD9-81ED-4DB2-BD59-A6C34878D82A}">
                    <a16:rowId xmlns:a16="http://schemas.microsoft.com/office/drawing/2014/main" val="358093561"/>
                  </a:ext>
                </a:extLst>
              </a:tr>
              <a:tr h="649061">
                <a:tc>
                  <a:txBody>
                    <a:bodyPr/>
                    <a:lstStyle/>
                    <a:p>
                      <a:pPr>
                        <a:buNone/>
                      </a:pPr>
                      <a:r>
                        <a:rPr lang="en-IN" sz="1800" dirty="0"/>
                        <a:t>AI Reasoning</a:t>
                      </a:r>
                    </a:p>
                  </a:txBody>
                  <a:tcPr marL="90458" marR="90458" marT="45229" marB="45229" anchor="ctr"/>
                </a:tc>
                <a:tc>
                  <a:txBody>
                    <a:bodyPr/>
                    <a:lstStyle/>
                    <a:p>
                      <a:pPr>
                        <a:buNone/>
                      </a:pPr>
                      <a:r>
                        <a:rPr lang="en-IN" sz="1800"/>
                        <a:t>Groq LLM</a:t>
                      </a:r>
                    </a:p>
                  </a:txBody>
                  <a:tcPr marL="90458" marR="90458" marT="45229" marB="45229" anchor="ctr"/>
                </a:tc>
                <a:tc>
                  <a:txBody>
                    <a:bodyPr/>
                    <a:lstStyle/>
                    <a:p>
                      <a:pPr>
                        <a:buNone/>
                      </a:pPr>
                      <a:r>
                        <a:rPr lang="en-IN" sz="1800"/>
                        <a:t>Intelligent analysis and remediation planning</a:t>
                      </a:r>
                    </a:p>
                  </a:txBody>
                  <a:tcPr marL="90458" marR="90458" marT="45229" marB="45229" anchor="ctr"/>
                </a:tc>
                <a:extLst>
                  <a:ext uri="{0D108BD9-81ED-4DB2-BD59-A6C34878D82A}">
                    <a16:rowId xmlns:a16="http://schemas.microsoft.com/office/drawing/2014/main" val="3671046717"/>
                  </a:ext>
                </a:extLst>
              </a:tr>
              <a:tr h="855985">
                <a:tc>
                  <a:txBody>
                    <a:bodyPr/>
                    <a:lstStyle/>
                    <a:p>
                      <a:pPr>
                        <a:buNone/>
                      </a:pPr>
                      <a:r>
                        <a:rPr lang="en-IN" sz="1800"/>
                        <a:t>Embedding Model</a:t>
                      </a:r>
                    </a:p>
                  </a:txBody>
                  <a:tcPr marL="90458" marR="90458" marT="45229" marB="45229" anchor="ctr"/>
                </a:tc>
                <a:tc>
                  <a:txBody>
                    <a:bodyPr/>
                    <a:lstStyle/>
                    <a:p>
                      <a:pPr>
                        <a:buNone/>
                      </a:pPr>
                      <a:r>
                        <a:rPr lang="en-IN" sz="1800"/>
                        <a:t>MiniLM</a:t>
                      </a:r>
                    </a:p>
                  </a:txBody>
                  <a:tcPr marL="90458" marR="90458" marT="45229" marB="45229" anchor="ctr"/>
                </a:tc>
                <a:tc>
                  <a:txBody>
                    <a:bodyPr/>
                    <a:lstStyle/>
                    <a:p>
                      <a:pPr>
                        <a:buNone/>
                      </a:pPr>
                      <a:r>
                        <a:rPr lang="en-IN" sz="1800"/>
                        <a:t>Generates semantic embeddings for incidents and runbooks</a:t>
                      </a:r>
                    </a:p>
                  </a:txBody>
                  <a:tcPr marL="90458" marR="90458" marT="45229" marB="45229" anchor="ctr"/>
                </a:tc>
                <a:extLst>
                  <a:ext uri="{0D108BD9-81ED-4DB2-BD59-A6C34878D82A}">
                    <a16:rowId xmlns:a16="http://schemas.microsoft.com/office/drawing/2014/main" val="1723714354"/>
                  </a:ext>
                </a:extLst>
              </a:tr>
              <a:tr h="649061">
                <a:tc>
                  <a:txBody>
                    <a:bodyPr/>
                    <a:lstStyle/>
                    <a:p>
                      <a:pPr>
                        <a:buNone/>
                      </a:pPr>
                      <a:r>
                        <a:rPr lang="en-IN" sz="1800"/>
                        <a:t>Retrieval Method</a:t>
                      </a:r>
                    </a:p>
                  </a:txBody>
                  <a:tcPr marL="90458" marR="90458" marT="45229" marB="45229" anchor="ctr"/>
                </a:tc>
                <a:tc>
                  <a:txBody>
                    <a:bodyPr/>
                    <a:lstStyle/>
                    <a:p>
                      <a:pPr>
                        <a:buNone/>
                      </a:pPr>
                      <a:r>
                        <a:rPr lang="en-IN" sz="1800"/>
                        <a:t>RAG</a:t>
                      </a:r>
                    </a:p>
                  </a:txBody>
                  <a:tcPr marL="90458" marR="90458" marT="45229" marB="45229" anchor="ctr"/>
                </a:tc>
                <a:tc>
                  <a:txBody>
                    <a:bodyPr/>
                    <a:lstStyle/>
                    <a:p>
                      <a:pPr>
                        <a:buNone/>
                      </a:pPr>
                      <a:r>
                        <a:rPr lang="en-IN" sz="1800"/>
                        <a:t>Retrieves context-aware troubleshooting information</a:t>
                      </a:r>
                    </a:p>
                  </a:txBody>
                  <a:tcPr marL="90458" marR="90458" marT="45229" marB="45229" anchor="ctr"/>
                </a:tc>
                <a:extLst>
                  <a:ext uri="{0D108BD9-81ED-4DB2-BD59-A6C34878D82A}">
                    <a16:rowId xmlns:a16="http://schemas.microsoft.com/office/drawing/2014/main" val="2378209076"/>
                  </a:ext>
                </a:extLst>
              </a:tr>
              <a:tr h="649061">
                <a:tc>
                  <a:txBody>
                    <a:bodyPr/>
                    <a:lstStyle/>
                    <a:p>
                      <a:pPr>
                        <a:buNone/>
                      </a:pPr>
                      <a:r>
                        <a:rPr lang="en-IN" sz="1800"/>
                        <a:t>Vector Database</a:t>
                      </a:r>
                    </a:p>
                  </a:txBody>
                  <a:tcPr marL="90458" marR="90458" marT="45229" marB="45229" anchor="ctr"/>
                </a:tc>
                <a:tc>
                  <a:txBody>
                    <a:bodyPr/>
                    <a:lstStyle/>
                    <a:p>
                      <a:pPr>
                        <a:buNone/>
                      </a:pPr>
                      <a:r>
                        <a:rPr lang="en-IN" sz="1800"/>
                        <a:t>ChromaDB</a:t>
                      </a:r>
                    </a:p>
                  </a:txBody>
                  <a:tcPr marL="90458" marR="90458" marT="45229" marB="45229" anchor="ctr"/>
                </a:tc>
                <a:tc>
                  <a:txBody>
                    <a:bodyPr/>
                    <a:lstStyle/>
                    <a:p>
                      <a:pPr>
                        <a:buNone/>
                      </a:pPr>
                      <a:r>
                        <a:rPr lang="en-IN" sz="1800"/>
                        <a:t>Stores and searches embeddings efficiently</a:t>
                      </a:r>
                    </a:p>
                  </a:txBody>
                  <a:tcPr marL="90458" marR="90458" marT="45229" marB="45229" anchor="ctr"/>
                </a:tc>
                <a:extLst>
                  <a:ext uri="{0D108BD9-81ED-4DB2-BD59-A6C34878D82A}">
                    <a16:rowId xmlns:a16="http://schemas.microsoft.com/office/drawing/2014/main" val="800729125"/>
                  </a:ext>
                </a:extLst>
              </a:tr>
              <a:tr h="649061">
                <a:tc>
                  <a:txBody>
                    <a:bodyPr/>
                    <a:lstStyle/>
                    <a:p>
                      <a:pPr>
                        <a:buNone/>
                      </a:pPr>
                      <a:r>
                        <a:rPr lang="en-IN" sz="1800"/>
                        <a:t>Backend Framework</a:t>
                      </a:r>
                    </a:p>
                  </a:txBody>
                  <a:tcPr marL="90458" marR="90458" marT="45229" marB="45229" anchor="ctr"/>
                </a:tc>
                <a:tc>
                  <a:txBody>
                    <a:bodyPr/>
                    <a:lstStyle/>
                    <a:p>
                      <a:pPr>
                        <a:buNone/>
                      </a:pPr>
                      <a:r>
                        <a:rPr lang="en-IN" sz="1800"/>
                        <a:t>FastAPI</a:t>
                      </a:r>
                    </a:p>
                  </a:txBody>
                  <a:tcPr marL="90458" marR="90458" marT="45229" marB="45229" anchor="ctr"/>
                </a:tc>
                <a:tc>
                  <a:txBody>
                    <a:bodyPr/>
                    <a:lstStyle/>
                    <a:p>
                      <a:pPr>
                        <a:buNone/>
                      </a:pPr>
                      <a:r>
                        <a:rPr lang="en-IN" sz="1800"/>
                        <a:t>API development and workflow execution</a:t>
                      </a:r>
                    </a:p>
                  </a:txBody>
                  <a:tcPr marL="90458" marR="90458" marT="45229" marB="45229" anchor="ctr"/>
                </a:tc>
                <a:extLst>
                  <a:ext uri="{0D108BD9-81ED-4DB2-BD59-A6C34878D82A}">
                    <a16:rowId xmlns:a16="http://schemas.microsoft.com/office/drawing/2014/main" val="3077881615"/>
                  </a:ext>
                </a:extLst>
              </a:tr>
              <a:tr h="649061">
                <a:tc>
                  <a:txBody>
                    <a:bodyPr/>
                    <a:lstStyle/>
                    <a:p>
                      <a:pPr>
                        <a:buNone/>
                      </a:pPr>
                      <a:r>
                        <a:rPr lang="en-IN" sz="1800"/>
                        <a:t>Container Orchestration</a:t>
                      </a:r>
                    </a:p>
                  </a:txBody>
                  <a:tcPr marL="90458" marR="90458" marT="45229" marB="45229" anchor="ctr"/>
                </a:tc>
                <a:tc>
                  <a:txBody>
                    <a:bodyPr/>
                    <a:lstStyle/>
                    <a:p>
                      <a:pPr>
                        <a:buNone/>
                      </a:pPr>
                      <a:r>
                        <a:rPr lang="en-IN" sz="1800"/>
                        <a:t>Kubernetes</a:t>
                      </a:r>
                    </a:p>
                  </a:txBody>
                  <a:tcPr marL="90458" marR="90458" marT="45229" marB="45229" anchor="ctr"/>
                </a:tc>
                <a:tc>
                  <a:txBody>
                    <a:bodyPr/>
                    <a:lstStyle/>
                    <a:p>
                      <a:pPr>
                        <a:buNone/>
                      </a:pPr>
                      <a:r>
                        <a:rPr lang="en-IN" sz="1800"/>
                        <a:t>Automated remediation and self-healing</a:t>
                      </a:r>
                    </a:p>
                  </a:txBody>
                  <a:tcPr marL="90458" marR="90458" marT="45229" marB="45229" anchor="ctr"/>
                </a:tc>
                <a:extLst>
                  <a:ext uri="{0D108BD9-81ED-4DB2-BD59-A6C34878D82A}">
                    <a16:rowId xmlns:a16="http://schemas.microsoft.com/office/drawing/2014/main" val="3092558845"/>
                  </a:ext>
                </a:extLst>
              </a:tr>
              <a:tr h="649061">
                <a:tc>
                  <a:txBody>
                    <a:bodyPr/>
                    <a:lstStyle/>
                    <a:p>
                      <a:pPr>
                        <a:buNone/>
                      </a:pPr>
                      <a:r>
                        <a:rPr lang="en-IN" sz="1800"/>
                        <a:t>Workflow Management</a:t>
                      </a:r>
                    </a:p>
                  </a:txBody>
                  <a:tcPr marL="90458" marR="90458" marT="45229" marB="45229" anchor="ctr"/>
                </a:tc>
                <a:tc>
                  <a:txBody>
                    <a:bodyPr/>
                    <a:lstStyle/>
                    <a:p>
                      <a:pPr>
                        <a:buNone/>
                      </a:pPr>
                      <a:r>
                        <a:rPr lang="en-IN" sz="1800"/>
                        <a:t>Multi-Agent Architecture</a:t>
                      </a:r>
                    </a:p>
                  </a:txBody>
                  <a:tcPr marL="90458" marR="90458" marT="45229" marB="45229" anchor="ctr"/>
                </a:tc>
                <a:tc>
                  <a:txBody>
                    <a:bodyPr/>
                    <a:lstStyle/>
                    <a:p>
                      <a:pPr>
                        <a:buNone/>
                      </a:pPr>
                      <a:r>
                        <a:rPr lang="en-IN" sz="1800" dirty="0"/>
                        <a:t>Coordinates incident analysis and resolution</a:t>
                      </a:r>
                    </a:p>
                  </a:txBody>
                  <a:tcPr marL="90458" marR="90458" marT="45229" marB="45229" anchor="ctr"/>
                </a:tc>
                <a:extLst>
                  <a:ext uri="{0D108BD9-81ED-4DB2-BD59-A6C34878D82A}">
                    <a16:rowId xmlns:a16="http://schemas.microsoft.com/office/drawing/2014/main" val="2998238952"/>
                  </a:ext>
                </a:extLst>
              </a:tr>
            </a:tbl>
          </a:graphicData>
        </a:graphic>
      </p:graphicFrame>
      <p:sp>
        <p:nvSpPr>
          <p:cNvPr id="9" name="TextBox 8">
            <a:extLst>
              <a:ext uri="{FF2B5EF4-FFF2-40B4-BE49-F238E27FC236}">
                <a16:creationId xmlns:a16="http://schemas.microsoft.com/office/drawing/2014/main" id="{46527056-D611-E0A5-541C-0899353FAB90}"/>
              </a:ext>
            </a:extLst>
          </p:cNvPr>
          <p:cNvSpPr txBox="1"/>
          <p:nvPr/>
        </p:nvSpPr>
        <p:spPr>
          <a:xfrm>
            <a:off x="0" y="2443431"/>
            <a:ext cx="2578308" cy="1231106"/>
          </a:xfrm>
          <a:prstGeom prst="rect">
            <a:avLst/>
          </a:prstGeom>
          <a:noFill/>
        </p:spPr>
        <p:txBody>
          <a:bodyPr wrap="square" rtlCol="0">
            <a:spAutoFit/>
          </a:bodyPr>
          <a:lstStyle/>
          <a:p>
            <a:r>
              <a:rPr lang="en-IN" sz="2800" dirty="0"/>
              <a:t>Algorithms and Tools Used</a:t>
            </a:r>
          </a:p>
          <a:p>
            <a:endParaRPr lang="en-IN" dirty="0"/>
          </a:p>
        </p:txBody>
      </p:sp>
    </p:spTree>
    <p:extLst>
      <p:ext uri="{BB962C8B-B14F-4D97-AF65-F5344CB8AC3E}">
        <p14:creationId xmlns:p14="http://schemas.microsoft.com/office/powerpoint/2010/main" val="2291459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9A058-E477-163A-1B3E-61A05B0F38B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8F67352-6E77-1E87-24B7-ED7906E0679C}"/>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Project plan/</a:t>
            </a:r>
            <a:r>
              <a:rPr lang="fr-FR" sz="3600" b="1" dirty="0" err="1">
                <a:solidFill>
                  <a:srgbClr val="5B9BD5">
                    <a:lumMod val="50000"/>
                  </a:srgbClr>
                </a:solidFill>
              </a:rPr>
              <a:t>milestones</a:t>
            </a:r>
            <a:r>
              <a:rPr lang="fr-FR" sz="3600" b="1" dirty="0">
                <a:solidFill>
                  <a:srgbClr val="5B9BD5">
                    <a:lumMod val="50000"/>
                  </a:srgbClr>
                </a:solidFill>
              </a:rPr>
              <a:t> </a:t>
            </a:r>
            <a:r>
              <a:rPr lang="fr-FR" sz="3600" b="1" dirty="0" err="1">
                <a:solidFill>
                  <a:srgbClr val="5B9BD5">
                    <a:lumMod val="50000"/>
                  </a:srgbClr>
                </a:solidFill>
              </a:rPr>
              <a:t>progress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564F4198-C244-16A7-B796-A2E4B5EA6A81}"/>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8C26B487-77E4-5D5B-7416-E64E3C867A98}"/>
              </a:ext>
            </a:extLst>
          </p:cNvPr>
          <p:cNvSpPr txBox="1"/>
          <p:nvPr/>
        </p:nvSpPr>
        <p:spPr>
          <a:xfrm>
            <a:off x="6093893" y="57036"/>
            <a:ext cx="6098107" cy="646331"/>
          </a:xfrm>
          <a:prstGeom prst="rect">
            <a:avLst/>
          </a:prstGeom>
          <a:noFill/>
        </p:spPr>
        <p:txBody>
          <a:bodyPr wrap="square" rtlCol="0">
            <a:spAutoFit/>
          </a:bodyPr>
          <a:lstStyle/>
          <a:p>
            <a:pPr algn="ctr">
              <a:defRPr/>
            </a:pPr>
            <a:r>
              <a:rPr lang="en-IN" dirty="0">
                <a:solidFill>
                  <a:schemeClr val="bg1"/>
                </a:solidFill>
              </a:rPr>
              <a:t>Real-Time DevOps Incident Triage &amp; Auto-Remediation Agent</a:t>
            </a:r>
            <a:endParaRPr lang="en-US" sz="3200" b="1" dirty="0">
              <a:solidFill>
                <a:prstClr val="white"/>
              </a:solidFill>
              <a:latin typeface="Frutiger 45 bold"/>
              <a:cs typeface="Calibri" panose="020F0502020204030204" pitchFamily="34" charset="0"/>
            </a:endParaRPr>
          </a:p>
          <a:p>
            <a:pPr algn="r"/>
            <a:endParaRPr lang="en-US" dirty="0"/>
          </a:p>
        </p:txBody>
      </p:sp>
      <p:graphicFrame>
        <p:nvGraphicFramePr>
          <p:cNvPr id="9" name="Table 8">
            <a:extLst>
              <a:ext uri="{FF2B5EF4-FFF2-40B4-BE49-F238E27FC236}">
                <a16:creationId xmlns:a16="http://schemas.microsoft.com/office/drawing/2014/main" id="{43FC746B-6628-9DE9-6AB2-3C1EFD334941}"/>
              </a:ext>
            </a:extLst>
          </p:cNvPr>
          <p:cNvGraphicFramePr>
            <a:graphicFrameLocks noGrp="1"/>
          </p:cNvGraphicFramePr>
          <p:nvPr>
            <p:extLst>
              <p:ext uri="{D42A27DB-BD31-4B8C-83A1-F6EECF244321}">
                <p14:modId xmlns:p14="http://schemas.microsoft.com/office/powerpoint/2010/main" val="3485104444"/>
              </p:ext>
            </p:extLst>
          </p:nvPr>
        </p:nvGraphicFramePr>
        <p:xfrm>
          <a:off x="837779" y="1192212"/>
          <a:ext cx="11124372" cy="5268548"/>
        </p:xfrm>
        <a:graphic>
          <a:graphicData uri="http://schemas.openxmlformats.org/drawingml/2006/table">
            <a:tbl>
              <a:tblPr>
                <a:tableStyleId>{2D5ABB26-0587-4C30-8999-92F81FD0307C}</a:tableStyleId>
              </a:tblPr>
              <a:tblGrid>
                <a:gridCol w="3708124">
                  <a:extLst>
                    <a:ext uri="{9D8B030D-6E8A-4147-A177-3AD203B41FA5}">
                      <a16:colId xmlns:a16="http://schemas.microsoft.com/office/drawing/2014/main" val="3797916177"/>
                    </a:ext>
                  </a:extLst>
                </a:gridCol>
                <a:gridCol w="3708124">
                  <a:extLst>
                    <a:ext uri="{9D8B030D-6E8A-4147-A177-3AD203B41FA5}">
                      <a16:colId xmlns:a16="http://schemas.microsoft.com/office/drawing/2014/main" val="4065708452"/>
                    </a:ext>
                  </a:extLst>
                </a:gridCol>
                <a:gridCol w="3708124">
                  <a:extLst>
                    <a:ext uri="{9D8B030D-6E8A-4147-A177-3AD203B41FA5}">
                      <a16:colId xmlns:a16="http://schemas.microsoft.com/office/drawing/2014/main" val="3811014285"/>
                    </a:ext>
                  </a:extLst>
                </a:gridCol>
              </a:tblGrid>
              <a:tr h="390263">
                <a:tc>
                  <a:txBody>
                    <a:bodyPr/>
                    <a:lstStyle/>
                    <a:p>
                      <a:pPr>
                        <a:buNone/>
                      </a:pPr>
                      <a:r>
                        <a:rPr lang="en-IN" sz="1800" dirty="0"/>
                        <a:t>Milestone</a:t>
                      </a:r>
                    </a:p>
                  </a:txBody>
                  <a:tcPr marL="88782" marR="88782" marT="44391" marB="44391" anchor="ctr"/>
                </a:tc>
                <a:tc>
                  <a:txBody>
                    <a:bodyPr/>
                    <a:lstStyle/>
                    <a:p>
                      <a:pPr>
                        <a:buNone/>
                      </a:pPr>
                      <a:r>
                        <a:rPr lang="en-IN" sz="1800" dirty="0"/>
                        <a:t>Description</a:t>
                      </a:r>
                    </a:p>
                  </a:txBody>
                  <a:tcPr marL="88782" marR="88782" marT="44391" marB="44391" anchor="ctr"/>
                </a:tc>
                <a:tc>
                  <a:txBody>
                    <a:bodyPr/>
                    <a:lstStyle/>
                    <a:p>
                      <a:pPr>
                        <a:buNone/>
                      </a:pPr>
                      <a:r>
                        <a:rPr lang="en-IN" sz="1800"/>
                        <a:t>Status</a:t>
                      </a:r>
                    </a:p>
                  </a:txBody>
                  <a:tcPr marL="88782" marR="88782" marT="44391" marB="44391" anchor="ctr"/>
                </a:tc>
                <a:extLst>
                  <a:ext uri="{0D108BD9-81ED-4DB2-BD59-A6C34878D82A}">
                    <a16:rowId xmlns:a16="http://schemas.microsoft.com/office/drawing/2014/main" val="737095870"/>
                  </a:ext>
                </a:extLst>
              </a:tr>
              <a:tr h="975657">
                <a:tc>
                  <a:txBody>
                    <a:bodyPr/>
                    <a:lstStyle/>
                    <a:p>
                      <a:pPr>
                        <a:buNone/>
                      </a:pPr>
                      <a:r>
                        <a:rPr lang="en-IN" sz="1800" dirty="0"/>
                        <a:t>Requirement Analysis &amp; System Design</a:t>
                      </a:r>
                    </a:p>
                  </a:txBody>
                  <a:tcPr marL="88782" marR="88782" marT="44391" marB="44391" anchor="ctr"/>
                </a:tc>
                <a:tc>
                  <a:txBody>
                    <a:bodyPr/>
                    <a:lstStyle/>
                    <a:p>
                      <a:pPr>
                        <a:buNone/>
                      </a:pPr>
                      <a:r>
                        <a:rPr lang="en-IN" sz="1800"/>
                        <a:t>Defined project objectives and designed the overall system architecture.</a:t>
                      </a:r>
                    </a:p>
                  </a:txBody>
                  <a:tcPr marL="88782" marR="88782" marT="44391" marB="44391" anchor="ctr"/>
                </a:tc>
                <a:tc>
                  <a:txBody>
                    <a:bodyPr/>
                    <a:lstStyle/>
                    <a:p>
                      <a:pPr>
                        <a:buNone/>
                      </a:pPr>
                      <a:r>
                        <a:rPr lang="en-IN" sz="1800"/>
                        <a:t>✅ Completed</a:t>
                      </a:r>
                    </a:p>
                  </a:txBody>
                  <a:tcPr marL="88782" marR="88782" marT="44391" marB="44391" anchor="ctr"/>
                </a:tc>
                <a:extLst>
                  <a:ext uri="{0D108BD9-81ED-4DB2-BD59-A6C34878D82A}">
                    <a16:rowId xmlns:a16="http://schemas.microsoft.com/office/drawing/2014/main" val="1013483323"/>
                  </a:ext>
                </a:extLst>
              </a:tr>
              <a:tr h="975657">
                <a:tc>
                  <a:txBody>
                    <a:bodyPr/>
                    <a:lstStyle/>
                    <a:p>
                      <a:pPr>
                        <a:buNone/>
                      </a:pPr>
                      <a:r>
                        <a:rPr lang="en-IN" sz="1800" dirty="0"/>
                        <a:t>Data Preparation &amp; RAG Development</a:t>
                      </a:r>
                    </a:p>
                  </a:txBody>
                  <a:tcPr marL="88782" marR="88782" marT="44391" marB="44391" anchor="ctr"/>
                </a:tc>
                <a:tc>
                  <a:txBody>
                    <a:bodyPr/>
                    <a:lstStyle/>
                    <a:p>
                      <a:pPr>
                        <a:buNone/>
                      </a:pPr>
                      <a:r>
                        <a:rPr lang="en-IN" sz="1800"/>
                        <a:t>Prepared runbooks and implemented MiniLM, ChromaDB, and RAG-based retrieval.</a:t>
                      </a:r>
                    </a:p>
                  </a:txBody>
                  <a:tcPr marL="88782" marR="88782" marT="44391" marB="44391" anchor="ctr"/>
                </a:tc>
                <a:tc>
                  <a:txBody>
                    <a:bodyPr/>
                    <a:lstStyle/>
                    <a:p>
                      <a:pPr>
                        <a:buNone/>
                      </a:pPr>
                      <a:r>
                        <a:rPr lang="en-IN" sz="1800"/>
                        <a:t>✅ Completed</a:t>
                      </a:r>
                    </a:p>
                  </a:txBody>
                  <a:tcPr marL="88782" marR="88782" marT="44391" marB="44391" anchor="ctr"/>
                </a:tc>
                <a:extLst>
                  <a:ext uri="{0D108BD9-81ED-4DB2-BD59-A6C34878D82A}">
                    <a16:rowId xmlns:a16="http://schemas.microsoft.com/office/drawing/2014/main" val="3002951578"/>
                  </a:ext>
                </a:extLst>
              </a:tr>
              <a:tr h="975657">
                <a:tc>
                  <a:txBody>
                    <a:bodyPr/>
                    <a:lstStyle/>
                    <a:p>
                      <a:pPr>
                        <a:buNone/>
                      </a:pPr>
                      <a:r>
                        <a:rPr lang="en-IN" sz="1800" dirty="0"/>
                        <a:t>Incident Analysis &amp; AI Integration</a:t>
                      </a:r>
                    </a:p>
                  </a:txBody>
                  <a:tcPr marL="88782" marR="88782" marT="44391" marB="44391" anchor="ctr"/>
                </a:tc>
                <a:tc>
                  <a:txBody>
                    <a:bodyPr/>
                    <a:lstStyle/>
                    <a:p>
                      <a:pPr>
                        <a:buNone/>
                      </a:pPr>
                      <a:r>
                        <a:rPr lang="en-IN" sz="1800"/>
                        <a:t>Developed triage, log analysis, metrics analysis, RCA, and LLM-based reasoning.</a:t>
                      </a:r>
                    </a:p>
                  </a:txBody>
                  <a:tcPr marL="88782" marR="88782" marT="44391" marB="44391" anchor="ctr"/>
                </a:tc>
                <a:tc>
                  <a:txBody>
                    <a:bodyPr/>
                    <a:lstStyle/>
                    <a:p>
                      <a:pPr>
                        <a:buNone/>
                      </a:pPr>
                      <a:r>
                        <a:rPr lang="en-IN" sz="1800"/>
                        <a:t>✅ Completed</a:t>
                      </a:r>
                    </a:p>
                  </a:txBody>
                  <a:tcPr marL="88782" marR="88782" marT="44391" marB="44391" anchor="ctr"/>
                </a:tc>
                <a:extLst>
                  <a:ext uri="{0D108BD9-81ED-4DB2-BD59-A6C34878D82A}">
                    <a16:rowId xmlns:a16="http://schemas.microsoft.com/office/drawing/2014/main" val="74385588"/>
                  </a:ext>
                </a:extLst>
              </a:tr>
              <a:tr h="975657">
                <a:tc>
                  <a:txBody>
                    <a:bodyPr/>
                    <a:lstStyle/>
                    <a:p>
                      <a:pPr>
                        <a:buNone/>
                      </a:pPr>
                      <a:r>
                        <a:rPr lang="en-IN" sz="1800" dirty="0"/>
                        <a:t>Kubernetes Auto-Remediation &amp; API Development</a:t>
                      </a:r>
                    </a:p>
                  </a:txBody>
                  <a:tcPr marL="88782" marR="88782" marT="44391" marB="44391" anchor="ctr"/>
                </a:tc>
                <a:tc>
                  <a:txBody>
                    <a:bodyPr/>
                    <a:lstStyle/>
                    <a:p>
                      <a:pPr>
                        <a:buNone/>
                      </a:pPr>
                      <a:r>
                        <a:rPr lang="en-IN" sz="1800"/>
                        <a:t>Integrated Kubernetes automation and developed FastAPI APIs with Swagger UI.</a:t>
                      </a:r>
                    </a:p>
                  </a:txBody>
                  <a:tcPr marL="88782" marR="88782" marT="44391" marB="44391" anchor="ctr"/>
                </a:tc>
                <a:tc>
                  <a:txBody>
                    <a:bodyPr/>
                    <a:lstStyle/>
                    <a:p>
                      <a:pPr>
                        <a:buNone/>
                      </a:pPr>
                      <a:r>
                        <a:rPr lang="en-IN" sz="1800"/>
                        <a:t>✅ Completed</a:t>
                      </a:r>
                    </a:p>
                  </a:txBody>
                  <a:tcPr marL="88782" marR="88782" marT="44391" marB="44391" anchor="ctr"/>
                </a:tc>
                <a:extLst>
                  <a:ext uri="{0D108BD9-81ED-4DB2-BD59-A6C34878D82A}">
                    <a16:rowId xmlns:a16="http://schemas.microsoft.com/office/drawing/2014/main" val="2988217880"/>
                  </a:ext>
                </a:extLst>
              </a:tr>
              <a:tr h="975657">
                <a:tc>
                  <a:txBody>
                    <a:bodyPr/>
                    <a:lstStyle/>
                    <a:p>
                      <a:pPr>
                        <a:buNone/>
                      </a:pPr>
                      <a:r>
                        <a:rPr lang="en-IN" sz="1800" dirty="0"/>
                        <a:t>Testing, Validation &amp; Documentation</a:t>
                      </a:r>
                    </a:p>
                  </a:txBody>
                  <a:tcPr marL="88782" marR="88782" marT="44391" marB="44391" anchor="ctr"/>
                </a:tc>
                <a:tc>
                  <a:txBody>
                    <a:bodyPr/>
                    <a:lstStyle/>
                    <a:p>
                      <a:pPr>
                        <a:buNone/>
                      </a:pPr>
                      <a:r>
                        <a:rPr lang="en-IN" sz="1800" dirty="0"/>
                        <a:t>Performed end-to-end testing and prepared project documentation and presentation.</a:t>
                      </a:r>
                    </a:p>
                  </a:txBody>
                  <a:tcPr marL="88782" marR="88782" marT="44391" marB="44391" anchor="ctr"/>
                </a:tc>
                <a:tc>
                  <a:txBody>
                    <a:bodyPr/>
                    <a:lstStyle/>
                    <a:p>
                      <a:pPr>
                        <a:buNone/>
                      </a:pPr>
                      <a:r>
                        <a:rPr lang="en-IN" sz="1800" dirty="0"/>
                        <a:t>✅ Completed</a:t>
                      </a:r>
                    </a:p>
                  </a:txBody>
                  <a:tcPr marL="88782" marR="88782" marT="44391" marB="44391" anchor="ctr"/>
                </a:tc>
                <a:extLst>
                  <a:ext uri="{0D108BD9-81ED-4DB2-BD59-A6C34878D82A}">
                    <a16:rowId xmlns:a16="http://schemas.microsoft.com/office/drawing/2014/main" val="1002312692"/>
                  </a:ext>
                </a:extLst>
              </a:tr>
            </a:tbl>
          </a:graphicData>
        </a:graphic>
      </p:graphicFrame>
    </p:spTree>
    <p:extLst>
      <p:ext uri="{BB962C8B-B14F-4D97-AF65-F5344CB8AC3E}">
        <p14:creationId xmlns:p14="http://schemas.microsoft.com/office/powerpoint/2010/main" val="2501109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5BBC5-46B5-0DF4-A2AC-5289D295735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BEA9949-295E-B2C7-8E3A-639B0AD48F51}"/>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Pipeline structure</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1C3477A6-BED1-8211-5527-9030F1E86940}"/>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AB5AC1E1-8B68-1019-1B7A-0CF7BDC8B3EC}"/>
              </a:ext>
            </a:extLst>
          </p:cNvPr>
          <p:cNvSpPr txBox="1"/>
          <p:nvPr/>
        </p:nvSpPr>
        <p:spPr>
          <a:xfrm>
            <a:off x="6093893" y="57036"/>
            <a:ext cx="6098107" cy="646331"/>
          </a:xfrm>
          <a:prstGeom prst="rect">
            <a:avLst/>
          </a:prstGeom>
          <a:noFill/>
        </p:spPr>
        <p:txBody>
          <a:bodyPr wrap="square" rtlCol="0">
            <a:spAutoFit/>
          </a:bodyPr>
          <a:lstStyle/>
          <a:p>
            <a:pPr algn="ctr">
              <a:defRPr/>
            </a:pPr>
            <a:r>
              <a:rPr lang="en-IN" dirty="0">
                <a:solidFill>
                  <a:schemeClr val="bg1"/>
                </a:solidFill>
              </a:rPr>
              <a:t>Real-Time DevOps Incident Triage &amp; Auto-Remediation Agent</a:t>
            </a:r>
            <a:endParaRPr lang="en-US" sz="3200" b="1" dirty="0">
              <a:solidFill>
                <a:prstClr val="white"/>
              </a:solidFill>
              <a:latin typeface="Frutiger 45 bold"/>
              <a:cs typeface="Calibri" panose="020F0502020204030204" pitchFamily="34" charset="0"/>
            </a:endParaRPr>
          </a:p>
          <a:p>
            <a:pPr algn="r"/>
            <a:endParaRPr lang="en-US" dirty="0"/>
          </a:p>
        </p:txBody>
      </p:sp>
      <p:pic>
        <p:nvPicPr>
          <p:cNvPr id="10" name="Picture 9">
            <a:extLst>
              <a:ext uri="{FF2B5EF4-FFF2-40B4-BE49-F238E27FC236}">
                <a16:creationId xmlns:a16="http://schemas.microsoft.com/office/drawing/2014/main" id="{A359D200-3185-C6D8-FCB6-B9B5A4CAD78C}"/>
              </a:ext>
            </a:extLst>
          </p:cNvPr>
          <p:cNvPicPr>
            <a:picLocks noChangeAspect="1"/>
          </p:cNvPicPr>
          <p:nvPr/>
        </p:nvPicPr>
        <p:blipFill>
          <a:blip r:embed="rId2"/>
          <a:stretch>
            <a:fillRect/>
          </a:stretch>
        </p:blipFill>
        <p:spPr>
          <a:xfrm>
            <a:off x="1469035" y="1234637"/>
            <a:ext cx="9758597" cy="5120818"/>
          </a:xfrm>
          <a:prstGeom prst="rect">
            <a:avLst/>
          </a:prstGeom>
        </p:spPr>
      </p:pic>
    </p:spTree>
    <p:extLst>
      <p:ext uri="{BB962C8B-B14F-4D97-AF65-F5344CB8AC3E}">
        <p14:creationId xmlns:p14="http://schemas.microsoft.com/office/powerpoint/2010/main" val="2198371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34682-5FFB-EDDA-8CC8-ACBA8828B4EC}"/>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11EA71EB-79BC-43DE-D347-28C94D262567}"/>
              </a:ext>
            </a:extLst>
          </p:cNvPr>
          <p:cNvSpPr/>
          <p:nvPr/>
        </p:nvSpPr>
        <p:spPr>
          <a:xfrm>
            <a:off x="-31269" y="29737"/>
            <a:ext cx="12254538" cy="6868389"/>
          </a:xfrm>
          <a:prstGeom prst="rect">
            <a:avLst/>
          </a:prstGeom>
          <a:gradFill>
            <a:gsLst>
              <a:gs pos="0">
                <a:srgbClr val="47BDAF"/>
              </a:gs>
              <a:gs pos="100000">
                <a:srgbClr val="3793A6"/>
              </a:gs>
              <a:gs pos="39000">
                <a:srgbClr val="1C4D98"/>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utiger LT Pro 45 Light" panose="020B0403030504020204" pitchFamily="34" charset="0"/>
              <a:ea typeface="+mn-ea"/>
              <a:cs typeface="+mn-cs"/>
            </a:endParaRPr>
          </a:p>
        </p:txBody>
      </p:sp>
      <p:sp>
        <p:nvSpPr>
          <p:cNvPr id="14" name="Text Placeholder 1">
            <a:extLst>
              <a:ext uri="{FF2B5EF4-FFF2-40B4-BE49-F238E27FC236}">
                <a16:creationId xmlns:a16="http://schemas.microsoft.com/office/drawing/2014/main" id="{EF395493-0E04-1846-9519-92D2F6C064DF}"/>
              </a:ext>
            </a:extLst>
          </p:cNvPr>
          <p:cNvSpPr>
            <a:spLocks noGrp="1"/>
          </p:cNvSpPr>
          <p:nvPr>
            <p:ph type="body" sz="quarter" idx="13"/>
          </p:nvPr>
        </p:nvSpPr>
        <p:spPr>
          <a:xfrm>
            <a:off x="2289635" y="17705"/>
            <a:ext cx="6910121" cy="1058125"/>
          </a:xfrm>
        </p:spPr>
        <p:txBody>
          <a:bodyPr/>
          <a:lstStyle/>
          <a:p>
            <a:pPr marL="0" indent="0" algn="ctr">
              <a:buNone/>
            </a:pPr>
            <a:r>
              <a:rPr lang="en-US" sz="4400" dirty="0">
                <a:solidFill>
                  <a:schemeClr val="bg1"/>
                </a:solidFill>
              </a:rPr>
              <a:t>M.Tech/MCA Program </a:t>
            </a:r>
          </a:p>
          <a:p>
            <a:pPr marL="0" indent="0" algn="ctr">
              <a:buNone/>
            </a:pPr>
            <a:r>
              <a:rPr lang="en-US" sz="2000" dirty="0">
                <a:solidFill>
                  <a:schemeClr val="bg1"/>
                </a:solidFill>
              </a:rPr>
              <a:t>Advanced Industry Integrated Programs</a:t>
            </a:r>
          </a:p>
        </p:txBody>
      </p:sp>
      <p:cxnSp>
        <p:nvCxnSpPr>
          <p:cNvPr id="15" name="Straight Connector 14">
            <a:extLst>
              <a:ext uri="{FF2B5EF4-FFF2-40B4-BE49-F238E27FC236}">
                <a16:creationId xmlns:a16="http://schemas.microsoft.com/office/drawing/2014/main" id="{72ACFE78-A760-3C0C-C358-9C25219A5332}"/>
              </a:ext>
            </a:extLst>
          </p:cNvPr>
          <p:cNvCxnSpPr/>
          <p:nvPr/>
        </p:nvCxnSpPr>
        <p:spPr>
          <a:xfrm>
            <a:off x="2977350" y="1120307"/>
            <a:ext cx="58662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3A9F76FB-53CE-C991-7E26-92FDE3611701}"/>
              </a:ext>
            </a:extLst>
          </p:cNvPr>
          <p:cNvSpPr/>
          <p:nvPr/>
        </p:nvSpPr>
        <p:spPr>
          <a:xfrm>
            <a:off x="4125951" y="1177578"/>
            <a:ext cx="3033131" cy="286036"/>
          </a:xfrm>
          <a:prstGeom prst="roundRect">
            <a:avLst/>
          </a:prstGeom>
          <a:solidFill>
            <a:schemeClr val="accent6">
              <a:lumMod val="20000"/>
              <a:lumOff val="80000"/>
            </a:schemeClr>
          </a:solidFill>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dirty="0">
                <a:ln>
                  <a:noFill/>
                </a:ln>
                <a:solidFill>
                  <a:srgbClr val="595959"/>
                </a:solidFill>
                <a:effectLst/>
                <a:uLnTx/>
                <a:uFillTx/>
                <a:latin typeface="Frutiger 45 bold"/>
                <a:ea typeface="+mn-ea"/>
                <a:cs typeface="Calibri" panose="020F0502020204030204" pitchFamily="34" charset="0"/>
              </a:rPr>
              <a:t>Jointly offered by University and LTIMindTree</a:t>
            </a:r>
          </a:p>
        </p:txBody>
      </p:sp>
      <p:sp>
        <p:nvSpPr>
          <p:cNvPr id="4" name="TextBox 3">
            <a:extLst>
              <a:ext uri="{FF2B5EF4-FFF2-40B4-BE49-F238E27FC236}">
                <a16:creationId xmlns:a16="http://schemas.microsoft.com/office/drawing/2014/main" id="{B4A25F4C-5989-5D1C-030B-5FBCA474A7D7}"/>
              </a:ext>
            </a:extLst>
          </p:cNvPr>
          <p:cNvSpPr txBox="1"/>
          <p:nvPr/>
        </p:nvSpPr>
        <p:spPr>
          <a:xfrm>
            <a:off x="180236" y="1659822"/>
            <a:ext cx="11428184" cy="406265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dirty="0">
                <a:solidFill>
                  <a:prstClr val="white"/>
                </a:solidFill>
                <a:cs typeface="Calibri" panose="020F0502020204030204" pitchFamily="34" charset="0"/>
              </a:rPr>
              <a:t>Review II</a:t>
            </a:r>
          </a:p>
          <a:p>
            <a:pPr algn="ctr">
              <a:defRPr/>
            </a:pPr>
            <a:r>
              <a:rPr lang="en-IN" sz="3600" dirty="0">
                <a:solidFill>
                  <a:schemeClr val="bg1"/>
                </a:solidFill>
              </a:rPr>
              <a:t>Agentic AI-Based Project Health and Risk Monitoring System for Automated Project Governance</a:t>
            </a: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a:p>
            <a:pPr lvl="0" algn="ctr">
              <a:defRPr/>
            </a:pPr>
            <a:r>
              <a:rPr lang="en-US" sz="2400" b="1" dirty="0">
                <a:solidFill>
                  <a:prstClr val="white"/>
                </a:solidFill>
                <a:cs typeface="Calibri" panose="020F0502020204030204" pitchFamily="34" charset="0"/>
              </a:rPr>
              <a:t>Noel Jacob Biju</a:t>
            </a:r>
          </a:p>
          <a:p>
            <a:pPr lvl="0" algn="ctr">
              <a:defRPr/>
            </a:pPr>
            <a:r>
              <a:rPr lang="en-US" sz="2400" b="1" dirty="0">
                <a:solidFill>
                  <a:prstClr val="white"/>
                </a:solidFill>
                <a:cs typeface="Calibri" panose="020F0502020204030204" pitchFamily="34" charset="0"/>
              </a:rPr>
              <a:t>MTech AI&amp;ML with </a:t>
            </a:r>
            <a:r>
              <a:rPr lang="en-US" sz="2400" b="1" dirty="0" err="1">
                <a:solidFill>
                  <a:prstClr val="white"/>
                </a:solidFill>
                <a:cs typeface="Calibri" panose="020F0502020204030204" pitchFamily="34" charset="0"/>
              </a:rPr>
              <a:t>LTiMindtree</a:t>
            </a:r>
            <a:r>
              <a:rPr lang="en-US" sz="2400" b="1" dirty="0">
                <a:solidFill>
                  <a:prstClr val="white"/>
                </a:solidFill>
                <a:cs typeface="Calibri" panose="020F0502020204030204" pitchFamily="34" charset="0"/>
              </a:rPr>
              <a:t> collaboration</a:t>
            </a:r>
          </a:p>
          <a:p>
            <a:pPr lvl="0" algn="ctr">
              <a:defRPr/>
            </a:pPr>
            <a:r>
              <a:rPr lang="en-US" sz="2400" b="1" dirty="0">
                <a:solidFill>
                  <a:prstClr val="white"/>
                </a:solidFill>
                <a:cs typeface="Calibri" panose="020F0502020204030204" pitchFamily="34" charset="0"/>
              </a:rPr>
              <a:t>T9988</a:t>
            </a:r>
          </a:p>
          <a:p>
            <a:pPr lvl="0" algn="ctr">
              <a:defRPr/>
            </a:pPr>
            <a:r>
              <a:rPr lang="en-US" sz="2400" b="1" dirty="0">
                <a:solidFill>
                  <a:prstClr val="white"/>
                </a:solidFill>
                <a:cs typeface="Calibri" panose="020F0502020204030204" pitchFamily="34" charset="0"/>
              </a:rPr>
              <a:t>VIT Chennai</a:t>
            </a:r>
            <a:endParaRPr lang="en-US" sz="5400" b="1" dirty="0">
              <a:solidFill>
                <a:prstClr val="white"/>
              </a:solidFill>
              <a:latin typeface="Frutiger 45 bold"/>
              <a:cs typeface="Calibri" panose="020F0502020204030204" pitchFamily="34" charset="0"/>
            </a:endParaRP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p:txBody>
      </p:sp>
      <p:graphicFrame>
        <p:nvGraphicFramePr>
          <p:cNvPr id="3" name="Table 2">
            <a:extLst>
              <a:ext uri="{FF2B5EF4-FFF2-40B4-BE49-F238E27FC236}">
                <a16:creationId xmlns:a16="http://schemas.microsoft.com/office/drawing/2014/main" id="{8BAE4BFB-9489-BEE1-15CC-DD48D3DBDA5F}"/>
              </a:ext>
            </a:extLst>
          </p:cNvPr>
          <p:cNvGraphicFramePr>
            <a:graphicFrameLocks noGrp="1"/>
          </p:cNvGraphicFramePr>
          <p:nvPr/>
        </p:nvGraphicFramePr>
        <p:xfrm>
          <a:off x="-47290" y="5501244"/>
          <a:ext cx="12239216" cy="3264833"/>
        </p:xfrm>
        <a:graphic>
          <a:graphicData uri="http://schemas.openxmlformats.org/drawingml/2006/table">
            <a:tbl>
              <a:tblPr firstRow="1" bandRow="1">
                <a:tableStyleId>{5940675A-B579-460E-94D1-54222C63F5DA}</a:tableStyleId>
              </a:tblPr>
              <a:tblGrid>
                <a:gridCol w="6119608">
                  <a:extLst>
                    <a:ext uri="{9D8B030D-6E8A-4147-A177-3AD203B41FA5}">
                      <a16:colId xmlns:a16="http://schemas.microsoft.com/office/drawing/2014/main" val="586572480"/>
                    </a:ext>
                  </a:extLst>
                </a:gridCol>
                <a:gridCol w="6119608">
                  <a:extLst>
                    <a:ext uri="{9D8B030D-6E8A-4147-A177-3AD203B41FA5}">
                      <a16:colId xmlns:a16="http://schemas.microsoft.com/office/drawing/2014/main" val="157907922"/>
                    </a:ext>
                  </a:extLst>
                </a:gridCol>
              </a:tblGrid>
              <a:tr h="15274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Knowledge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                                                                     Implementation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3668230"/>
                  </a:ext>
                </a:extLst>
              </a:tr>
              <a:tr h="1184198">
                <a:tc>
                  <a:txBody>
                    <a:bodyPr/>
                    <a:lstStyle/>
                    <a:p>
                      <a:endParaRPr lang="en-US" dirty="0"/>
                    </a:p>
                    <a:p>
                      <a:endParaRPr lang="en-US" dirty="0"/>
                    </a:p>
                    <a:p>
                      <a:endParaRPr lang="en-US" dirty="0"/>
                    </a:p>
                    <a:p>
                      <a:endParaRPr lang="en-US" dirty="0"/>
                    </a:p>
                    <a:p>
                      <a:endParaRPr lang="en-US" dirty="0"/>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66263768"/>
                  </a:ext>
                </a:extLst>
              </a:tr>
            </a:tbl>
          </a:graphicData>
        </a:graphic>
      </p:graphicFrame>
      <p:pic>
        <p:nvPicPr>
          <p:cNvPr id="8" name="Picture 7">
            <a:extLst>
              <a:ext uri="{FF2B5EF4-FFF2-40B4-BE49-F238E27FC236}">
                <a16:creationId xmlns:a16="http://schemas.microsoft.com/office/drawing/2014/main" id="{F2DB279A-00AD-6BB9-C628-2279A756759A}"/>
              </a:ext>
            </a:extLst>
          </p:cNvPr>
          <p:cNvPicPr>
            <a:picLocks noChangeAspect="1"/>
          </p:cNvPicPr>
          <p:nvPr/>
        </p:nvPicPr>
        <p:blipFill>
          <a:blip r:embed="rId2"/>
          <a:stretch>
            <a:fillRect/>
          </a:stretch>
        </p:blipFill>
        <p:spPr>
          <a:xfrm>
            <a:off x="9775332" y="5852667"/>
            <a:ext cx="1987468" cy="847417"/>
          </a:xfrm>
          <a:prstGeom prst="rect">
            <a:avLst/>
          </a:prstGeom>
        </p:spPr>
      </p:pic>
      <p:pic>
        <p:nvPicPr>
          <p:cNvPr id="9" name="Picture 2" descr="LTIMindtree - Technology Consulting and Digital Solutions Company">
            <a:extLst>
              <a:ext uri="{FF2B5EF4-FFF2-40B4-BE49-F238E27FC236}">
                <a16:creationId xmlns:a16="http://schemas.microsoft.com/office/drawing/2014/main" id="{86A7BFE7-D9B9-64D0-BFDE-98D217EC1F4D}"/>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0" y="5852667"/>
            <a:ext cx="3886489" cy="8648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18202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C60AA-2CFB-78B4-EEA7-3CA094A07EA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B149D0E-641B-E5E4-F087-A8469DFCE9F8}"/>
              </a:ext>
            </a:extLst>
          </p:cNvPr>
          <p:cNvSpPr>
            <a:spLocks noGrp="1"/>
          </p:cNvSpPr>
          <p:nvPr>
            <p:ph type="body" sz="quarter" idx="13"/>
          </p:nvPr>
        </p:nvSpPr>
        <p:spPr>
          <a:xfrm>
            <a:off x="255996" y="1271219"/>
            <a:ext cx="10624338" cy="4142989"/>
          </a:xfrm>
        </p:spPr>
        <p:txBody>
          <a:bodyPr/>
          <a:lstStyle/>
          <a:p>
            <a:pPr marL="0" indent="0">
              <a:buNone/>
            </a:pPr>
            <a:r>
              <a:rPr lang="en-IN" b="0" dirty="0"/>
              <a:t>Organizations use tools such as </a:t>
            </a:r>
            <a:r>
              <a:rPr lang="en-IN" dirty="0"/>
              <a:t>Microsoft Planner, Microsoft Teams, and Microsoft Excel</a:t>
            </a:r>
            <a:r>
              <a:rPr lang="en-IN" b="0" dirty="0"/>
              <a:t> to manage projects, but project monitoring, risk identification, and reporting are often manual and time-consuming. To address these challenges, this project proposes an </a:t>
            </a:r>
            <a:r>
              <a:rPr lang="en-IN" dirty="0"/>
              <a:t>Agentic AI-Based Project Health and Risk Monitoring System for Automated Project Governance</a:t>
            </a:r>
            <a:r>
              <a:rPr lang="en-IN" b="0" dirty="0"/>
              <a:t> using </a:t>
            </a:r>
            <a:r>
              <a:rPr lang="en-IN" dirty="0"/>
              <a:t>Microsoft Copilot Studio, Power Automate, Microsoft Planner or Excel, Teams, and Outlook</a:t>
            </a:r>
            <a:r>
              <a:rPr lang="en-IN" b="0" dirty="0"/>
              <a:t>. The system automatically monitors project activities, assesses project health, identifies risks and delays, generates recommendations, and communicates insights to stakeholders, enabling proactive decision-making, improved project visibility, and reduced manual effort.</a:t>
            </a:r>
          </a:p>
          <a:p>
            <a:pPr marL="0" indent="0">
              <a:lnSpc>
                <a:spcPct val="150000"/>
              </a:lnSpc>
              <a:buNone/>
            </a:pPr>
            <a:endParaRPr lang="en-US" sz="2400" b="0" dirty="0">
              <a:solidFill>
                <a:srgbClr val="5583D1"/>
              </a:solidFill>
            </a:endParaRPr>
          </a:p>
        </p:txBody>
      </p:sp>
      <p:sp>
        <p:nvSpPr>
          <p:cNvPr id="3" name="TextBox 2">
            <a:extLst>
              <a:ext uri="{FF2B5EF4-FFF2-40B4-BE49-F238E27FC236}">
                <a16:creationId xmlns:a16="http://schemas.microsoft.com/office/drawing/2014/main" id="{5A73C2A0-F8C3-FD1A-C29B-7BF755BBD036}"/>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Introduction….</a:t>
            </a:r>
          </a:p>
        </p:txBody>
      </p:sp>
      <p:cxnSp>
        <p:nvCxnSpPr>
          <p:cNvPr id="5" name="Straight Connector 4">
            <a:extLst>
              <a:ext uri="{FF2B5EF4-FFF2-40B4-BE49-F238E27FC236}">
                <a16:creationId xmlns:a16="http://schemas.microsoft.com/office/drawing/2014/main" id="{D495E975-99E4-2F71-19CD-D654CDC54DD0}"/>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F0E65F8B-82E0-2C0A-C3D9-33389C9F8A2C}"/>
              </a:ext>
            </a:extLst>
          </p:cNvPr>
          <p:cNvSpPr txBox="1"/>
          <p:nvPr/>
        </p:nvSpPr>
        <p:spPr>
          <a:xfrm>
            <a:off x="6093893" y="57036"/>
            <a:ext cx="6098107" cy="923330"/>
          </a:xfrm>
          <a:prstGeom prst="rect">
            <a:avLst/>
          </a:prstGeom>
          <a:noFill/>
        </p:spPr>
        <p:txBody>
          <a:bodyPr wrap="square" rtlCol="0">
            <a:spAutoFit/>
          </a:bodyPr>
          <a:lstStyle/>
          <a:p>
            <a:pPr algn="r">
              <a:defRPr/>
            </a:pPr>
            <a:r>
              <a:rPr lang="en-IN" dirty="0"/>
              <a:t>Agentic AI-Based Project Health and Risk Monitoring System for Automated Project Governance</a:t>
            </a:r>
            <a:endParaRPr lang="en-US" sz="3200" b="1" dirty="0">
              <a:latin typeface="Frutiger 45 bold"/>
              <a:cs typeface="Calibri" panose="020F0502020204030204" pitchFamily="34" charset="0"/>
            </a:endParaRPr>
          </a:p>
          <a:p>
            <a:pPr algn="r"/>
            <a:endParaRPr lang="en-US" dirty="0"/>
          </a:p>
        </p:txBody>
      </p:sp>
    </p:spTree>
    <p:extLst>
      <p:ext uri="{BB962C8B-B14F-4D97-AF65-F5344CB8AC3E}">
        <p14:creationId xmlns:p14="http://schemas.microsoft.com/office/powerpoint/2010/main" val="3602596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EA7C38-1C0E-C896-7217-BB1EC837796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869546A-7D0D-BE31-24A4-390484DA74C7}"/>
              </a:ext>
            </a:extLst>
          </p:cNvPr>
          <p:cNvSpPr>
            <a:spLocks noGrp="1"/>
          </p:cNvSpPr>
          <p:nvPr>
            <p:ph type="body" sz="quarter" idx="13"/>
          </p:nvPr>
        </p:nvSpPr>
        <p:spPr>
          <a:xfrm>
            <a:off x="255996" y="1271219"/>
            <a:ext cx="11936004" cy="4142989"/>
          </a:xfrm>
        </p:spPr>
        <p:txBody>
          <a:bodyPr/>
          <a:lstStyle/>
          <a:p>
            <a:pPr marL="0" indent="0">
              <a:buNone/>
            </a:pPr>
            <a:r>
              <a:rPr lang="en-IN" b="0" dirty="0"/>
              <a:t>The objective of this project is to develop an </a:t>
            </a:r>
            <a:r>
              <a:rPr lang="en-IN" dirty="0"/>
              <a:t>Agentic AI-Based Project Health and Risk Monitoring System for Automated Project Governance</a:t>
            </a:r>
            <a:r>
              <a:rPr lang="en-IN" b="0" dirty="0"/>
              <a:t> using </a:t>
            </a:r>
            <a:r>
              <a:rPr lang="en-IN" dirty="0"/>
              <a:t>Microsoft Copilot Studio, Power Automate, Microsoft Planner or an Excel-based Project Tracker, Microsoft Teams, and Outlook</a:t>
            </a:r>
            <a:r>
              <a:rPr lang="en-IN" b="0" dirty="0"/>
              <a:t>. The system is designed to automatically monitor project activities, track task progress, identify delayed, overdue, and high-priority tasks, and assess project health using </a:t>
            </a:r>
            <a:r>
              <a:rPr lang="en-IN" dirty="0"/>
              <a:t>Green, Amber, and Red</a:t>
            </a:r>
            <a:r>
              <a:rPr lang="en-IN" b="0" dirty="0"/>
              <a:t> status indicators. It leverages </a:t>
            </a:r>
            <a:r>
              <a:rPr lang="en-IN" dirty="0"/>
              <a:t>Agentic AI</a:t>
            </a:r>
            <a:r>
              <a:rPr lang="en-IN" b="0" dirty="0"/>
              <a:t> to perform intelligent risk analysis, generate actionable recommendations, and provide meaningful project insights to stakeholders. Additionally, the system automates reporting, notifications, and stakeholder communication through Teams and Outlook, enabling proactive decision-making, improving project visibility, enhancing risk management, reducing manual effort, and strengthening overall project governance throughout the project lifecycle.</a:t>
            </a:r>
          </a:p>
          <a:p>
            <a:pPr marL="0" indent="0">
              <a:lnSpc>
                <a:spcPct val="150000"/>
              </a:lnSpc>
              <a:buNone/>
            </a:pPr>
            <a:endParaRPr lang="en-US" sz="2400" b="0" dirty="0">
              <a:solidFill>
                <a:srgbClr val="5583D1"/>
              </a:solidFill>
            </a:endParaRPr>
          </a:p>
        </p:txBody>
      </p:sp>
      <p:sp>
        <p:nvSpPr>
          <p:cNvPr id="3" name="TextBox 2">
            <a:extLst>
              <a:ext uri="{FF2B5EF4-FFF2-40B4-BE49-F238E27FC236}">
                <a16:creationId xmlns:a16="http://schemas.microsoft.com/office/drawing/2014/main" id="{1E4B4D7F-6013-7CFD-0784-8DA61F217592}"/>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Objective….</a:t>
            </a:r>
          </a:p>
        </p:txBody>
      </p:sp>
      <p:cxnSp>
        <p:nvCxnSpPr>
          <p:cNvPr id="5" name="Straight Connector 4">
            <a:extLst>
              <a:ext uri="{FF2B5EF4-FFF2-40B4-BE49-F238E27FC236}">
                <a16:creationId xmlns:a16="http://schemas.microsoft.com/office/drawing/2014/main" id="{1559BEE6-3DE6-9A2D-9CE4-1228AC5682A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B6981D75-1261-387D-8D40-29B22CF2C22D}"/>
              </a:ext>
            </a:extLst>
          </p:cNvPr>
          <p:cNvSpPr txBox="1"/>
          <p:nvPr/>
        </p:nvSpPr>
        <p:spPr>
          <a:xfrm>
            <a:off x="6093893" y="57036"/>
            <a:ext cx="6098107" cy="923330"/>
          </a:xfrm>
          <a:prstGeom prst="rect">
            <a:avLst/>
          </a:prstGeom>
          <a:noFill/>
        </p:spPr>
        <p:txBody>
          <a:bodyPr wrap="square" rtlCol="0">
            <a:spAutoFit/>
          </a:bodyPr>
          <a:lstStyle/>
          <a:p>
            <a:pPr algn="r">
              <a:defRPr/>
            </a:pPr>
            <a:r>
              <a:rPr lang="en-IN" dirty="0"/>
              <a:t>Agentic AI-Based Project Health and Risk Monitoring System for Automated Project Governance</a:t>
            </a:r>
            <a:endParaRPr lang="en-US" sz="3200" b="1" dirty="0">
              <a:latin typeface="Frutiger 45 bold"/>
              <a:cs typeface="Calibri" panose="020F0502020204030204" pitchFamily="34" charset="0"/>
            </a:endParaRPr>
          </a:p>
          <a:p>
            <a:pPr algn="r"/>
            <a:endParaRPr lang="en-US" dirty="0"/>
          </a:p>
        </p:txBody>
      </p:sp>
    </p:spTree>
    <p:extLst>
      <p:ext uri="{BB962C8B-B14F-4D97-AF65-F5344CB8AC3E}">
        <p14:creationId xmlns:p14="http://schemas.microsoft.com/office/powerpoint/2010/main" val="1514146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C9FF03-06BC-C5AD-C1AD-1F868D48021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4D0530F-5703-0F91-A5A5-D82D381175A6}"/>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Module name</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DCA04B1D-0326-D404-4E29-7C17611518EC}"/>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F29E2BDE-55C3-AFEC-8A63-4574A9AF917B}"/>
              </a:ext>
            </a:extLst>
          </p:cNvPr>
          <p:cNvSpPr txBox="1"/>
          <p:nvPr/>
        </p:nvSpPr>
        <p:spPr>
          <a:xfrm>
            <a:off x="6093893" y="57036"/>
            <a:ext cx="6098107" cy="923330"/>
          </a:xfrm>
          <a:prstGeom prst="rect">
            <a:avLst/>
          </a:prstGeom>
          <a:noFill/>
        </p:spPr>
        <p:txBody>
          <a:bodyPr wrap="square" rtlCol="0">
            <a:spAutoFit/>
          </a:bodyPr>
          <a:lstStyle/>
          <a:p>
            <a:pPr algn="r">
              <a:defRPr/>
            </a:pPr>
            <a:r>
              <a:rPr lang="en-IN" dirty="0"/>
              <a:t>Agentic AI-Based Project Health and Risk Monitoring System for Automated Project Governance</a:t>
            </a:r>
            <a:endParaRPr lang="en-US" sz="3200" b="1" dirty="0">
              <a:latin typeface="Frutiger 45 bold"/>
              <a:cs typeface="Calibri" panose="020F0502020204030204" pitchFamily="34" charset="0"/>
            </a:endParaRPr>
          </a:p>
          <a:p>
            <a:pPr algn="r"/>
            <a:endParaRPr lang="en-US" dirty="0"/>
          </a:p>
        </p:txBody>
      </p:sp>
      <p:graphicFrame>
        <p:nvGraphicFramePr>
          <p:cNvPr id="8" name="Table 7">
            <a:extLst>
              <a:ext uri="{FF2B5EF4-FFF2-40B4-BE49-F238E27FC236}">
                <a16:creationId xmlns:a16="http://schemas.microsoft.com/office/drawing/2014/main" id="{A1617156-C459-767B-2D48-DA478EED4C7C}"/>
              </a:ext>
            </a:extLst>
          </p:cNvPr>
          <p:cNvGraphicFramePr>
            <a:graphicFrameLocks noGrp="1"/>
          </p:cNvGraphicFramePr>
          <p:nvPr>
            <p:extLst>
              <p:ext uri="{D42A27DB-BD31-4B8C-83A1-F6EECF244321}">
                <p14:modId xmlns:p14="http://schemas.microsoft.com/office/powerpoint/2010/main" val="1858498329"/>
              </p:ext>
            </p:extLst>
          </p:nvPr>
        </p:nvGraphicFramePr>
        <p:xfrm>
          <a:off x="1274164" y="1425875"/>
          <a:ext cx="10807908" cy="5084764"/>
        </p:xfrm>
        <a:graphic>
          <a:graphicData uri="http://schemas.openxmlformats.org/drawingml/2006/table">
            <a:tbl>
              <a:tblPr>
                <a:tableStyleId>{2D5ABB26-0587-4C30-8999-92F81FD0307C}</a:tableStyleId>
              </a:tblPr>
              <a:tblGrid>
                <a:gridCol w="5403954">
                  <a:extLst>
                    <a:ext uri="{9D8B030D-6E8A-4147-A177-3AD203B41FA5}">
                      <a16:colId xmlns:a16="http://schemas.microsoft.com/office/drawing/2014/main" val="2010131360"/>
                    </a:ext>
                  </a:extLst>
                </a:gridCol>
                <a:gridCol w="5403954">
                  <a:extLst>
                    <a:ext uri="{9D8B030D-6E8A-4147-A177-3AD203B41FA5}">
                      <a16:colId xmlns:a16="http://schemas.microsoft.com/office/drawing/2014/main" val="311547634"/>
                    </a:ext>
                  </a:extLst>
                </a:gridCol>
              </a:tblGrid>
              <a:tr h="233082">
                <a:tc>
                  <a:txBody>
                    <a:bodyPr/>
                    <a:lstStyle/>
                    <a:p>
                      <a:pPr>
                        <a:buNone/>
                      </a:pPr>
                      <a:r>
                        <a:rPr lang="en-IN" sz="1200" dirty="0"/>
                        <a:t>Module Name</a:t>
                      </a:r>
                    </a:p>
                  </a:txBody>
                  <a:tcPr marL="55106" marR="55106" marT="27553" marB="27553" anchor="ctr"/>
                </a:tc>
                <a:tc>
                  <a:txBody>
                    <a:bodyPr/>
                    <a:lstStyle/>
                    <a:p>
                      <a:pPr>
                        <a:buNone/>
                      </a:pPr>
                      <a:r>
                        <a:rPr lang="en-IN" sz="1200"/>
                        <a:t>Description</a:t>
                      </a:r>
                    </a:p>
                  </a:txBody>
                  <a:tcPr marL="55106" marR="55106" marT="27553" marB="27553" anchor="ctr"/>
                </a:tc>
                <a:extLst>
                  <a:ext uri="{0D108BD9-81ED-4DB2-BD59-A6C34878D82A}">
                    <a16:rowId xmlns:a16="http://schemas.microsoft.com/office/drawing/2014/main" val="3553186873"/>
                  </a:ext>
                </a:extLst>
              </a:tr>
              <a:tr h="759338">
                <a:tc>
                  <a:txBody>
                    <a:bodyPr/>
                    <a:lstStyle/>
                    <a:p>
                      <a:pPr>
                        <a:buNone/>
                      </a:pPr>
                      <a:r>
                        <a:rPr lang="en-IN" sz="1200" dirty="0"/>
                        <a:t>Project Data Management Module</a:t>
                      </a:r>
                    </a:p>
                  </a:txBody>
                  <a:tcPr marL="55106" marR="55106" marT="27553" marB="27553" anchor="ctr"/>
                </a:tc>
                <a:tc>
                  <a:txBody>
                    <a:bodyPr/>
                    <a:lstStyle/>
                    <a:p>
                      <a:pPr>
                        <a:buNone/>
                      </a:pPr>
                      <a:r>
                        <a:rPr lang="en-IN" sz="1200"/>
                        <a:t>Manages and organizes project information, including task details, owners, priorities, status, and due dates maintained in Microsoft Planner or an Excel-based Project Tracker.</a:t>
                      </a:r>
                    </a:p>
                  </a:txBody>
                  <a:tcPr marL="55106" marR="55106" marT="27553" marB="27553" anchor="ctr"/>
                </a:tc>
                <a:extLst>
                  <a:ext uri="{0D108BD9-81ED-4DB2-BD59-A6C34878D82A}">
                    <a16:rowId xmlns:a16="http://schemas.microsoft.com/office/drawing/2014/main" val="2078101857"/>
                  </a:ext>
                </a:extLst>
              </a:tr>
              <a:tr h="583920">
                <a:tc>
                  <a:txBody>
                    <a:bodyPr/>
                    <a:lstStyle/>
                    <a:p>
                      <a:pPr>
                        <a:buNone/>
                      </a:pPr>
                      <a:r>
                        <a:rPr lang="en-IN" sz="1200" dirty="0"/>
                        <a:t>Task Monitoring and Tracking Module</a:t>
                      </a:r>
                    </a:p>
                  </a:txBody>
                  <a:tcPr marL="55106" marR="55106" marT="27553" marB="27553" anchor="ctr"/>
                </a:tc>
                <a:tc>
                  <a:txBody>
                    <a:bodyPr/>
                    <a:lstStyle/>
                    <a:p>
                      <a:pPr>
                        <a:buNone/>
                      </a:pPr>
                      <a:r>
                        <a:rPr lang="en-IN" sz="1200"/>
                        <a:t>Continuously monitors project activities and tracks task progress to identify delayed, overdue, or high-priority tasks that may affect project delivery.</a:t>
                      </a:r>
                    </a:p>
                  </a:txBody>
                  <a:tcPr marL="55106" marR="55106" marT="27553" marB="27553" anchor="ctr"/>
                </a:tc>
                <a:extLst>
                  <a:ext uri="{0D108BD9-81ED-4DB2-BD59-A6C34878D82A}">
                    <a16:rowId xmlns:a16="http://schemas.microsoft.com/office/drawing/2014/main" val="1253175766"/>
                  </a:ext>
                </a:extLst>
              </a:tr>
              <a:tr h="583920">
                <a:tc>
                  <a:txBody>
                    <a:bodyPr/>
                    <a:lstStyle/>
                    <a:p>
                      <a:pPr>
                        <a:buNone/>
                      </a:pPr>
                      <a:r>
                        <a:rPr lang="en-IN" sz="1200" dirty="0"/>
                        <a:t>Project Health Assessment Module</a:t>
                      </a:r>
                    </a:p>
                  </a:txBody>
                  <a:tcPr marL="55106" marR="55106" marT="27553" marB="27553" anchor="ctr"/>
                </a:tc>
                <a:tc>
                  <a:txBody>
                    <a:bodyPr/>
                    <a:lstStyle/>
                    <a:p>
                      <a:pPr>
                        <a:buNone/>
                      </a:pPr>
                      <a:r>
                        <a:rPr lang="en-IN" sz="1200"/>
                        <a:t>Evaluates overall project performance and classifies project health as Green, Amber, or Red based on predefined assessment criteria.</a:t>
                      </a:r>
                    </a:p>
                  </a:txBody>
                  <a:tcPr marL="55106" marR="55106" marT="27553" marB="27553" anchor="ctr"/>
                </a:tc>
                <a:extLst>
                  <a:ext uri="{0D108BD9-81ED-4DB2-BD59-A6C34878D82A}">
                    <a16:rowId xmlns:a16="http://schemas.microsoft.com/office/drawing/2014/main" val="2863749779"/>
                  </a:ext>
                </a:extLst>
              </a:tr>
              <a:tr h="583920">
                <a:tc>
                  <a:txBody>
                    <a:bodyPr/>
                    <a:lstStyle/>
                    <a:p>
                      <a:pPr>
                        <a:buNone/>
                      </a:pPr>
                      <a:r>
                        <a:rPr lang="en-IN" sz="1200" dirty="0"/>
                        <a:t>Risk Detection and Analysis Module</a:t>
                      </a:r>
                    </a:p>
                  </a:txBody>
                  <a:tcPr marL="55106" marR="55106" marT="27553" marB="27553" anchor="ctr"/>
                </a:tc>
                <a:tc>
                  <a:txBody>
                    <a:bodyPr/>
                    <a:lstStyle/>
                    <a:p>
                      <a:pPr>
                        <a:buNone/>
                      </a:pPr>
                      <a:r>
                        <a:rPr lang="en-IN" sz="1200"/>
                        <a:t>Identifies potential project risks by analyzing task delays, unresolved issues, dependencies, and critical activities that may impact project outcomes.</a:t>
                      </a:r>
                    </a:p>
                  </a:txBody>
                  <a:tcPr marL="55106" marR="55106" marT="27553" marB="27553" anchor="ctr"/>
                </a:tc>
                <a:extLst>
                  <a:ext uri="{0D108BD9-81ED-4DB2-BD59-A6C34878D82A}">
                    <a16:rowId xmlns:a16="http://schemas.microsoft.com/office/drawing/2014/main" val="2891152586"/>
                  </a:ext>
                </a:extLst>
              </a:tr>
              <a:tr h="583920">
                <a:tc>
                  <a:txBody>
                    <a:bodyPr/>
                    <a:lstStyle/>
                    <a:p>
                      <a:pPr>
                        <a:buNone/>
                      </a:pPr>
                      <a:r>
                        <a:rPr lang="en-IN" sz="1200" dirty="0"/>
                        <a:t>Agentic AI Recommendation Engine Module</a:t>
                      </a:r>
                    </a:p>
                  </a:txBody>
                  <a:tcPr marL="55106" marR="55106" marT="27553" marB="27553" anchor="ctr"/>
                </a:tc>
                <a:tc>
                  <a:txBody>
                    <a:bodyPr/>
                    <a:lstStyle/>
                    <a:p>
                      <a:pPr>
                        <a:buNone/>
                      </a:pPr>
                      <a:r>
                        <a:rPr lang="en-IN" sz="1200"/>
                        <a:t>Utilizes Microsoft Copilot Studio to perform intelligent analysis and generate actionable recommendations for risk mitigation and project improvement.</a:t>
                      </a:r>
                    </a:p>
                  </a:txBody>
                  <a:tcPr marL="55106" marR="55106" marT="27553" marB="27553" anchor="ctr"/>
                </a:tc>
                <a:extLst>
                  <a:ext uri="{0D108BD9-81ED-4DB2-BD59-A6C34878D82A}">
                    <a16:rowId xmlns:a16="http://schemas.microsoft.com/office/drawing/2014/main" val="4247455651"/>
                  </a:ext>
                </a:extLst>
              </a:tr>
              <a:tr h="583920">
                <a:tc>
                  <a:txBody>
                    <a:bodyPr/>
                    <a:lstStyle/>
                    <a:p>
                      <a:pPr>
                        <a:buNone/>
                      </a:pPr>
                      <a:r>
                        <a:rPr lang="en-IN" sz="1200" dirty="0"/>
                        <a:t>Automated Reporting Module</a:t>
                      </a:r>
                    </a:p>
                  </a:txBody>
                  <a:tcPr marL="55106" marR="55106" marT="27553" marB="27553" anchor="ctr"/>
                </a:tc>
                <a:tc>
                  <a:txBody>
                    <a:bodyPr/>
                    <a:lstStyle/>
                    <a:p>
                      <a:pPr>
                        <a:buNone/>
                      </a:pPr>
                      <a:r>
                        <a:rPr lang="en-IN" sz="1200"/>
                        <a:t>Automatically generates project health summaries, risk reports, and governance insights to reduce manual reporting effort.</a:t>
                      </a:r>
                    </a:p>
                  </a:txBody>
                  <a:tcPr marL="55106" marR="55106" marT="27553" marB="27553" anchor="ctr"/>
                </a:tc>
                <a:extLst>
                  <a:ext uri="{0D108BD9-81ED-4DB2-BD59-A6C34878D82A}">
                    <a16:rowId xmlns:a16="http://schemas.microsoft.com/office/drawing/2014/main" val="1447355996"/>
                  </a:ext>
                </a:extLst>
              </a:tr>
              <a:tr h="583920">
                <a:tc>
                  <a:txBody>
                    <a:bodyPr/>
                    <a:lstStyle/>
                    <a:p>
                      <a:pPr>
                        <a:buNone/>
                      </a:pPr>
                      <a:r>
                        <a:rPr lang="en-IN" sz="1200" dirty="0"/>
                        <a:t>Teams and Outlook Notification Module</a:t>
                      </a:r>
                    </a:p>
                  </a:txBody>
                  <a:tcPr marL="55106" marR="55106" marT="27553" marB="27553" anchor="ctr"/>
                </a:tc>
                <a:tc>
                  <a:txBody>
                    <a:bodyPr/>
                    <a:lstStyle/>
                    <a:p>
                      <a:pPr>
                        <a:buNone/>
                      </a:pPr>
                      <a:r>
                        <a:rPr lang="en-IN" sz="1200"/>
                        <a:t>Delivers project alerts, risk updates, recommendations, and status reports to stakeholders through Microsoft Teams and Outlook.</a:t>
                      </a:r>
                    </a:p>
                  </a:txBody>
                  <a:tcPr marL="55106" marR="55106" marT="27553" marB="27553" anchor="ctr"/>
                </a:tc>
                <a:extLst>
                  <a:ext uri="{0D108BD9-81ED-4DB2-BD59-A6C34878D82A}">
                    <a16:rowId xmlns:a16="http://schemas.microsoft.com/office/drawing/2014/main" val="3301724057"/>
                  </a:ext>
                </a:extLst>
              </a:tr>
              <a:tr h="583920">
                <a:tc>
                  <a:txBody>
                    <a:bodyPr/>
                    <a:lstStyle/>
                    <a:p>
                      <a:pPr>
                        <a:buNone/>
                      </a:pPr>
                      <a:r>
                        <a:rPr lang="en-IN" sz="1200" dirty="0"/>
                        <a:t>Escalation Management Module</a:t>
                      </a:r>
                    </a:p>
                  </a:txBody>
                  <a:tcPr marL="55106" marR="55106" marT="27553" marB="27553" anchor="ctr"/>
                </a:tc>
                <a:tc>
                  <a:txBody>
                    <a:bodyPr/>
                    <a:lstStyle/>
                    <a:p>
                      <a:pPr>
                        <a:buNone/>
                      </a:pPr>
                      <a:r>
                        <a:rPr lang="en-IN" sz="1200" dirty="0"/>
                        <a:t>Automatically escalates critical issues and high-risk project scenarios to project managers and stakeholders for timely intervention and decision-making.</a:t>
                      </a:r>
                    </a:p>
                  </a:txBody>
                  <a:tcPr marL="55106" marR="55106" marT="27553" marB="27553" anchor="ctr"/>
                </a:tc>
                <a:extLst>
                  <a:ext uri="{0D108BD9-81ED-4DB2-BD59-A6C34878D82A}">
                    <a16:rowId xmlns:a16="http://schemas.microsoft.com/office/drawing/2014/main" val="2459708200"/>
                  </a:ext>
                </a:extLst>
              </a:tr>
            </a:tbl>
          </a:graphicData>
        </a:graphic>
      </p:graphicFrame>
    </p:spTree>
    <p:extLst>
      <p:ext uri="{BB962C8B-B14F-4D97-AF65-F5344CB8AC3E}">
        <p14:creationId xmlns:p14="http://schemas.microsoft.com/office/powerpoint/2010/main" val="16498727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5D95A-42F1-6F81-4F44-EC190E56F25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AC83F95-3FC9-78CA-59EB-99985AA6D0F1}"/>
              </a:ext>
            </a:extLst>
          </p:cNvPr>
          <p:cNvSpPr>
            <a:spLocks noGrp="1"/>
          </p:cNvSpPr>
          <p:nvPr>
            <p:ph type="body" sz="quarter" idx="13"/>
          </p:nvPr>
        </p:nvSpPr>
        <p:spPr>
          <a:xfrm>
            <a:off x="255996" y="1271219"/>
            <a:ext cx="10624338" cy="4142989"/>
          </a:xfrm>
        </p:spPr>
        <p:txBody>
          <a:bodyPr/>
          <a:lstStyle/>
          <a:p>
            <a:pPr marL="0" indent="0">
              <a:buNone/>
            </a:pPr>
            <a:r>
              <a:rPr lang="en-IN" b="0" dirty="0"/>
              <a:t>The proposed </a:t>
            </a:r>
            <a:r>
              <a:rPr lang="en-IN" dirty="0"/>
              <a:t>Agentic AI-Based Project Health and Risk Monitoring System</a:t>
            </a:r>
            <a:r>
              <a:rPr lang="en-IN" b="0" dirty="0"/>
              <a:t> follows an AI-driven and workflow-oriented methodology to automate project monitoring, risk assessment, and stakeholder communication. Project information is maintained in </a:t>
            </a:r>
            <a:r>
              <a:rPr lang="en-IN" dirty="0"/>
              <a:t>Microsoft Planner or an Excel-based Project Tracker</a:t>
            </a:r>
            <a:r>
              <a:rPr lang="en-IN" b="0" dirty="0"/>
              <a:t>, which serves as the primary data source. </a:t>
            </a:r>
            <a:r>
              <a:rPr lang="en-IN" dirty="0"/>
              <a:t>Power Automate</a:t>
            </a:r>
            <a:r>
              <a:rPr lang="en-IN" b="0" dirty="0"/>
              <a:t> retrieves and processes project data, including task status, priority, and due dates, to monitor project progress and identify delayed or overdue activities. Based on predefined rules, the system evaluates project health and classifies it into </a:t>
            </a:r>
            <a:r>
              <a:rPr lang="en-IN" dirty="0"/>
              <a:t>Green, Amber, or Red</a:t>
            </a:r>
            <a:r>
              <a:rPr lang="en-IN" b="0" dirty="0"/>
              <a:t> categories.</a:t>
            </a:r>
          </a:p>
          <a:p>
            <a:pPr marL="0" indent="0">
              <a:lnSpc>
                <a:spcPct val="150000"/>
              </a:lnSpc>
              <a:buNone/>
            </a:pPr>
            <a:endParaRPr lang="en-US" sz="2400" b="0" dirty="0">
              <a:solidFill>
                <a:srgbClr val="5583D1"/>
              </a:solidFill>
            </a:endParaRPr>
          </a:p>
        </p:txBody>
      </p:sp>
      <p:sp>
        <p:nvSpPr>
          <p:cNvPr id="3" name="TextBox 2">
            <a:extLst>
              <a:ext uri="{FF2B5EF4-FFF2-40B4-BE49-F238E27FC236}">
                <a16:creationId xmlns:a16="http://schemas.microsoft.com/office/drawing/2014/main" id="{74F5564D-852C-4E60-A57E-D91B5CD896E1}"/>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Methodology/Modeling Plan</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a:t>
            </a:r>
          </a:p>
        </p:txBody>
      </p:sp>
      <p:cxnSp>
        <p:nvCxnSpPr>
          <p:cNvPr id="5" name="Straight Connector 4">
            <a:extLst>
              <a:ext uri="{FF2B5EF4-FFF2-40B4-BE49-F238E27FC236}">
                <a16:creationId xmlns:a16="http://schemas.microsoft.com/office/drawing/2014/main" id="{94E4EC15-C8A9-5D35-2AAD-115A9BDE804C}"/>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866C414C-6837-CB17-7384-46834ABB3376}"/>
              </a:ext>
            </a:extLst>
          </p:cNvPr>
          <p:cNvSpPr txBox="1"/>
          <p:nvPr/>
        </p:nvSpPr>
        <p:spPr>
          <a:xfrm>
            <a:off x="6093893" y="57036"/>
            <a:ext cx="6098107" cy="923330"/>
          </a:xfrm>
          <a:prstGeom prst="rect">
            <a:avLst/>
          </a:prstGeom>
          <a:noFill/>
        </p:spPr>
        <p:txBody>
          <a:bodyPr wrap="square" rtlCol="0">
            <a:spAutoFit/>
          </a:bodyPr>
          <a:lstStyle/>
          <a:p>
            <a:pPr algn="r">
              <a:defRPr/>
            </a:pPr>
            <a:r>
              <a:rPr lang="en-IN" dirty="0"/>
              <a:t>Agentic AI-Based Project Health and Risk Monitoring System for Automated Project Governance</a:t>
            </a:r>
            <a:endParaRPr lang="en-US" sz="3200" b="1" dirty="0">
              <a:latin typeface="Frutiger 45 bold"/>
              <a:cs typeface="Calibri" panose="020F0502020204030204" pitchFamily="34" charset="0"/>
            </a:endParaRPr>
          </a:p>
          <a:p>
            <a:pPr algn="r"/>
            <a:endParaRPr lang="en-US" dirty="0"/>
          </a:p>
        </p:txBody>
      </p:sp>
    </p:spTree>
    <p:extLst>
      <p:ext uri="{BB962C8B-B14F-4D97-AF65-F5344CB8AC3E}">
        <p14:creationId xmlns:p14="http://schemas.microsoft.com/office/powerpoint/2010/main" val="5611203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D5BBE-11D9-A124-5A41-DE5AEFED0A2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BCCC5AC-A989-4D23-756E-49E65081427B}"/>
              </a:ext>
            </a:extLst>
          </p:cNvPr>
          <p:cNvSpPr>
            <a:spLocks noGrp="1"/>
          </p:cNvSpPr>
          <p:nvPr>
            <p:ph type="body" sz="quarter" idx="13"/>
          </p:nvPr>
        </p:nvSpPr>
        <p:spPr>
          <a:xfrm>
            <a:off x="255996" y="1271219"/>
            <a:ext cx="10624338" cy="4142989"/>
          </a:xfrm>
        </p:spPr>
        <p:txBody>
          <a:bodyPr/>
          <a:lstStyle/>
          <a:p>
            <a:pPr fontAlgn="t">
              <a:buNone/>
            </a:pPr>
            <a:r>
              <a:rPr lang="en-IN" b="0" dirty="0"/>
              <a:t>The processed project information is then passed to a </a:t>
            </a:r>
            <a:r>
              <a:rPr lang="en-IN" dirty="0"/>
              <a:t>Copilot Studio Agent</a:t>
            </a:r>
            <a:r>
              <a:rPr lang="en-IN" b="0" dirty="0"/>
              <a:t>, which performs intelligent risk analysis, identifies potential project issues, evaluates their impact, and generates actionable recommendations. The generated insights are automatically compiled into project reports and communicated to stakeholders through </a:t>
            </a:r>
            <a:r>
              <a:rPr lang="en-IN" dirty="0"/>
              <a:t>Microsoft Teams</a:t>
            </a:r>
            <a:r>
              <a:rPr lang="en-IN" b="0" dirty="0"/>
              <a:t> and </a:t>
            </a:r>
            <a:r>
              <a:rPr lang="en-IN" dirty="0"/>
              <a:t>Outlook</a:t>
            </a:r>
            <a:r>
              <a:rPr lang="en-IN" b="0" dirty="0"/>
              <a:t>. Additionally, critical project risks trigger escalation workflows to ensure timely management intervention. This methodology combines </a:t>
            </a:r>
            <a:r>
              <a:rPr lang="en-IN" dirty="0"/>
              <a:t>data monitoring, project health assessment, Agentic AI-based analysis, automated reporting, and stakeholder communication</a:t>
            </a:r>
            <a:r>
              <a:rPr lang="en-IN" b="0" dirty="0"/>
              <a:t> to enable proactive project governance and informed decision-making.</a:t>
            </a:r>
          </a:p>
          <a:p>
            <a:pPr marL="0" indent="0">
              <a:lnSpc>
                <a:spcPct val="150000"/>
              </a:lnSpc>
              <a:buNone/>
            </a:pPr>
            <a:endParaRPr lang="en-US" sz="2400" b="0" dirty="0">
              <a:solidFill>
                <a:srgbClr val="5583D1"/>
              </a:solidFill>
            </a:endParaRPr>
          </a:p>
        </p:txBody>
      </p:sp>
      <p:sp>
        <p:nvSpPr>
          <p:cNvPr id="3" name="TextBox 2">
            <a:extLst>
              <a:ext uri="{FF2B5EF4-FFF2-40B4-BE49-F238E27FC236}">
                <a16:creationId xmlns:a16="http://schemas.microsoft.com/office/drawing/2014/main" id="{B8E88580-82B2-7F99-FE3A-9F7206542EFE}"/>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Methodology/Modeling Plan</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….(Continuation)</a:t>
            </a:r>
          </a:p>
        </p:txBody>
      </p:sp>
      <p:cxnSp>
        <p:nvCxnSpPr>
          <p:cNvPr id="5" name="Straight Connector 4">
            <a:extLst>
              <a:ext uri="{FF2B5EF4-FFF2-40B4-BE49-F238E27FC236}">
                <a16:creationId xmlns:a16="http://schemas.microsoft.com/office/drawing/2014/main" id="{99044B92-C220-AEF4-2DE8-F192BFBBD70D}"/>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3F947259-2938-9282-6E1F-F5EDAA82B31D}"/>
              </a:ext>
            </a:extLst>
          </p:cNvPr>
          <p:cNvSpPr txBox="1"/>
          <p:nvPr/>
        </p:nvSpPr>
        <p:spPr>
          <a:xfrm>
            <a:off x="6093893" y="57036"/>
            <a:ext cx="6098107" cy="923330"/>
          </a:xfrm>
          <a:prstGeom prst="rect">
            <a:avLst/>
          </a:prstGeom>
          <a:noFill/>
        </p:spPr>
        <p:txBody>
          <a:bodyPr wrap="square" rtlCol="0">
            <a:spAutoFit/>
          </a:bodyPr>
          <a:lstStyle/>
          <a:p>
            <a:pPr algn="r">
              <a:defRPr/>
            </a:pPr>
            <a:r>
              <a:rPr lang="en-IN" dirty="0"/>
              <a:t>Agentic AI-Based Project Health and Risk Monitoring System for Automated Project Governance</a:t>
            </a:r>
            <a:endParaRPr lang="en-US" sz="3200" b="1" dirty="0">
              <a:latin typeface="Frutiger 45 bold"/>
              <a:cs typeface="Calibri" panose="020F0502020204030204" pitchFamily="34" charset="0"/>
            </a:endParaRPr>
          </a:p>
          <a:p>
            <a:pPr algn="r"/>
            <a:endParaRPr lang="en-US" dirty="0"/>
          </a:p>
        </p:txBody>
      </p:sp>
    </p:spTree>
    <p:extLst>
      <p:ext uri="{BB962C8B-B14F-4D97-AF65-F5344CB8AC3E}">
        <p14:creationId xmlns:p14="http://schemas.microsoft.com/office/powerpoint/2010/main" val="2886231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1536F-0088-A8E2-4200-5A7FC25FDC9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5910631-BA56-1C07-AF18-A655A0B9F1E1}"/>
              </a:ext>
            </a:extLst>
          </p:cNvPr>
          <p:cNvSpPr>
            <a:spLocks noGrp="1"/>
          </p:cNvSpPr>
          <p:nvPr>
            <p:ph type="body" sz="quarter" idx="13"/>
          </p:nvPr>
        </p:nvSpPr>
        <p:spPr>
          <a:xfrm>
            <a:off x="255996" y="1271219"/>
            <a:ext cx="10624338" cy="4142989"/>
          </a:xfrm>
        </p:spPr>
        <p:txBody>
          <a:bodyPr/>
          <a:lstStyle/>
          <a:p>
            <a:pPr marL="0" indent="0">
              <a:buNone/>
            </a:pPr>
            <a:r>
              <a:rPr lang="en-IN" b="0" dirty="0"/>
              <a:t>The </a:t>
            </a:r>
            <a:r>
              <a:rPr lang="en-IN" dirty="0"/>
              <a:t>Data Preprocessing and Exploratory Data Analysis (EDA)</a:t>
            </a:r>
            <a:r>
              <a:rPr lang="en-IN" b="0" dirty="0"/>
              <a:t> phase ensures that project data collected from </a:t>
            </a:r>
            <a:r>
              <a:rPr lang="en-IN" dirty="0"/>
              <a:t>Microsoft Planner or an Excel-based Project Tracker</a:t>
            </a:r>
            <a:r>
              <a:rPr lang="en-IN" b="0" dirty="0"/>
              <a:t> is accurate, consistent, and suitable for project health assessment and risk analysis. During preprocessing, the project data is reviewed to identify missing values, duplicate records, inconsistent task statuses, and invalid due dates. The data is then cleaned and standardized by ensuring uniform task status values, valid date formats, and complete task information such as project name, task owner, priority, status, and due date.</a:t>
            </a:r>
          </a:p>
          <a:p>
            <a:pPr marL="0" indent="0">
              <a:lnSpc>
                <a:spcPct val="150000"/>
              </a:lnSpc>
              <a:buNone/>
            </a:pPr>
            <a:endParaRPr lang="en-US" sz="2400" b="0" dirty="0">
              <a:solidFill>
                <a:srgbClr val="5583D1"/>
              </a:solidFill>
            </a:endParaRPr>
          </a:p>
        </p:txBody>
      </p:sp>
      <p:sp>
        <p:nvSpPr>
          <p:cNvPr id="3" name="TextBox 2">
            <a:extLst>
              <a:ext uri="{FF2B5EF4-FFF2-40B4-BE49-F238E27FC236}">
                <a16:creationId xmlns:a16="http://schemas.microsoft.com/office/drawing/2014/main" id="{2F4F09A1-02F8-6DAB-D6A7-E743BA336DD8}"/>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Data preprocessing &amp; EDA</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a:t>
            </a:r>
          </a:p>
        </p:txBody>
      </p:sp>
      <p:cxnSp>
        <p:nvCxnSpPr>
          <p:cNvPr id="5" name="Straight Connector 4">
            <a:extLst>
              <a:ext uri="{FF2B5EF4-FFF2-40B4-BE49-F238E27FC236}">
                <a16:creationId xmlns:a16="http://schemas.microsoft.com/office/drawing/2014/main" id="{B0920EE1-9D20-C464-02E8-664BDAE7317A}"/>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DEDB2D44-1ADD-DED0-B3AE-E0471BD2B20C}"/>
              </a:ext>
            </a:extLst>
          </p:cNvPr>
          <p:cNvSpPr txBox="1"/>
          <p:nvPr/>
        </p:nvSpPr>
        <p:spPr>
          <a:xfrm>
            <a:off x="6093893" y="57036"/>
            <a:ext cx="6098107" cy="923330"/>
          </a:xfrm>
          <a:prstGeom prst="rect">
            <a:avLst/>
          </a:prstGeom>
          <a:noFill/>
        </p:spPr>
        <p:txBody>
          <a:bodyPr wrap="square" rtlCol="0">
            <a:spAutoFit/>
          </a:bodyPr>
          <a:lstStyle/>
          <a:p>
            <a:pPr algn="r">
              <a:defRPr/>
            </a:pPr>
            <a:r>
              <a:rPr lang="en-IN" dirty="0"/>
              <a:t>Agentic AI-Based Project Health and Risk Monitoring System for Automated Project Governance</a:t>
            </a:r>
            <a:endParaRPr lang="en-US" sz="3200" b="1" dirty="0">
              <a:latin typeface="Frutiger 45 bold"/>
              <a:cs typeface="Calibri" panose="020F0502020204030204" pitchFamily="34" charset="0"/>
            </a:endParaRPr>
          </a:p>
          <a:p>
            <a:pPr algn="r"/>
            <a:endParaRPr lang="en-US" dirty="0"/>
          </a:p>
        </p:txBody>
      </p:sp>
    </p:spTree>
    <p:extLst>
      <p:ext uri="{BB962C8B-B14F-4D97-AF65-F5344CB8AC3E}">
        <p14:creationId xmlns:p14="http://schemas.microsoft.com/office/powerpoint/2010/main" val="3399622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90FE5F-8AE1-ED56-D9BA-7547BBFE6ED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6520250-FDD0-C84A-A1EE-47FC5EFD4A34}"/>
              </a:ext>
            </a:extLst>
          </p:cNvPr>
          <p:cNvSpPr>
            <a:spLocks noGrp="1"/>
          </p:cNvSpPr>
          <p:nvPr>
            <p:ph type="body" sz="quarter" idx="13"/>
          </p:nvPr>
        </p:nvSpPr>
        <p:spPr>
          <a:xfrm>
            <a:off x="255996" y="1271219"/>
            <a:ext cx="10624338" cy="4142989"/>
          </a:xfrm>
        </p:spPr>
        <p:txBody>
          <a:bodyPr/>
          <a:lstStyle/>
          <a:p>
            <a:pPr fontAlgn="t">
              <a:buNone/>
            </a:pPr>
            <a:r>
              <a:rPr lang="en-IN" b="0" dirty="0"/>
              <a:t>Following data preprocessing, </a:t>
            </a:r>
            <a:r>
              <a:rPr lang="en-IN" dirty="0"/>
              <a:t>Exploratory Data Analysis (EDA)</a:t>
            </a:r>
            <a:r>
              <a:rPr lang="en-IN" b="0" dirty="0"/>
              <a:t> is performed to understand the overall project condition and identify patterns within the dataset. This includes </a:t>
            </a:r>
            <a:r>
              <a:rPr lang="en-IN" b="0" dirty="0" err="1"/>
              <a:t>analyzing</a:t>
            </a:r>
            <a:r>
              <a:rPr lang="en-IN" b="0" dirty="0"/>
              <a:t> the total number of tasks, completed tasks, pending tasks, overdue tasks, task distribution by priority, and project-wise task progress. EDA helps in identifying potential bottlenecks, frequently delayed activities, and high-risk project areas. The insights obtained from this analysis serve as the foundation for </a:t>
            </a:r>
            <a:r>
              <a:rPr lang="en-IN" dirty="0"/>
              <a:t>project health assessment</a:t>
            </a:r>
            <a:r>
              <a:rPr lang="en-IN" b="0" dirty="0"/>
              <a:t>, </a:t>
            </a:r>
            <a:r>
              <a:rPr lang="en-IN" dirty="0"/>
              <a:t>risk detection</a:t>
            </a:r>
            <a:r>
              <a:rPr lang="en-IN" b="0" dirty="0"/>
              <a:t>, and </a:t>
            </a:r>
            <a:r>
              <a:rPr lang="en-IN" dirty="0"/>
              <a:t>AI-driven recommendation generation</a:t>
            </a:r>
            <a:r>
              <a:rPr lang="en-IN" b="0" dirty="0"/>
              <a:t> within the proposed system.</a:t>
            </a:r>
          </a:p>
          <a:p>
            <a:pPr marL="0" indent="0">
              <a:lnSpc>
                <a:spcPct val="150000"/>
              </a:lnSpc>
              <a:buNone/>
            </a:pPr>
            <a:endParaRPr lang="en-US" sz="2400" b="0" dirty="0">
              <a:solidFill>
                <a:srgbClr val="5583D1"/>
              </a:solidFill>
            </a:endParaRPr>
          </a:p>
        </p:txBody>
      </p:sp>
      <p:sp>
        <p:nvSpPr>
          <p:cNvPr id="3" name="TextBox 2">
            <a:extLst>
              <a:ext uri="{FF2B5EF4-FFF2-40B4-BE49-F238E27FC236}">
                <a16:creationId xmlns:a16="http://schemas.microsoft.com/office/drawing/2014/main" id="{D6739E3D-3465-C54A-5230-6C8681E5DCB5}"/>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Data preprocessing &amp; EDA</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….(Continuation)</a:t>
            </a:r>
          </a:p>
        </p:txBody>
      </p:sp>
      <p:cxnSp>
        <p:nvCxnSpPr>
          <p:cNvPr id="5" name="Straight Connector 4">
            <a:extLst>
              <a:ext uri="{FF2B5EF4-FFF2-40B4-BE49-F238E27FC236}">
                <a16:creationId xmlns:a16="http://schemas.microsoft.com/office/drawing/2014/main" id="{84666096-13C1-25C6-0E9C-FD250B6366CE}"/>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AE4184DA-CF5C-6696-F446-6D885762A6DE}"/>
              </a:ext>
            </a:extLst>
          </p:cNvPr>
          <p:cNvSpPr txBox="1"/>
          <p:nvPr/>
        </p:nvSpPr>
        <p:spPr>
          <a:xfrm>
            <a:off x="6093893" y="57036"/>
            <a:ext cx="6098107" cy="923330"/>
          </a:xfrm>
          <a:prstGeom prst="rect">
            <a:avLst/>
          </a:prstGeom>
          <a:noFill/>
        </p:spPr>
        <p:txBody>
          <a:bodyPr wrap="square" rtlCol="0">
            <a:spAutoFit/>
          </a:bodyPr>
          <a:lstStyle/>
          <a:p>
            <a:pPr algn="r">
              <a:defRPr/>
            </a:pPr>
            <a:r>
              <a:rPr lang="en-IN" dirty="0"/>
              <a:t>Agentic AI-Based Project Health and Risk Monitoring System for Automated Project Governance</a:t>
            </a:r>
            <a:endParaRPr lang="en-US" sz="3200" b="1" dirty="0">
              <a:latin typeface="Frutiger 45 bold"/>
              <a:cs typeface="Calibri" panose="020F0502020204030204" pitchFamily="34" charset="0"/>
            </a:endParaRPr>
          </a:p>
          <a:p>
            <a:pPr algn="r"/>
            <a:endParaRPr lang="en-US" dirty="0"/>
          </a:p>
        </p:txBody>
      </p:sp>
    </p:spTree>
    <p:extLst>
      <p:ext uri="{BB962C8B-B14F-4D97-AF65-F5344CB8AC3E}">
        <p14:creationId xmlns:p14="http://schemas.microsoft.com/office/powerpoint/2010/main" val="3558615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B07D8-4885-01A4-C1A3-1AF86EDD834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DB9EF82-4930-750B-A7B0-40EF99E4268E}"/>
              </a:ext>
            </a:extLst>
          </p:cNvPr>
          <p:cNvSpPr>
            <a:spLocks noGrp="1"/>
          </p:cNvSpPr>
          <p:nvPr>
            <p:ph type="body" sz="quarter" idx="13"/>
          </p:nvPr>
        </p:nvSpPr>
        <p:spPr>
          <a:xfrm>
            <a:off x="255996" y="1271219"/>
            <a:ext cx="10624338" cy="4142989"/>
          </a:xfrm>
        </p:spPr>
        <p:txBody>
          <a:bodyPr/>
          <a:lstStyle/>
          <a:p>
            <a:pPr fontAlgn="t">
              <a:buNone/>
            </a:pPr>
            <a:r>
              <a:rPr lang="en-IN" b="0" dirty="0"/>
              <a:t>The proposed </a:t>
            </a:r>
            <a:r>
              <a:rPr lang="en-IN" dirty="0"/>
              <a:t>Agentic AI-Based Project Health and Risk Monitoring System</a:t>
            </a:r>
            <a:r>
              <a:rPr lang="en-IN" b="0" dirty="0"/>
              <a:t> adopts a combination of </a:t>
            </a:r>
            <a:r>
              <a:rPr lang="en-IN" dirty="0"/>
              <a:t>rule-based analysis, Agentic AI, and workflow automation</a:t>
            </a:r>
            <a:r>
              <a:rPr lang="en-IN" b="0" dirty="0"/>
              <a:t> to automate project governance activities. Project data is collected from </a:t>
            </a:r>
            <a:r>
              <a:rPr lang="en-IN" dirty="0"/>
              <a:t>Microsoft Planner or an Excel-based Project Tracker</a:t>
            </a:r>
            <a:r>
              <a:rPr lang="en-IN" b="0" dirty="0"/>
              <a:t> and processed using </a:t>
            </a:r>
            <a:r>
              <a:rPr lang="en-IN" dirty="0"/>
              <a:t>Power Automate</a:t>
            </a:r>
            <a:r>
              <a:rPr lang="en-IN" b="0" dirty="0"/>
              <a:t> to monitor task status, priorities, and due dates. The system applies </a:t>
            </a:r>
            <a:r>
              <a:rPr lang="en-IN" dirty="0"/>
              <a:t>task delay detection</a:t>
            </a:r>
            <a:r>
              <a:rPr lang="en-IN" b="0" dirty="0"/>
              <a:t> and </a:t>
            </a:r>
            <a:r>
              <a:rPr lang="en-IN" dirty="0"/>
              <a:t>rule-based project health assessment</a:t>
            </a:r>
            <a:r>
              <a:rPr lang="en-IN" b="0" dirty="0"/>
              <a:t> techniques to classify projects as </a:t>
            </a:r>
            <a:r>
              <a:rPr lang="en-IN" dirty="0"/>
              <a:t>Green, Amber, or Red</a:t>
            </a:r>
            <a:r>
              <a:rPr lang="en-IN" b="0" dirty="0"/>
              <a:t> based on predefined criteria. A </a:t>
            </a:r>
            <a:r>
              <a:rPr lang="en-IN" dirty="0"/>
              <a:t>Microsoft Copilot Studio Agent</a:t>
            </a:r>
            <a:r>
              <a:rPr lang="en-IN" b="0" dirty="0"/>
              <a:t> then performs intelligent risk analysis, impact assessment, and recommendation generation to support decision-making.</a:t>
            </a:r>
          </a:p>
        </p:txBody>
      </p:sp>
      <p:sp>
        <p:nvSpPr>
          <p:cNvPr id="3" name="TextBox 2">
            <a:extLst>
              <a:ext uri="{FF2B5EF4-FFF2-40B4-BE49-F238E27FC236}">
                <a16:creationId xmlns:a16="http://schemas.microsoft.com/office/drawing/2014/main" id="{7655AA39-9120-8CAD-D722-EDFB9B92E88E}"/>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Approach/Algorithms/Tools</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a:t>
            </a:r>
          </a:p>
        </p:txBody>
      </p:sp>
      <p:cxnSp>
        <p:nvCxnSpPr>
          <p:cNvPr id="5" name="Straight Connector 4">
            <a:extLst>
              <a:ext uri="{FF2B5EF4-FFF2-40B4-BE49-F238E27FC236}">
                <a16:creationId xmlns:a16="http://schemas.microsoft.com/office/drawing/2014/main" id="{55E18C0A-901C-6BA4-0DF2-53A2287CB4FD}"/>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AF62B12A-4E27-AC98-9030-F6EE166835B5}"/>
              </a:ext>
            </a:extLst>
          </p:cNvPr>
          <p:cNvSpPr txBox="1"/>
          <p:nvPr/>
        </p:nvSpPr>
        <p:spPr>
          <a:xfrm>
            <a:off x="6093893" y="57036"/>
            <a:ext cx="6098107" cy="923330"/>
          </a:xfrm>
          <a:prstGeom prst="rect">
            <a:avLst/>
          </a:prstGeom>
          <a:noFill/>
        </p:spPr>
        <p:txBody>
          <a:bodyPr wrap="square" rtlCol="0">
            <a:spAutoFit/>
          </a:bodyPr>
          <a:lstStyle/>
          <a:p>
            <a:pPr algn="r">
              <a:defRPr/>
            </a:pPr>
            <a:r>
              <a:rPr lang="en-IN" dirty="0"/>
              <a:t>Agentic AI-Based Project Health and Risk Monitoring System for Automated Project Governance</a:t>
            </a:r>
            <a:endParaRPr lang="en-US" sz="3200" b="1" dirty="0">
              <a:latin typeface="Frutiger 45 bold"/>
              <a:cs typeface="Calibri" panose="020F0502020204030204" pitchFamily="34" charset="0"/>
            </a:endParaRPr>
          </a:p>
          <a:p>
            <a:pPr algn="r"/>
            <a:endParaRPr lang="en-US" dirty="0"/>
          </a:p>
        </p:txBody>
      </p:sp>
    </p:spTree>
    <p:extLst>
      <p:ext uri="{BB962C8B-B14F-4D97-AF65-F5344CB8AC3E}">
        <p14:creationId xmlns:p14="http://schemas.microsoft.com/office/powerpoint/2010/main" val="593750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F61C6-4000-254B-38E1-3BCD29BBFE8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A0212C0-58F4-0E65-DEF6-F00A25CA3C04}"/>
              </a:ext>
            </a:extLst>
          </p:cNvPr>
          <p:cNvSpPr>
            <a:spLocks noGrp="1"/>
          </p:cNvSpPr>
          <p:nvPr>
            <p:ph type="body" sz="quarter" idx="13"/>
          </p:nvPr>
        </p:nvSpPr>
        <p:spPr>
          <a:xfrm>
            <a:off x="255996" y="1271219"/>
            <a:ext cx="10624338" cy="4142989"/>
          </a:xfrm>
        </p:spPr>
        <p:txBody>
          <a:bodyPr/>
          <a:lstStyle/>
          <a:p>
            <a:pPr fontAlgn="t">
              <a:buNone/>
            </a:pPr>
            <a:r>
              <a:rPr lang="en-IN" b="0" dirty="0"/>
              <a:t>The proposed </a:t>
            </a:r>
            <a:r>
              <a:rPr lang="en-IN" dirty="0"/>
              <a:t>Agentic AI-Based Project Health and Risk Monitoring System</a:t>
            </a:r>
            <a:r>
              <a:rPr lang="en-IN" b="0" dirty="0"/>
              <a:t> adopts a combination of </a:t>
            </a:r>
            <a:r>
              <a:rPr lang="en-IN" dirty="0"/>
              <a:t>rule-based analysis, Agentic AI, and workflow automation</a:t>
            </a:r>
            <a:r>
              <a:rPr lang="en-IN" b="0" dirty="0"/>
              <a:t> to automate project governance activities. Project data is collected from </a:t>
            </a:r>
            <a:r>
              <a:rPr lang="en-IN" dirty="0"/>
              <a:t>Microsoft Planner or an Excel-based Project Tracker</a:t>
            </a:r>
            <a:r>
              <a:rPr lang="en-IN" b="0" dirty="0"/>
              <a:t> and processed using </a:t>
            </a:r>
            <a:r>
              <a:rPr lang="en-IN" dirty="0"/>
              <a:t>Power Automate</a:t>
            </a:r>
            <a:r>
              <a:rPr lang="en-IN" b="0" dirty="0"/>
              <a:t> to monitor task status, priorities, and due dates. The system applies </a:t>
            </a:r>
            <a:r>
              <a:rPr lang="en-IN" dirty="0"/>
              <a:t>task delay detection</a:t>
            </a:r>
            <a:r>
              <a:rPr lang="en-IN" b="0" dirty="0"/>
              <a:t> and </a:t>
            </a:r>
            <a:r>
              <a:rPr lang="en-IN" dirty="0"/>
              <a:t>rule-based project health assessment</a:t>
            </a:r>
            <a:r>
              <a:rPr lang="en-IN" b="0" dirty="0"/>
              <a:t> techniques to classify projects as </a:t>
            </a:r>
            <a:r>
              <a:rPr lang="en-IN" dirty="0"/>
              <a:t>Green, Amber, or Red</a:t>
            </a:r>
            <a:r>
              <a:rPr lang="en-IN" b="0" dirty="0"/>
              <a:t> based on predefined criteria. A </a:t>
            </a:r>
            <a:r>
              <a:rPr lang="en-IN" dirty="0"/>
              <a:t>Microsoft Copilot Studio Agent</a:t>
            </a:r>
            <a:r>
              <a:rPr lang="en-IN" b="0" dirty="0"/>
              <a:t> then performs intelligent risk analysis, impact assessment, and recommendation generation to support decision-making.</a:t>
            </a:r>
          </a:p>
        </p:txBody>
      </p:sp>
      <p:sp>
        <p:nvSpPr>
          <p:cNvPr id="3" name="TextBox 2">
            <a:extLst>
              <a:ext uri="{FF2B5EF4-FFF2-40B4-BE49-F238E27FC236}">
                <a16:creationId xmlns:a16="http://schemas.microsoft.com/office/drawing/2014/main" id="{E9038DDE-04BB-1D10-DC1E-8EEE71CEDACF}"/>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Approach/Algorithms/Tools</a:t>
            </a: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….(Continuation)</a:t>
            </a:r>
          </a:p>
        </p:txBody>
      </p:sp>
      <p:cxnSp>
        <p:nvCxnSpPr>
          <p:cNvPr id="5" name="Straight Connector 4">
            <a:extLst>
              <a:ext uri="{FF2B5EF4-FFF2-40B4-BE49-F238E27FC236}">
                <a16:creationId xmlns:a16="http://schemas.microsoft.com/office/drawing/2014/main" id="{B79A6AFA-682C-5D66-FEB4-35EBCF4E9A5D}"/>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D3347D61-CA43-95E9-656A-760B14D62BAC}"/>
              </a:ext>
            </a:extLst>
          </p:cNvPr>
          <p:cNvSpPr txBox="1"/>
          <p:nvPr/>
        </p:nvSpPr>
        <p:spPr>
          <a:xfrm>
            <a:off x="6093893" y="57036"/>
            <a:ext cx="6098107" cy="923330"/>
          </a:xfrm>
          <a:prstGeom prst="rect">
            <a:avLst/>
          </a:prstGeom>
          <a:noFill/>
        </p:spPr>
        <p:txBody>
          <a:bodyPr wrap="square" rtlCol="0">
            <a:spAutoFit/>
          </a:bodyPr>
          <a:lstStyle/>
          <a:p>
            <a:pPr algn="r">
              <a:defRPr/>
            </a:pPr>
            <a:r>
              <a:rPr lang="en-IN" dirty="0"/>
              <a:t>Agentic AI-Based Project Health and Risk Monitoring System for Automated Project Governance</a:t>
            </a:r>
            <a:endParaRPr lang="en-US" sz="3200" b="1" dirty="0">
              <a:latin typeface="Frutiger 45 bold"/>
              <a:cs typeface="Calibri" panose="020F0502020204030204" pitchFamily="34" charset="0"/>
            </a:endParaRPr>
          </a:p>
          <a:p>
            <a:pPr algn="r"/>
            <a:endParaRPr lang="en-US" dirty="0"/>
          </a:p>
        </p:txBody>
      </p:sp>
    </p:spTree>
    <p:extLst>
      <p:ext uri="{BB962C8B-B14F-4D97-AF65-F5344CB8AC3E}">
        <p14:creationId xmlns:p14="http://schemas.microsoft.com/office/powerpoint/2010/main" val="24525772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CC0C8-1056-2F2F-D479-A612F7303A5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BC25845-FDA0-609E-65B2-6593EC3020F2}"/>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Project plan/</a:t>
            </a:r>
            <a:r>
              <a:rPr lang="fr-FR" sz="3600" b="1" dirty="0" err="1">
                <a:solidFill>
                  <a:srgbClr val="5B9BD5">
                    <a:lumMod val="50000"/>
                  </a:srgbClr>
                </a:solidFill>
              </a:rPr>
              <a:t>milestones</a:t>
            </a:r>
            <a:r>
              <a:rPr lang="fr-FR" sz="3600" b="1" dirty="0">
                <a:solidFill>
                  <a:srgbClr val="5B9BD5">
                    <a:lumMod val="50000"/>
                  </a:srgbClr>
                </a:solidFill>
              </a:rPr>
              <a:t> </a:t>
            </a:r>
            <a:r>
              <a:rPr lang="fr-FR" sz="3600" b="1" dirty="0" err="1">
                <a:solidFill>
                  <a:srgbClr val="5B9BD5">
                    <a:lumMod val="50000"/>
                  </a:srgbClr>
                </a:solidFill>
              </a:rPr>
              <a:t>progress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D0542BF9-6616-37C0-D0DA-29347F6CF20A}"/>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104BB4EF-386D-0131-7F9E-30185D53FC77}"/>
              </a:ext>
            </a:extLst>
          </p:cNvPr>
          <p:cNvSpPr txBox="1"/>
          <p:nvPr/>
        </p:nvSpPr>
        <p:spPr>
          <a:xfrm>
            <a:off x="6093893" y="57036"/>
            <a:ext cx="6098107" cy="923330"/>
          </a:xfrm>
          <a:prstGeom prst="rect">
            <a:avLst/>
          </a:prstGeom>
          <a:noFill/>
        </p:spPr>
        <p:txBody>
          <a:bodyPr wrap="square" rtlCol="0">
            <a:spAutoFit/>
          </a:bodyPr>
          <a:lstStyle/>
          <a:p>
            <a:pPr algn="r">
              <a:defRPr/>
            </a:pPr>
            <a:r>
              <a:rPr lang="en-IN" dirty="0"/>
              <a:t>Agentic AI-Based Project Health and Risk Monitoring System for Automated Project Governance</a:t>
            </a:r>
            <a:endParaRPr lang="en-US" sz="3200" b="1" dirty="0">
              <a:latin typeface="Frutiger 45 bold"/>
              <a:cs typeface="Calibri" panose="020F0502020204030204" pitchFamily="34" charset="0"/>
            </a:endParaRPr>
          </a:p>
          <a:p>
            <a:pPr algn="r"/>
            <a:endParaRPr lang="en-US" dirty="0"/>
          </a:p>
        </p:txBody>
      </p:sp>
      <p:graphicFrame>
        <p:nvGraphicFramePr>
          <p:cNvPr id="8" name="Table 7">
            <a:extLst>
              <a:ext uri="{FF2B5EF4-FFF2-40B4-BE49-F238E27FC236}">
                <a16:creationId xmlns:a16="http://schemas.microsoft.com/office/drawing/2014/main" id="{66867885-0069-F76A-87DE-19FA4F62A48B}"/>
              </a:ext>
            </a:extLst>
          </p:cNvPr>
          <p:cNvGraphicFramePr>
            <a:graphicFrameLocks noGrp="1"/>
          </p:cNvGraphicFramePr>
          <p:nvPr>
            <p:extLst>
              <p:ext uri="{D42A27DB-BD31-4B8C-83A1-F6EECF244321}">
                <p14:modId xmlns:p14="http://schemas.microsoft.com/office/powerpoint/2010/main" val="1576314483"/>
              </p:ext>
            </p:extLst>
          </p:nvPr>
        </p:nvGraphicFramePr>
        <p:xfrm>
          <a:off x="677863" y="1577658"/>
          <a:ext cx="11004550" cy="4023360"/>
        </p:xfrm>
        <a:graphic>
          <a:graphicData uri="http://schemas.openxmlformats.org/drawingml/2006/table">
            <a:tbl>
              <a:tblPr>
                <a:tableStyleId>{5C22544A-7EE6-4342-B048-85BDC9FD1C3A}</a:tableStyleId>
              </a:tblPr>
              <a:tblGrid>
                <a:gridCol w="5502275">
                  <a:extLst>
                    <a:ext uri="{9D8B030D-6E8A-4147-A177-3AD203B41FA5}">
                      <a16:colId xmlns:a16="http://schemas.microsoft.com/office/drawing/2014/main" val="962001786"/>
                    </a:ext>
                  </a:extLst>
                </a:gridCol>
                <a:gridCol w="5502275">
                  <a:extLst>
                    <a:ext uri="{9D8B030D-6E8A-4147-A177-3AD203B41FA5}">
                      <a16:colId xmlns:a16="http://schemas.microsoft.com/office/drawing/2014/main" val="3440269381"/>
                    </a:ext>
                  </a:extLst>
                </a:gridCol>
              </a:tblGrid>
              <a:tr h="0">
                <a:tc>
                  <a:txBody>
                    <a:bodyPr/>
                    <a:lstStyle/>
                    <a:p>
                      <a:pPr>
                        <a:buNone/>
                      </a:pPr>
                      <a:r>
                        <a:rPr lang="en-IN"/>
                        <a:t>Milestone</a:t>
                      </a:r>
                    </a:p>
                  </a:txBody>
                  <a:tcPr anchor="ctr"/>
                </a:tc>
                <a:tc>
                  <a:txBody>
                    <a:bodyPr/>
                    <a:lstStyle/>
                    <a:p>
                      <a:pPr>
                        <a:buNone/>
                      </a:pPr>
                      <a:r>
                        <a:rPr lang="en-IN"/>
                        <a:t>Status</a:t>
                      </a:r>
                    </a:p>
                  </a:txBody>
                  <a:tcPr anchor="ctr"/>
                </a:tc>
                <a:extLst>
                  <a:ext uri="{0D108BD9-81ED-4DB2-BD59-A6C34878D82A}">
                    <a16:rowId xmlns:a16="http://schemas.microsoft.com/office/drawing/2014/main" val="1167021887"/>
                  </a:ext>
                </a:extLst>
              </a:tr>
              <a:tr h="0">
                <a:tc>
                  <a:txBody>
                    <a:bodyPr/>
                    <a:lstStyle/>
                    <a:p>
                      <a:pPr>
                        <a:buNone/>
                      </a:pPr>
                      <a:r>
                        <a:rPr lang="en-IN"/>
                        <a:t>Project Planning &amp; Requirement Analysis</a:t>
                      </a:r>
                    </a:p>
                  </a:txBody>
                  <a:tcPr anchor="ctr"/>
                </a:tc>
                <a:tc>
                  <a:txBody>
                    <a:bodyPr/>
                    <a:lstStyle/>
                    <a:p>
                      <a:pPr>
                        <a:buNone/>
                      </a:pPr>
                      <a:r>
                        <a:rPr lang="en-IN"/>
                        <a:t>✅ Completed</a:t>
                      </a:r>
                    </a:p>
                  </a:txBody>
                  <a:tcPr anchor="ctr"/>
                </a:tc>
                <a:extLst>
                  <a:ext uri="{0D108BD9-81ED-4DB2-BD59-A6C34878D82A}">
                    <a16:rowId xmlns:a16="http://schemas.microsoft.com/office/drawing/2014/main" val="2741396763"/>
                  </a:ext>
                </a:extLst>
              </a:tr>
              <a:tr h="0">
                <a:tc>
                  <a:txBody>
                    <a:bodyPr/>
                    <a:lstStyle/>
                    <a:p>
                      <a:pPr>
                        <a:buNone/>
                      </a:pPr>
                      <a:r>
                        <a:rPr lang="en-IN"/>
                        <a:t>Project Data Source Preparation (Planner/Excel)</a:t>
                      </a:r>
                    </a:p>
                  </a:txBody>
                  <a:tcPr anchor="ctr"/>
                </a:tc>
                <a:tc>
                  <a:txBody>
                    <a:bodyPr/>
                    <a:lstStyle/>
                    <a:p>
                      <a:pPr>
                        <a:buNone/>
                      </a:pPr>
                      <a:r>
                        <a:rPr lang="en-IN"/>
                        <a:t>✅ Completed</a:t>
                      </a:r>
                    </a:p>
                  </a:txBody>
                  <a:tcPr anchor="ctr"/>
                </a:tc>
                <a:extLst>
                  <a:ext uri="{0D108BD9-81ED-4DB2-BD59-A6C34878D82A}">
                    <a16:rowId xmlns:a16="http://schemas.microsoft.com/office/drawing/2014/main" val="3288387028"/>
                  </a:ext>
                </a:extLst>
              </a:tr>
              <a:tr h="0">
                <a:tc>
                  <a:txBody>
                    <a:bodyPr/>
                    <a:lstStyle/>
                    <a:p>
                      <a:pPr>
                        <a:buNone/>
                      </a:pPr>
                      <a:r>
                        <a:rPr lang="en-IN"/>
                        <a:t>Copilot Studio Agent Development</a:t>
                      </a:r>
                    </a:p>
                  </a:txBody>
                  <a:tcPr anchor="ctr"/>
                </a:tc>
                <a:tc>
                  <a:txBody>
                    <a:bodyPr/>
                    <a:lstStyle/>
                    <a:p>
                      <a:pPr>
                        <a:buNone/>
                      </a:pPr>
                      <a:r>
                        <a:rPr lang="en-IN"/>
                        <a:t>✅ Completed</a:t>
                      </a:r>
                    </a:p>
                  </a:txBody>
                  <a:tcPr anchor="ctr"/>
                </a:tc>
                <a:extLst>
                  <a:ext uri="{0D108BD9-81ED-4DB2-BD59-A6C34878D82A}">
                    <a16:rowId xmlns:a16="http://schemas.microsoft.com/office/drawing/2014/main" val="3142099074"/>
                  </a:ext>
                </a:extLst>
              </a:tr>
              <a:tr h="0">
                <a:tc>
                  <a:txBody>
                    <a:bodyPr/>
                    <a:lstStyle/>
                    <a:p>
                      <a:pPr>
                        <a:buNone/>
                      </a:pPr>
                      <a:r>
                        <a:rPr lang="en-IN"/>
                        <a:t>Power Automate Workflow Development</a:t>
                      </a:r>
                    </a:p>
                  </a:txBody>
                  <a:tcPr anchor="ctr"/>
                </a:tc>
                <a:tc>
                  <a:txBody>
                    <a:bodyPr/>
                    <a:lstStyle/>
                    <a:p>
                      <a:pPr>
                        <a:buNone/>
                      </a:pPr>
                      <a:r>
                        <a:rPr lang="en-IN"/>
                        <a:t>✅ Completed</a:t>
                      </a:r>
                    </a:p>
                  </a:txBody>
                  <a:tcPr anchor="ctr"/>
                </a:tc>
                <a:extLst>
                  <a:ext uri="{0D108BD9-81ED-4DB2-BD59-A6C34878D82A}">
                    <a16:rowId xmlns:a16="http://schemas.microsoft.com/office/drawing/2014/main" val="4054125870"/>
                  </a:ext>
                </a:extLst>
              </a:tr>
              <a:tr h="0">
                <a:tc>
                  <a:txBody>
                    <a:bodyPr/>
                    <a:lstStyle/>
                    <a:p>
                      <a:pPr>
                        <a:buNone/>
                      </a:pPr>
                      <a:r>
                        <a:rPr lang="en-IN"/>
                        <a:t>Project Health Assessment Implementation</a:t>
                      </a:r>
                    </a:p>
                  </a:txBody>
                  <a:tcPr anchor="ctr"/>
                </a:tc>
                <a:tc>
                  <a:txBody>
                    <a:bodyPr/>
                    <a:lstStyle/>
                    <a:p>
                      <a:pPr>
                        <a:buNone/>
                      </a:pPr>
                      <a:r>
                        <a:rPr lang="en-IN"/>
                        <a:t>✅ Completed</a:t>
                      </a:r>
                    </a:p>
                  </a:txBody>
                  <a:tcPr anchor="ctr"/>
                </a:tc>
                <a:extLst>
                  <a:ext uri="{0D108BD9-81ED-4DB2-BD59-A6C34878D82A}">
                    <a16:rowId xmlns:a16="http://schemas.microsoft.com/office/drawing/2014/main" val="3765336986"/>
                  </a:ext>
                </a:extLst>
              </a:tr>
              <a:tr h="0">
                <a:tc>
                  <a:txBody>
                    <a:bodyPr/>
                    <a:lstStyle/>
                    <a:p>
                      <a:pPr>
                        <a:buNone/>
                      </a:pPr>
                      <a:r>
                        <a:rPr lang="en-IN"/>
                        <a:t>Risk Detection &amp; AI Recommendation Generation</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 In Progress</a:t>
                      </a:r>
                    </a:p>
                  </a:txBody>
                  <a:tcPr anchor="ctr"/>
                </a:tc>
                <a:extLst>
                  <a:ext uri="{0D108BD9-81ED-4DB2-BD59-A6C34878D82A}">
                    <a16:rowId xmlns:a16="http://schemas.microsoft.com/office/drawing/2014/main" val="3924703766"/>
                  </a:ext>
                </a:extLst>
              </a:tr>
              <a:tr h="0">
                <a:tc>
                  <a:txBody>
                    <a:bodyPr/>
                    <a:lstStyle/>
                    <a:p>
                      <a:pPr>
                        <a:buNone/>
                      </a:pPr>
                      <a:r>
                        <a:rPr lang="en-IN"/>
                        <a:t>Reporting &amp; Notification Integration</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 In Progress</a:t>
                      </a:r>
                    </a:p>
                  </a:txBody>
                  <a:tcPr anchor="ctr"/>
                </a:tc>
                <a:extLst>
                  <a:ext uri="{0D108BD9-81ED-4DB2-BD59-A6C34878D82A}">
                    <a16:rowId xmlns:a16="http://schemas.microsoft.com/office/drawing/2014/main" val="379093170"/>
                  </a:ext>
                </a:extLst>
              </a:tr>
              <a:tr h="0">
                <a:tc>
                  <a:txBody>
                    <a:bodyPr/>
                    <a:lstStyle/>
                    <a:p>
                      <a:pPr>
                        <a:buNone/>
                      </a:pPr>
                      <a:r>
                        <a:rPr lang="en-IN"/>
                        <a:t>Escalation Management Implementation</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 In Progress</a:t>
                      </a:r>
                    </a:p>
                  </a:txBody>
                  <a:tcPr anchor="ctr"/>
                </a:tc>
                <a:extLst>
                  <a:ext uri="{0D108BD9-81ED-4DB2-BD59-A6C34878D82A}">
                    <a16:rowId xmlns:a16="http://schemas.microsoft.com/office/drawing/2014/main" val="1071560680"/>
                  </a:ext>
                </a:extLst>
              </a:tr>
              <a:tr h="0">
                <a:tc>
                  <a:txBody>
                    <a:bodyPr/>
                    <a:lstStyle/>
                    <a:p>
                      <a:pPr>
                        <a:buNone/>
                      </a:pPr>
                      <a:r>
                        <a:rPr lang="en-IN"/>
                        <a:t>Testing &amp; Validation</a:t>
                      </a:r>
                    </a:p>
                  </a:txBody>
                  <a:tcPr anchor="ctr"/>
                </a:tc>
                <a:tc>
                  <a:txBody>
                    <a:bodyPr/>
                    <a:lstStyle/>
                    <a:p>
                      <a:pPr>
                        <a:buNone/>
                      </a:pPr>
                      <a:r>
                        <a:rPr lang="en-IN" dirty="0"/>
                        <a:t>🔄 In Progress</a:t>
                      </a:r>
                    </a:p>
                  </a:txBody>
                  <a:tcPr anchor="ctr"/>
                </a:tc>
                <a:extLst>
                  <a:ext uri="{0D108BD9-81ED-4DB2-BD59-A6C34878D82A}">
                    <a16:rowId xmlns:a16="http://schemas.microsoft.com/office/drawing/2014/main" val="1965407836"/>
                  </a:ext>
                </a:extLst>
              </a:tr>
              <a:tr h="0">
                <a:tc>
                  <a:txBody>
                    <a:bodyPr/>
                    <a:lstStyle/>
                    <a:p>
                      <a:pPr>
                        <a:buNone/>
                      </a:pPr>
                      <a:r>
                        <a:rPr lang="en-IN"/>
                        <a:t>Documentation &amp; Final Presentation</a:t>
                      </a:r>
                    </a:p>
                  </a:txBody>
                  <a:tcPr anchor="ctr"/>
                </a:tc>
                <a:tc>
                  <a:txBody>
                    <a:bodyPr/>
                    <a:lstStyle/>
                    <a:p>
                      <a:pPr>
                        <a:buNone/>
                      </a:pPr>
                      <a:r>
                        <a:rPr lang="en-IN" dirty="0"/>
                        <a:t>🔄 In Progress</a:t>
                      </a:r>
                    </a:p>
                  </a:txBody>
                  <a:tcPr anchor="ctr"/>
                </a:tc>
                <a:extLst>
                  <a:ext uri="{0D108BD9-81ED-4DB2-BD59-A6C34878D82A}">
                    <a16:rowId xmlns:a16="http://schemas.microsoft.com/office/drawing/2014/main" val="1446534721"/>
                  </a:ext>
                </a:extLst>
              </a:tr>
            </a:tbl>
          </a:graphicData>
        </a:graphic>
      </p:graphicFrame>
    </p:spTree>
    <p:extLst>
      <p:ext uri="{BB962C8B-B14F-4D97-AF65-F5344CB8AC3E}">
        <p14:creationId xmlns:p14="http://schemas.microsoft.com/office/powerpoint/2010/main" val="38051072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B4A39-0C7D-BF1A-CAB6-AF85FF6057B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41E2666-43BA-0185-13CD-6D157DB23992}"/>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Pipeline structure</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84F2371B-723F-54E2-6C00-CEB450A1C50E}"/>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57AEB8F5-E665-6120-8BE4-448D4215129D}"/>
              </a:ext>
            </a:extLst>
          </p:cNvPr>
          <p:cNvSpPr txBox="1"/>
          <p:nvPr/>
        </p:nvSpPr>
        <p:spPr>
          <a:xfrm>
            <a:off x="6093893" y="57036"/>
            <a:ext cx="6098107" cy="646331"/>
          </a:xfrm>
          <a:prstGeom prst="rect">
            <a:avLst/>
          </a:prstGeom>
          <a:noFill/>
        </p:spPr>
        <p:txBody>
          <a:bodyPr wrap="square" rtlCol="0">
            <a:spAutoFit/>
          </a:bodyPr>
          <a:lstStyle/>
          <a:p>
            <a:pPr algn="r">
              <a:defRPr/>
            </a:pPr>
            <a:r>
              <a:rPr lang="en-IN" dirty="0"/>
              <a:t>Agentic AI-Based Project Health and Risk Monitoring System for Automated Project Governance</a:t>
            </a:r>
          </a:p>
        </p:txBody>
      </p:sp>
      <p:pic>
        <p:nvPicPr>
          <p:cNvPr id="9" name="Picture 8">
            <a:extLst>
              <a:ext uri="{FF2B5EF4-FFF2-40B4-BE49-F238E27FC236}">
                <a16:creationId xmlns:a16="http://schemas.microsoft.com/office/drawing/2014/main" id="{49D45FAE-428D-08FC-93ED-E9BC51337237}"/>
              </a:ext>
            </a:extLst>
          </p:cNvPr>
          <p:cNvPicPr>
            <a:picLocks noChangeAspect="1"/>
          </p:cNvPicPr>
          <p:nvPr/>
        </p:nvPicPr>
        <p:blipFill>
          <a:blip r:embed="rId2"/>
          <a:stretch>
            <a:fillRect/>
          </a:stretch>
        </p:blipFill>
        <p:spPr>
          <a:xfrm>
            <a:off x="1558976" y="1425874"/>
            <a:ext cx="10377027" cy="5034885"/>
          </a:xfrm>
          <a:prstGeom prst="rect">
            <a:avLst/>
          </a:prstGeom>
        </p:spPr>
      </p:pic>
    </p:spTree>
    <p:extLst>
      <p:ext uri="{BB962C8B-B14F-4D97-AF65-F5344CB8AC3E}">
        <p14:creationId xmlns:p14="http://schemas.microsoft.com/office/powerpoint/2010/main" val="4195440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516</TotalTime>
  <Words>2770</Words>
  <Application>Microsoft Office PowerPoint</Application>
  <PresentationFormat>Widescreen</PresentationFormat>
  <Paragraphs>200</Paragraphs>
  <Slides>26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Calibri (Body)</vt:lpstr>
      <vt:lpstr>Frutiger 45 bold</vt:lpstr>
      <vt:lpstr>Frutiger LT Pro 45 Light</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HARI PRASATH</dc:creator>
  <cp:lastModifiedBy>NoelJacob Biju</cp:lastModifiedBy>
  <cp:revision>12</cp:revision>
  <dcterms:created xsi:type="dcterms:W3CDTF">2024-05-13T10:33:11Z</dcterms:created>
  <dcterms:modified xsi:type="dcterms:W3CDTF">2026-09-24T05:07:30Z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c52bb50-aef2-4dc8-bb7f-e0da22648362_Enabled">
    <vt:lpwstr>true</vt:lpwstr>
  </property>
  <property fmtid="{D5CDD505-2E9C-101B-9397-08002B2CF9AE}" pid="3" name="MSIP_Label_ac52bb50-aef2-4dc8-bb7f-e0da22648362_SetDate">
    <vt:lpwstr>2025-08-25T08:11:33Z</vt:lpwstr>
  </property>
  <property fmtid="{D5CDD505-2E9C-101B-9397-08002B2CF9AE}" pid="4" name="MSIP_Label_ac52bb50-aef2-4dc8-bb7f-e0da22648362_Method">
    <vt:lpwstr>Standard</vt:lpwstr>
  </property>
  <property fmtid="{D5CDD505-2E9C-101B-9397-08002B2CF9AE}" pid="5" name="MSIP_Label_ac52bb50-aef2-4dc8-bb7f-e0da22648362_Name">
    <vt:lpwstr>ac52bb50-aef2-4dc8-bb7f-e0da22648362</vt:lpwstr>
  </property>
  <property fmtid="{D5CDD505-2E9C-101B-9397-08002B2CF9AE}" pid="6" name="MSIP_Label_ac52bb50-aef2-4dc8-bb7f-e0da22648362_SiteId">
    <vt:lpwstr>264b9899-fe1b-430b-9509-2154878d5774</vt:lpwstr>
  </property>
  <property fmtid="{D5CDD505-2E9C-101B-9397-08002B2CF9AE}" pid="7" name="MSIP_Label_ac52bb50-aef2-4dc8-bb7f-e0da22648362_ActionId">
    <vt:lpwstr>5a5317b9-6049-4f38-9ea6-5786aca62bc4</vt:lpwstr>
  </property>
  <property fmtid="{D5CDD505-2E9C-101B-9397-08002B2CF9AE}" pid="8" name="MSIP_Label_ac52bb50-aef2-4dc8-bb7f-e0da22648362_ContentBits">
    <vt:lpwstr>2</vt:lpwstr>
  </property>
  <property fmtid="{D5CDD505-2E9C-101B-9397-08002B2CF9AE}" pid="9" name="MSIP_Label_ac52bb50-aef2-4dc8-bb7f-e0da22648362_Tag">
    <vt:lpwstr>10, 3, 0, 1</vt:lpwstr>
  </property>
  <property fmtid="{D5CDD505-2E9C-101B-9397-08002B2CF9AE}" pid="10" name="ClassificationContentMarkingFooterLocations">
    <vt:lpwstr>1_Office Theme:8</vt:lpwstr>
  </property>
  <property fmtid="{D5CDD505-2E9C-101B-9397-08002B2CF9AE}" pid="11" name="ClassificationContentMarkingFooterText">
    <vt:lpwstr>Sensitivity: LNT Construction Internal Use</vt:lpwstr>
  </property>
</Properties>
</file>