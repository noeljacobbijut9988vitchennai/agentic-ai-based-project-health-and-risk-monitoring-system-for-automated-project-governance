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5" r:id="rId6"/>
    <p:sldId id="2147470496" r:id="rId7"/>
    <p:sldId id="2147470510" r:id="rId8"/>
    <p:sldId id="2147470508" r:id="rId9"/>
    <p:sldId id="2147470523" r:id="rId10"/>
    <p:sldId id="2147470497" r:id="rId11"/>
    <p:sldId id="2147470491" r:id="rId12"/>
    <p:sldId id="2147470487" r:id="rId13"/>
    <p:sldId id="2147470513" r:id="rId14"/>
    <p:sldId id="2147470522" r:id="rId15"/>
    <p:sldId id="2147470514" r:id="rId16"/>
    <p:sldId id="2147470515" r:id="rId17"/>
    <p:sldId id="2147470516" r:id="rId18"/>
    <p:sldId id="2147470517" r:id="rId19"/>
    <p:sldId id="2147470518" r:id="rId20"/>
    <p:sldId id="2147470503" r:id="rId21"/>
    <p:sldId id="2147470524" r:id="rId22"/>
    <p:sldId id="2147470519" r:id="rId23"/>
    <p:sldId id="2147470520" r:id="rId24"/>
    <p:sldId id="214747052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E81F00-80BD-4A41-B412-3D69BD5E26FF}" v="5" dt="2026-09-15T04:29:23.0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elJacob Biju" userId="81237e03-fe25-4856-a313-93d87126eb3a" providerId="ADAL" clId="{3C0E42A9-D743-4645-8796-E3215A5B31F9}"/>
    <pc:docChg chg="undo custSel addSld delSld modSld sldOrd">
      <pc:chgData name="NoelJacob Biju" userId="81237e03-fe25-4856-a313-93d87126eb3a" providerId="ADAL" clId="{3C0E42A9-D743-4645-8796-E3215A5B31F9}" dt="2026-09-15T04:30:03.636" v="681" actId="12385"/>
      <pc:docMkLst>
        <pc:docMk/>
      </pc:docMkLst>
      <pc:sldChg chg="delSp modSp mod ord">
        <pc:chgData name="NoelJacob Biju" userId="81237e03-fe25-4856-a313-93d87126eb3a" providerId="ADAL" clId="{3C0E42A9-D743-4645-8796-E3215A5B31F9}" dt="2026-09-11T06:04:40.062" v="528" actId="12385"/>
        <pc:sldMkLst>
          <pc:docMk/>
          <pc:sldMk cId="3377586287" sldId="2147470487"/>
        </pc:sldMkLst>
        <pc:graphicFrameChg chg="mod modGraphic">
          <ac:chgData name="NoelJacob Biju" userId="81237e03-fe25-4856-a313-93d87126eb3a" providerId="ADAL" clId="{3C0E42A9-D743-4645-8796-E3215A5B31F9}" dt="2026-09-11T06:04:40.062" v="528" actId="12385"/>
          <ac:graphicFrameMkLst>
            <pc:docMk/>
            <pc:sldMk cId="3377586287" sldId="2147470487"/>
            <ac:graphicFrameMk id="14" creationId="{0B09E795-FC4B-1C1A-15B7-0B4C3C819371}"/>
          </ac:graphicFrameMkLst>
        </pc:graphicFrameChg>
      </pc:sldChg>
      <pc:sldChg chg="addSp delSp modSp mod">
        <pc:chgData name="NoelJacob Biju" userId="81237e03-fe25-4856-a313-93d87126eb3a" providerId="ADAL" clId="{3C0E42A9-D743-4645-8796-E3215A5B31F9}" dt="2026-09-11T05:26:58.407" v="331" actId="14100"/>
        <pc:sldMkLst>
          <pc:docMk/>
          <pc:sldMk cId="3449507583" sldId="2147470489"/>
        </pc:sldMkLst>
        <pc:spChg chg="mod">
          <ac:chgData name="NoelJacob Biju" userId="81237e03-fe25-4856-a313-93d87126eb3a" providerId="ADAL" clId="{3C0E42A9-D743-4645-8796-E3215A5B31F9}" dt="2026-09-11T05:05:09.057" v="124" actId="20577"/>
          <ac:spMkLst>
            <pc:docMk/>
            <pc:sldMk cId="3449507583" sldId="2147470489"/>
            <ac:spMk id="4" creationId="{598A8852-79FE-2D69-0530-D7712358063B}"/>
          </ac:spMkLst>
        </pc:spChg>
        <pc:picChg chg="add mod">
          <ac:chgData name="NoelJacob Biju" userId="81237e03-fe25-4856-a313-93d87126eb3a" providerId="ADAL" clId="{3C0E42A9-D743-4645-8796-E3215A5B31F9}" dt="2026-09-11T05:26:58.407" v="331" actId="14100"/>
          <ac:picMkLst>
            <pc:docMk/>
            <pc:sldMk cId="3449507583" sldId="2147470489"/>
            <ac:picMk id="7" creationId="{784A3DBD-020C-1439-8D3F-2D6FD671465E}"/>
          </ac:picMkLst>
        </pc:picChg>
      </pc:sldChg>
      <pc:sldChg chg="delSp modSp mod modAnim">
        <pc:chgData name="NoelJacob Biju" userId="81237e03-fe25-4856-a313-93d87126eb3a" providerId="ADAL" clId="{3C0E42A9-D743-4645-8796-E3215A5B31F9}" dt="2026-09-11T05:22:19.131" v="299" actId="478"/>
        <pc:sldMkLst>
          <pc:docMk/>
          <pc:sldMk cId="1187364388" sldId="2147470491"/>
        </pc:sldMkLst>
        <pc:spChg chg="mod">
          <ac:chgData name="NoelJacob Biju" userId="81237e03-fe25-4856-a313-93d87126eb3a" providerId="ADAL" clId="{3C0E42A9-D743-4645-8796-E3215A5B31F9}" dt="2026-09-10T04:40:09.599" v="41" actId="14100"/>
          <ac:spMkLst>
            <pc:docMk/>
            <pc:sldMk cId="1187364388" sldId="2147470491"/>
            <ac:spMk id="2" creationId="{FF24291B-7EDA-4E3D-40F5-03FDC22C3364}"/>
          </ac:spMkLst>
        </pc:spChg>
      </pc:sldChg>
      <pc:sldChg chg="delSp mod">
        <pc:chgData name="NoelJacob Biju" userId="81237e03-fe25-4856-a313-93d87126eb3a" providerId="ADAL" clId="{3C0E42A9-D743-4645-8796-E3215A5B31F9}" dt="2026-09-11T05:21:28.380" v="279" actId="478"/>
        <pc:sldMkLst>
          <pc:docMk/>
          <pc:sldMk cId="2088180620" sldId="2147470492"/>
        </pc:sldMkLst>
      </pc:sldChg>
      <pc:sldChg chg="delSp mod">
        <pc:chgData name="NoelJacob Biju" userId="81237e03-fe25-4856-a313-93d87126eb3a" providerId="ADAL" clId="{3C0E42A9-D743-4645-8796-E3215A5B31F9}" dt="2026-09-11T05:21:33.924" v="281" actId="478"/>
        <pc:sldMkLst>
          <pc:docMk/>
          <pc:sldMk cId="1739450533" sldId="2147470493"/>
        </pc:sldMkLst>
      </pc:sldChg>
      <pc:sldChg chg="delSp mod">
        <pc:chgData name="NoelJacob Biju" userId="81237e03-fe25-4856-a313-93d87126eb3a" providerId="ADAL" clId="{3C0E42A9-D743-4645-8796-E3215A5B31F9}" dt="2026-09-11T05:21:38.326" v="283" actId="478"/>
        <pc:sldMkLst>
          <pc:docMk/>
          <pc:sldMk cId="2034681921" sldId="2147470494"/>
        </pc:sldMkLst>
      </pc:sldChg>
      <pc:sldChg chg="addSp delSp modSp mod">
        <pc:chgData name="NoelJacob Biju" userId="81237e03-fe25-4856-a313-93d87126eb3a" providerId="ADAL" clId="{3C0E42A9-D743-4645-8796-E3215A5B31F9}" dt="2026-09-11T06:03:23.303" v="526" actId="12385"/>
        <pc:sldMkLst>
          <pc:docMk/>
          <pc:sldMk cId="860765087" sldId="2147470495"/>
        </pc:sldMkLst>
        <pc:graphicFrameChg chg="add mod modGraphic">
          <ac:chgData name="NoelJacob Biju" userId="81237e03-fe25-4856-a313-93d87126eb3a" providerId="ADAL" clId="{3C0E42A9-D743-4645-8796-E3215A5B31F9}" dt="2026-09-11T06:03:23.303" v="526" actId="12385"/>
          <ac:graphicFrameMkLst>
            <pc:docMk/>
            <pc:sldMk cId="860765087" sldId="2147470495"/>
            <ac:graphicFrameMk id="9" creationId="{C840FD55-A228-E157-613E-EDF85F94639C}"/>
          </ac:graphicFrameMkLst>
        </pc:graphicFrameChg>
      </pc:sldChg>
      <pc:sldChg chg="delSp modSp mod modAnim">
        <pc:chgData name="NoelJacob Biju" userId="81237e03-fe25-4856-a313-93d87126eb3a" providerId="ADAL" clId="{3C0E42A9-D743-4645-8796-E3215A5B31F9}" dt="2026-09-11T08:25:40.573" v="659"/>
        <pc:sldMkLst>
          <pc:docMk/>
          <pc:sldMk cId="4084703370" sldId="2147470496"/>
        </pc:sldMkLst>
        <pc:spChg chg="mod">
          <ac:chgData name="NoelJacob Biju" userId="81237e03-fe25-4856-a313-93d87126eb3a" providerId="ADAL" clId="{3C0E42A9-D743-4645-8796-E3215A5B31F9}" dt="2026-09-11T08:25:39.570" v="658" actId="20577"/>
          <ac:spMkLst>
            <pc:docMk/>
            <pc:sldMk cId="4084703370" sldId="2147470496"/>
            <ac:spMk id="2" creationId="{A364AF3A-1BAA-BB19-865F-8604C4E3B859}"/>
          </ac:spMkLst>
        </pc:spChg>
      </pc:sldChg>
      <pc:sldChg chg="delSp mod">
        <pc:chgData name="NoelJacob Biju" userId="81237e03-fe25-4856-a313-93d87126eb3a" providerId="ADAL" clId="{3C0E42A9-D743-4645-8796-E3215A5B31F9}" dt="2026-09-11T05:22:14.824" v="297" actId="478"/>
        <pc:sldMkLst>
          <pc:docMk/>
          <pc:sldMk cId="679362563" sldId="2147470497"/>
        </pc:sldMkLst>
      </pc:sldChg>
      <pc:sldChg chg="addSp delSp modSp add mod">
        <pc:chgData name="NoelJacob Biju" userId="81237e03-fe25-4856-a313-93d87126eb3a" providerId="ADAL" clId="{3C0E42A9-D743-4645-8796-E3215A5B31F9}" dt="2026-09-15T04:12:16.241" v="669" actId="14100"/>
        <pc:sldMkLst>
          <pc:docMk/>
          <pc:sldMk cId="2898974988" sldId="2147470503"/>
        </pc:sldMkLst>
        <pc:graphicFrameChg chg="del modGraphic">
          <ac:chgData name="NoelJacob Biju" userId="81237e03-fe25-4856-a313-93d87126eb3a" providerId="ADAL" clId="{3C0E42A9-D743-4645-8796-E3215A5B31F9}" dt="2026-09-15T04:11:44.376" v="664" actId="21"/>
          <ac:graphicFrameMkLst>
            <pc:docMk/>
            <pc:sldMk cId="2898974988" sldId="2147470503"/>
            <ac:graphicFrameMk id="14" creationId="{B1D9C2B4-CF47-FB18-7D86-F0A21F9AC0F5}"/>
          </ac:graphicFrameMkLst>
        </pc:graphicFrameChg>
        <pc:picChg chg="add mod">
          <ac:chgData name="NoelJacob Biju" userId="81237e03-fe25-4856-a313-93d87126eb3a" providerId="ADAL" clId="{3C0E42A9-D743-4645-8796-E3215A5B31F9}" dt="2026-09-15T04:12:16.241" v="669" actId="14100"/>
          <ac:picMkLst>
            <pc:docMk/>
            <pc:sldMk cId="2898974988" sldId="2147470503"/>
            <ac:picMk id="6" creationId="{CF1BFA4F-DD38-69BB-93EC-4156E8F63384}"/>
          </ac:picMkLst>
        </pc:picChg>
      </pc:sldChg>
      <pc:sldChg chg="delSp mod">
        <pc:chgData name="NoelJacob Biju" userId="81237e03-fe25-4856-a313-93d87126eb3a" providerId="ADAL" clId="{3C0E42A9-D743-4645-8796-E3215A5B31F9}" dt="2026-09-11T05:21:58.745" v="291" actId="478"/>
        <pc:sldMkLst>
          <pc:docMk/>
          <pc:sldMk cId="2125341223" sldId="2147470508"/>
        </pc:sldMkLst>
      </pc:sldChg>
      <pc:sldChg chg="addSp delSp modSp add mod modAnim">
        <pc:chgData name="NoelJacob Biju" userId="81237e03-fe25-4856-a313-93d87126eb3a" providerId="ADAL" clId="{3C0E42A9-D743-4645-8796-E3215A5B31F9}" dt="2026-09-11T06:57:21.430" v="657" actId="14100"/>
        <pc:sldMkLst>
          <pc:docMk/>
          <pc:sldMk cId="1139426823" sldId="2147470510"/>
        </pc:sldMkLst>
        <pc:spChg chg="mod">
          <ac:chgData name="NoelJacob Biju" userId="81237e03-fe25-4856-a313-93d87126eb3a" providerId="ADAL" clId="{3C0E42A9-D743-4645-8796-E3215A5B31F9}" dt="2026-09-08T01:44:47.231" v="29" actId="20577"/>
          <ac:spMkLst>
            <pc:docMk/>
            <pc:sldMk cId="1139426823" sldId="2147470510"/>
            <ac:spMk id="3" creationId="{631B1B43-41B7-AF65-8931-B9B6F52D5EAF}"/>
          </ac:spMkLst>
        </pc:spChg>
        <pc:picChg chg="mod">
          <ac:chgData name="NoelJacob Biju" userId="81237e03-fe25-4856-a313-93d87126eb3a" providerId="ADAL" clId="{3C0E42A9-D743-4645-8796-E3215A5B31F9}" dt="2026-09-11T06:57:21.430" v="657" actId="14100"/>
          <ac:picMkLst>
            <pc:docMk/>
            <pc:sldMk cId="1139426823" sldId="2147470510"/>
            <ac:picMk id="10" creationId="{F725C8ED-AB08-B1ED-022A-FECDC715711E}"/>
          </ac:picMkLst>
        </pc:picChg>
      </pc:sldChg>
      <pc:sldChg chg="delSp modSp mod ord">
        <pc:chgData name="NoelJacob Biju" userId="81237e03-fe25-4856-a313-93d87126eb3a" providerId="ADAL" clId="{3C0E42A9-D743-4645-8796-E3215A5B31F9}" dt="2026-09-11T06:04:59.144" v="529" actId="12385"/>
        <pc:sldMkLst>
          <pc:docMk/>
          <pc:sldMk cId="1474804593" sldId="2147470513"/>
        </pc:sldMkLst>
        <pc:graphicFrameChg chg="modGraphic">
          <ac:chgData name="NoelJacob Biju" userId="81237e03-fe25-4856-a313-93d87126eb3a" providerId="ADAL" clId="{3C0E42A9-D743-4645-8796-E3215A5B31F9}" dt="2026-09-11T06:04:59.144" v="529" actId="12385"/>
          <ac:graphicFrameMkLst>
            <pc:docMk/>
            <pc:sldMk cId="1474804593" sldId="2147470513"/>
            <ac:graphicFrameMk id="14" creationId="{93FF7CC1-D5CC-BD38-3BD1-4210597F1D4B}"/>
          </ac:graphicFrameMkLst>
        </pc:graphicFrameChg>
      </pc:sldChg>
      <pc:sldChg chg="delSp modSp add mod modAnim">
        <pc:chgData name="NoelJacob Biju" userId="81237e03-fe25-4856-a313-93d87126eb3a" providerId="ADAL" clId="{3C0E42A9-D743-4645-8796-E3215A5B31F9}" dt="2026-09-15T04:26:13.996" v="670"/>
        <pc:sldMkLst>
          <pc:docMk/>
          <pc:sldMk cId="1230256459" sldId="2147470514"/>
        </pc:sldMkLst>
        <pc:spChg chg="mod">
          <ac:chgData name="NoelJacob Biju" userId="81237e03-fe25-4856-a313-93d87126eb3a" providerId="ADAL" clId="{3C0E42A9-D743-4645-8796-E3215A5B31F9}" dt="2026-09-11T08:40:03.701" v="661" actId="14100"/>
          <ac:spMkLst>
            <pc:docMk/>
            <pc:sldMk cId="1230256459" sldId="2147470514"/>
            <ac:spMk id="2" creationId="{67726612-73E0-5A94-F635-3A742DD5BA94}"/>
          </ac:spMkLst>
        </pc:spChg>
      </pc:sldChg>
      <pc:sldChg chg="delSp add mod">
        <pc:chgData name="NoelJacob Biju" userId="81237e03-fe25-4856-a313-93d87126eb3a" providerId="ADAL" clId="{3C0E42A9-D743-4645-8796-E3215A5B31F9}" dt="2026-09-11T05:22:45.264" v="308" actId="478"/>
        <pc:sldMkLst>
          <pc:docMk/>
          <pc:sldMk cId="2377563518" sldId="2147470515"/>
        </pc:sldMkLst>
      </pc:sldChg>
      <pc:sldChg chg="delSp modSp add mod modAnim">
        <pc:chgData name="NoelJacob Biju" userId="81237e03-fe25-4856-a313-93d87126eb3a" providerId="ADAL" clId="{3C0E42A9-D743-4645-8796-E3215A5B31F9}" dt="2026-09-15T04:27:15.842" v="673" actId="14100"/>
        <pc:sldMkLst>
          <pc:docMk/>
          <pc:sldMk cId="1593301952" sldId="2147470516"/>
        </pc:sldMkLst>
        <pc:spChg chg="mod">
          <ac:chgData name="NoelJacob Biju" userId="81237e03-fe25-4856-a313-93d87126eb3a" providerId="ADAL" clId="{3C0E42A9-D743-4645-8796-E3215A5B31F9}" dt="2026-09-15T04:27:15.842" v="673" actId="14100"/>
          <ac:spMkLst>
            <pc:docMk/>
            <pc:sldMk cId="1593301952" sldId="2147470516"/>
            <ac:spMk id="2" creationId="{D325C8EF-A5DD-AB22-0372-51B9ABE63526}"/>
          </ac:spMkLst>
        </pc:spChg>
      </pc:sldChg>
      <pc:sldChg chg="addSp delSp modSp add mod">
        <pc:chgData name="NoelJacob Biju" userId="81237e03-fe25-4856-a313-93d87126eb3a" providerId="ADAL" clId="{3C0E42A9-D743-4645-8796-E3215A5B31F9}" dt="2026-09-15T04:30:03.636" v="681" actId="12385"/>
        <pc:sldMkLst>
          <pc:docMk/>
          <pc:sldMk cId="80312399" sldId="2147470517"/>
        </pc:sldMkLst>
        <pc:graphicFrameChg chg="add del">
          <ac:chgData name="NoelJacob Biju" userId="81237e03-fe25-4856-a313-93d87126eb3a" providerId="ADAL" clId="{3C0E42A9-D743-4645-8796-E3215A5B31F9}" dt="2026-09-15T04:29:13.944" v="677" actId="22"/>
          <ac:graphicFrameMkLst>
            <pc:docMk/>
            <pc:sldMk cId="80312399" sldId="2147470517"/>
            <ac:graphicFrameMk id="6" creationId="{3E79B3F5-E636-B630-BFEC-D75E0AFC849C}"/>
          </ac:graphicFrameMkLst>
        </pc:graphicFrameChg>
        <pc:graphicFrameChg chg="add mod modGraphic">
          <ac:chgData name="NoelJacob Biju" userId="81237e03-fe25-4856-a313-93d87126eb3a" providerId="ADAL" clId="{3C0E42A9-D743-4645-8796-E3215A5B31F9}" dt="2026-09-15T04:30:03.636" v="681" actId="12385"/>
          <ac:graphicFrameMkLst>
            <pc:docMk/>
            <pc:sldMk cId="80312399" sldId="2147470517"/>
            <ac:graphicFrameMk id="7" creationId="{E65BC3C8-5DD5-7E05-0E86-C8F3D6130665}"/>
          </ac:graphicFrameMkLst>
        </pc:graphicFrameChg>
        <pc:graphicFrameChg chg="add del mod modGraphic">
          <ac:chgData name="NoelJacob Biju" userId="81237e03-fe25-4856-a313-93d87126eb3a" providerId="ADAL" clId="{3C0E42A9-D743-4645-8796-E3215A5B31F9}" dt="2026-09-15T04:29:07.258" v="675" actId="21"/>
          <ac:graphicFrameMkLst>
            <pc:docMk/>
            <pc:sldMk cId="80312399" sldId="2147470517"/>
            <ac:graphicFrameMk id="10" creationId="{80ACA848-EAF2-90A2-1364-16A1EA79080F}"/>
          </ac:graphicFrameMkLst>
        </pc:graphicFrameChg>
      </pc:sldChg>
      <pc:sldChg chg="delSp add mod modAnim">
        <pc:chgData name="NoelJacob Biju" userId="81237e03-fe25-4856-a313-93d87126eb3a" providerId="ADAL" clId="{3C0E42A9-D743-4645-8796-E3215A5B31F9}" dt="2026-09-15T04:28:27.623" v="674"/>
        <pc:sldMkLst>
          <pc:docMk/>
          <pc:sldMk cId="1753678502" sldId="2147470518"/>
        </pc:sldMkLst>
      </pc:sldChg>
      <pc:sldChg chg="delSp add mod">
        <pc:chgData name="NoelJacob Biju" userId="81237e03-fe25-4856-a313-93d87126eb3a" providerId="ADAL" clId="{3C0E42A9-D743-4645-8796-E3215A5B31F9}" dt="2026-09-11T05:23:13.788" v="320" actId="478"/>
        <pc:sldMkLst>
          <pc:docMk/>
          <pc:sldMk cId="135409340" sldId="2147470519"/>
        </pc:sldMkLst>
      </pc:sldChg>
      <pc:sldChg chg="delSp modSp add mod">
        <pc:chgData name="NoelJacob Biju" userId="81237e03-fe25-4856-a313-93d87126eb3a" providerId="ADAL" clId="{3C0E42A9-D743-4645-8796-E3215A5B31F9}" dt="2026-09-11T06:11:13.167" v="654" actId="12385"/>
        <pc:sldMkLst>
          <pc:docMk/>
          <pc:sldMk cId="551443544" sldId="2147470520"/>
        </pc:sldMkLst>
        <pc:graphicFrameChg chg="modGraphic">
          <ac:chgData name="NoelJacob Biju" userId="81237e03-fe25-4856-a313-93d87126eb3a" providerId="ADAL" clId="{3C0E42A9-D743-4645-8796-E3215A5B31F9}" dt="2026-09-11T06:11:13.167" v="654" actId="12385"/>
          <ac:graphicFrameMkLst>
            <pc:docMk/>
            <pc:sldMk cId="551443544" sldId="2147470520"/>
            <ac:graphicFrameMk id="7" creationId="{23C4719C-1196-8CBC-1B5B-2F0FBEB1E1BF}"/>
          </ac:graphicFrameMkLst>
        </pc:graphicFrameChg>
      </pc:sldChg>
      <pc:sldChg chg="delSp add mod">
        <pc:chgData name="NoelJacob Biju" userId="81237e03-fe25-4856-a313-93d87126eb3a" providerId="ADAL" clId="{3C0E42A9-D743-4645-8796-E3215A5B31F9}" dt="2026-09-11T05:23:23.413" v="324" actId="478"/>
        <pc:sldMkLst>
          <pc:docMk/>
          <pc:sldMk cId="3964333488" sldId="2147470521"/>
        </pc:sldMkLst>
      </pc:sldChg>
      <pc:sldChg chg="addSp delSp modSp add mod ord">
        <pc:chgData name="NoelJacob Biju" userId="81237e03-fe25-4856-a313-93d87126eb3a" providerId="ADAL" clId="{3C0E42A9-D743-4645-8796-E3215A5B31F9}" dt="2026-09-11T05:43:53.195" v="339" actId="1035"/>
        <pc:sldMkLst>
          <pc:docMk/>
          <pc:sldMk cId="1647689385" sldId="2147470522"/>
        </pc:sldMkLst>
        <pc:spChg chg="mod">
          <ac:chgData name="NoelJacob Biju" userId="81237e03-fe25-4856-a313-93d87126eb3a" providerId="ADAL" clId="{3C0E42A9-D743-4645-8796-E3215A5B31F9}" dt="2026-09-11T05:05:30.127" v="125"/>
          <ac:spMkLst>
            <pc:docMk/>
            <pc:sldMk cId="1647689385" sldId="2147470522"/>
            <ac:spMk id="4" creationId="{598A8852-79FE-2D69-0530-D7712358063B}"/>
          </ac:spMkLst>
        </pc:spChg>
        <pc:picChg chg="add mod">
          <ac:chgData name="NoelJacob Biju" userId="81237e03-fe25-4856-a313-93d87126eb3a" providerId="ADAL" clId="{3C0E42A9-D743-4645-8796-E3215A5B31F9}" dt="2026-09-11T05:43:53.195" v="339" actId="1035"/>
          <ac:picMkLst>
            <pc:docMk/>
            <pc:sldMk cId="1647689385" sldId="2147470522"/>
            <ac:picMk id="7" creationId="{217E9F01-5DFF-CDE1-D4A0-BC89ACD61CD9}"/>
          </ac:picMkLst>
        </pc:picChg>
      </pc:sldChg>
      <pc:sldChg chg="addSp delSp modSp add mod">
        <pc:chgData name="NoelJacob Biju" userId="81237e03-fe25-4856-a313-93d87126eb3a" providerId="ADAL" clId="{3C0E42A9-D743-4645-8796-E3215A5B31F9}" dt="2026-09-11T06:04:21.572" v="527" actId="12385"/>
        <pc:sldMkLst>
          <pc:docMk/>
          <pc:sldMk cId="540525292" sldId="2147470523"/>
        </pc:sldMkLst>
        <pc:spChg chg="mod">
          <ac:chgData name="NoelJacob Biju" userId="81237e03-fe25-4856-a313-93d87126eb3a" providerId="ADAL" clId="{3C0E42A9-D743-4645-8796-E3215A5B31F9}" dt="2026-09-11T05:18:39.503" v="200" actId="20577"/>
          <ac:spMkLst>
            <pc:docMk/>
            <pc:sldMk cId="540525292" sldId="2147470523"/>
            <ac:spMk id="3" creationId="{58930B9E-EDF7-29FF-7CFF-FC6D4BA8E3CB}"/>
          </ac:spMkLst>
        </pc:spChg>
        <pc:graphicFrameChg chg="add mod modGraphic">
          <ac:chgData name="NoelJacob Biju" userId="81237e03-fe25-4856-a313-93d87126eb3a" providerId="ADAL" clId="{3C0E42A9-D743-4645-8796-E3215A5B31F9}" dt="2026-09-11T06:04:21.572" v="527" actId="12385"/>
          <ac:graphicFrameMkLst>
            <pc:docMk/>
            <pc:sldMk cId="540525292" sldId="2147470523"/>
            <ac:graphicFrameMk id="7" creationId="{C0441204-243F-4A04-B7E6-AA435B86F19F}"/>
          </ac:graphicFrameMkLst>
        </pc:graphicFrameChg>
      </pc:sldChg>
      <pc:sldChg chg="addSp delSp modSp add mod">
        <pc:chgData name="NoelJacob Biju" userId="81237e03-fe25-4856-a313-93d87126eb3a" providerId="ADAL" clId="{3C0E42A9-D743-4645-8796-E3215A5B31F9}" dt="2026-09-11T06:10:55.974" v="653" actId="12385"/>
        <pc:sldMkLst>
          <pc:docMk/>
          <pc:sldMk cId="3542991593" sldId="2147470524"/>
        </pc:sldMkLst>
        <pc:spChg chg="mod">
          <ac:chgData name="NoelJacob Biju" userId="81237e03-fe25-4856-a313-93d87126eb3a" providerId="ADAL" clId="{3C0E42A9-D743-4645-8796-E3215A5B31F9}" dt="2026-09-11T05:20:41.016" v="276" actId="20577"/>
          <ac:spMkLst>
            <pc:docMk/>
            <pc:sldMk cId="3542991593" sldId="2147470524"/>
            <ac:spMk id="3" creationId="{9ED0F058-8992-7A5E-7BAB-E3A5AA4106E5}"/>
          </ac:spMkLst>
        </pc:spChg>
        <pc:graphicFrameChg chg="add mod modGraphic">
          <ac:chgData name="NoelJacob Biju" userId="81237e03-fe25-4856-a313-93d87126eb3a" providerId="ADAL" clId="{3C0E42A9-D743-4645-8796-E3215A5B31F9}" dt="2026-09-11T06:10:55.974" v="653" actId="12385"/>
          <ac:graphicFrameMkLst>
            <pc:docMk/>
            <pc:sldMk cId="3542991593" sldId="2147470524"/>
            <ac:graphicFrameMk id="2" creationId="{941380B2-AC23-F7D6-2C76-0CC162695706}"/>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170646"/>
          </a:xfrm>
          <a:prstGeom prst="rect">
            <a:avLst/>
          </a:prstGeom>
          <a:noFill/>
        </p:spPr>
        <p:txBody>
          <a:bodyPr wrap="square">
            <a:spAutoFit/>
          </a:bodyPr>
          <a:lstStyle/>
          <a:p>
            <a:pPr algn="ctr">
              <a:defRPr/>
            </a:pPr>
            <a:r>
              <a:rPr lang="en-IN" sz="3600" dirty="0">
                <a:solidFill>
                  <a:schemeClr val="bg1"/>
                </a:solidFill>
              </a:rPr>
              <a:t>Real-Time DevOps Incident Triage &amp; Auto-Remediation Agent</a:t>
            </a: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Noel Jacob Biju</a:t>
            </a:r>
          </a:p>
          <a:p>
            <a:pPr lvl="0" algn="ctr">
              <a:defRPr/>
            </a:pPr>
            <a:r>
              <a:rPr lang="en-US" sz="2400" b="1" dirty="0" err="1">
                <a:solidFill>
                  <a:prstClr val="white"/>
                </a:solidFill>
                <a:cs typeface="Calibri" panose="020F0502020204030204" pitchFamily="34" charset="0"/>
              </a:rPr>
              <a:t>M.Tech</a:t>
            </a:r>
            <a:r>
              <a:rPr lang="en-US" sz="2400" b="1" dirty="0">
                <a:solidFill>
                  <a:prstClr val="white"/>
                </a:solidFill>
                <a:cs typeface="Calibri" panose="020F0502020204030204" pitchFamily="34" charset="0"/>
              </a:rPr>
              <a:t> AI&amp;ML with </a:t>
            </a:r>
            <a:r>
              <a:rPr lang="en-US" sz="2400" b="1" dirty="0" err="1">
                <a:solidFill>
                  <a:prstClr val="white"/>
                </a:solidFill>
                <a:cs typeface="Calibri" panose="020F0502020204030204" pitchFamily="34" charset="0"/>
              </a:rPr>
              <a:t>LTiMindtree</a:t>
            </a:r>
            <a:endParaRPr lang="en-US" sz="24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VIT Chennai</a:t>
            </a:r>
          </a:p>
          <a:p>
            <a:pPr lvl="0" algn="ctr">
              <a:defRPr/>
            </a:pPr>
            <a:r>
              <a:rPr lang="en-US" sz="2400" b="1" dirty="0">
                <a:solidFill>
                  <a:prstClr val="white"/>
                </a:solidFill>
                <a:cs typeface="Calibri" panose="020F0502020204030204" pitchFamily="34" charset="0"/>
              </a:rPr>
              <a:t>T9988</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784A3DBD-020C-1439-8D3F-2D6FD671465E}"/>
              </a:ext>
            </a:extLst>
          </p:cNvPr>
          <p:cNvPicPr>
            <a:picLocks noChangeAspect="1"/>
          </p:cNvPicPr>
          <p:nvPr/>
        </p:nvPicPr>
        <p:blipFill>
          <a:blip r:embed="rId3"/>
          <a:stretch>
            <a:fillRect/>
          </a:stretch>
        </p:blipFill>
        <p:spPr>
          <a:xfrm>
            <a:off x="0" y="5852668"/>
            <a:ext cx="4407108" cy="1005332"/>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1586234" cy="4142989"/>
          </a:xfrm>
        </p:spPr>
        <p:txBody>
          <a:bodyPr/>
          <a:lstStyle/>
          <a:p>
            <a:pPr marL="0" indent="0">
              <a:buNone/>
            </a:pPr>
            <a:r>
              <a:rPr lang="en-IN" dirty="0">
                <a:latin typeface="+mn-lt"/>
              </a:rPr>
              <a:t>Agentic SRE Copilot</a:t>
            </a:r>
            <a:r>
              <a:rPr lang="en-IN" b="0" dirty="0">
                <a:latin typeface="+mn-lt"/>
              </a:rPr>
              <a:t> is an AI-powered multi-agent AIOps platform designed to automate incident management in cloud-native environments. It analyzes logs, metrics, and operational events to perform </a:t>
            </a:r>
            <a:r>
              <a:rPr lang="en-IN" dirty="0">
                <a:latin typeface="+mn-lt"/>
              </a:rPr>
              <a:t>incident triage, log analysis, metrics analysis, and Root Cause Analysis (RCA)</a:t>
            </a:r>
            <a:r>
              <a:rPr lang="en-IN" b="0" dirty="0">
                <a:latin typeface="+mn-lt"/>
              </a:rPr>
              <a:t>. The system uses </a:t>
            </a:r>
            <a:r>
              <a:rPr lang="en-IN" dirty="0">
                <a:latin typeface="+mn-lt"/>
              </a:rPr>
              <a:t>RAG-based runbook retrieval</a:t>
            </a:r>
            <a:r>
              <a:rPr lang="en-IN" b="0" dirty="0">
                <a:latin typeface="+mn-lt"/>
              </a:rPr>
              <a:t> to provide relevant remediation guidance and leverages </a:t>
            </a:r>
            <a:r>
              <a:rPr lang="en-IN" dirty="0">
                <a:latin typeface="+mn-lt"/>
              </a:rPr>
              <a:t>Groq LLMs</a:t>
            </a:r>
            <a:r>
              <a:rPr lang="en-IN" b="0" dirty="0">
                <a:latin typeface="+mn-lt"/>
              </a:rPr>
              <a:t> for intelligent decision-making. Built using </a:t>
            </a:r>
            <a:r>
              <a:rPr lang="en-IN" dirty="0">
                <a:latin typeface="+mn-lt"/>
              </a:rPr>
              <a:t>FastAPI</a:t>
            </a:r>
            <a:r>
              <a:rPr lang="en-IN" b="0" dirty="0">
                <a:latin typeface="+mn-lt"/>
              </a:rPr>
              <a:t>, it offers real-time API access for incident processing. Integration with </a:t>
            </a:r>
            <a:r>
              <a:rPr lang="en-IN" dirty="0">
                <a:latin typeface="+mn-lt"/>
              </a:rPr>
              <a:t>Kubernetes</a:t>
            </a:r>
            <a:r>
              <a:rPr lang="en-IN" b="0" dirty="0">
                <a:latin typeface="+mn-lt"/>
              </a:rPr>
              <a:t> enables automated recovery actions such as deployment restarts and scaling. By combining </a:t>
            </a:r>
            <a:r>
              <a:rPr lang="en-IN" dirty="0">
                <a:latin typeface="+mn-lt"/>
              </a:rPr>
              <a:t>AIOps, multi-agent architecture, RCA, RAG, and auto-remediation</a:t>
            </a:r>
            <a:r>
              <a:rPr lang="en-IN" b="0" dirty="0">
                <a:latin typeface="+mn-lt"/>
              </a:rPr>
              <a:t>, the platform reduces incident resolution time, improves operational efficiency, and enhances application reliability and availability.</a:t>
            </a:r>
          </a:p>
          <a:p>
            <a:pPr marL="0" indent="0">
              <a:lnSpc>
                <a:spcPct val="150000"/>
              </a:lnSpc>
              <a:buNone/>
            </a:pP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5" y="1271219"/>
            <a:ext cx="10881697" cy="4142989"/>
          </a:xfrm>
        </p:spPr>
        <p:txBody>
          <a:bodyPr/>
          <a:lstStyle/>
          <a:p>
            <a:pPr marL="0" indent="0">
              <a:buNone/>
            </a:pPr>
            <a:r>
              <a:rPr lang="en-IN" b="0" dirty="0">
                <a:latin typeface="+mn-lt"/>
              </a:rPr>
              <a:t>The primary objective of this project is to develop an </a:t>
            </a:r>
            <a:r>
              <a:rPr lang="en-IN" dirty="0">
                <a:latin typeface="+mn-lt"/>
              </a:rPr>
              <a:t>Agentic SRE Copilot</a:t>
            </a:r>
            <a:r>
              <a:rPr lang="en-IN" b="0" dirty="0">
                <a:latin typeface="+mn-lt"/>
              </a:rPr>
              <a:t>, an AI-powered multi-agent AIOps platform that automates incident management in cloud-native environments. The system aims to perform incident triage, log analysis, metrics analysis, and Root Cause Analysis (RCA) using observability data to rapidly identify and diagnose system failures. It further enhances incident response through RAG-based runbook retrieval and intelligent remediation planning, while leveraging Large Language Models (LLMs) for improved decision-making. Additionally, the project seeks to integrate Kubernetes-based auto-remediation capabilities to reduce Mean Time to Resolution (MTTR), improve operational efficiency, and enhance the reliability, availability, and resilience of modern applications.</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142989"/>
          </a:xfrm>
        </p:spPr>
        <p:txBody>
          <a:bodyPr/>
          <a:lstStyle/>
          <a:p>
            <a:pPr marL="0" indent="0">
              <a:buNone/>
            </a:pPr>
            <a:r>
              <a:rPr lang="en-IN" b="0" dirty="0">
                <a:latin typeface="+mn-lt"/>
              </a:rPr>
              <a:t>The </a:t>
            </a:r>
            <a:r>
              <a:rPr lang="en-IN" dirty="0">
                <a:latin typeface="+mn-lt"/>
              </a:rPr>
              <a:t>Agentic SRE Copilot</a:t>
            </a:r>
            <a:r>
              <a:rPr lang="en-IN" b="0" dirty="0">
                <a:latin typeface="+mn-lt"/>
              </a:rPr>
              <a:t> focuses on automating incident management for cloud-native applications using AI and AIOps techniques. It </a:t>
            </a:r>
            <a:r>
              <a:rPr lang="en-IN" b="0" dirty="0" err="1">
                <a:latin typeface="+mn-lt"/>
              </a:rPr>
              <a:t>analyzes</a:t>
            </a:r>
            <a:r>
              <a:rPr lang="en-IN" b="0" dirty="0">
                <a:latin typeface="+mn-lt"/>
              </a:rPr>
              <a:t> logs, metrics, and operational events to perform incident triage, log analysis, metrics analysis, and Root Cause Analysis (RCA). The system employs RAG-based runbook retrieval to provide relevant troubleshooting and remediation guidance. It also supports Kubernetes-based auto-remediation actions such as deployment restarts, pod recovery, and application scaling. By integrating multi-agent architecture, LLMs, and automation, the project aims to reduce downtime, improve incident response efficiency, and enhance the reliability and availability of modern software systems.</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4F4041-8131-3536-FDDF-513CA3ABA637}"/>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graphicFrame>
        <p:nvGraphicFramePr>
          <p:cNvPr id="9" name="Table 8">
            <a:extLst>
              <a:ext uri="{FF2B5EF4-FFF2-40B4-BE49-F238E27FC236}">
                <a16:creationId xmlns:a16="http://schemas.microsoft.com/office/drawing/2014/main" id="{C840FD55-A228-E157-613E-EDF85F94639C}"/>
              </a:ext>
            </a:extLst>
          </p:cNvPr>
          <p:cNvGraphicFramePr>
            <a:graphicFrameLocks noGrp="1"/>
          </p:cNvGraphicFramePr>
          <p:nvPr>
            <p:extLst>
              <p:ext uri="{D42A27DB-BD31-4B8C-83A1-F6EECF244321}">
                <p14:modId xmlns:p14="http://schemas.microsoft.com/office/powerpoint/2010/main" val="3241162400"/>
              </p:ext>
            </p:extLst>
          </p:nvPr>
        </p:nvGraphicFramePr>
        <p:xfrm>
          <a:off x="1262859" y="1425875"/>
          <a:ext cx="10624340" cy="5026919"/>
        </p:xfrm>
        <a:graphic>
          <a:graphicData uri="http://schemas.openxmlformats.org/drawingml/2006/table">
            <a:tbl>
              <a:tblPr firstRow="1" bandRow="1">
                <a:tableStyleId>{2D5ABB26-0587-4C30-8999-92F81FD0307C}</a:tableStyleId>
              </a:tblPr>
              <a:tblGrid>
                <a:gridCol w="2656085">
                  <a:extLst>
                    <a:ext uri="{9D8B030D-6E8A-4147-A177-3AD203B41FA5}">
                      <a16:colId xmlns:a16="http://schemas.microsoft.com/office/drawing/2014/main" val="3868225391"/>
                    </a:ext>
                  </a:extLst>
                </a:gridCol>
                <a:gridCol w="2656085">
                  <a:extLst>
                    <a:ext uri="{9D8B030D-6E8A-4147-A177-3AD203B41FA5}">
                      <a16:colId xmlns:a16="http://schemas.microsoft.com/office/drawing/2014/main" val="2387928490"/>
                    </a:ext>
                  </a:extLst>
                </a:gridCol>
                <a:gridCol w="2656085">
                  <a:extLst>
                    <a:ext uri="{9D8B030D-6E8A-4147-A177-3AD203B41FA5}">
                      <a16:colId xmlns:a16="http://schemas.microsoft.com/office/drawing/2014/main" val="4098063633"/>
                    </a:ext>
                  </a:extLst>
                </a:gridCol>
                <a:gridCol w="2656085">
                  <a:extLst>
                    <a:ext uri="{9D8B030D-6E8A-4147-A177-3AD203B41FA5}">
                      <a16:colId xmlns:a16="http://schemas.microsoft.com/office/drawing/2014/main" val="794006895"/>
                    </a:ext>
                  </a:extLst>
                </a:gridCol>
              </a:tblGrid>
              <a:tr h="345313">
                <a:tc>
                  <a:txBody>
                    <a:bodyPr/>
                    <a:lstStyle/>
                    <a:p>
                      <a:pPr fontAlgn="t">
                        <a:lnSpc>
                          <a:spcPct val="119048"/>
                        </a:lnSpc>
                        <a:buNone/>
                      </a:pPr>
                      <a:r>
                        <a:rPr lang="en-IN" sz="1400" b="0" dirty="0">
                          <a:effectLst/>
                        </a:rPr>
                        <a:t>Author(s)</a:t>
                      </a:r>
                      <a:endParaRPr lang="en-IN" sz="1400" b="0" i="0" dirty="0">
                        <a:effectLst/>
                        <a:latin typeface="+mn-lt"/>
                      </a:endParaRPr>
                    </a:p>
                  </a:txBody>
                  <a:tcPr/>
                </a:tc>
                <a:tc>
                  <a:txBody>
                    <a:bodyPr/>
                    <a:lstStyle/>
                    <a:p>
                      <a:r>
                        <a:rPr lang="en-GB" sz="1400" dirty="0"/>
                        <a:t>Research Paper</a:t>
                      </a:r>
                      <a:endParaRPr lang="en-IN" sz="1400" dirty="0">
                        <a:latin typeface="+mn-lt"/>
                      </a:endParaRPr>
                    </a:p>
                  </a:txBody>
                  <a:tcPr/>
                </a:tc>
                <a:tc>
                  <a:txBody>
                    <a:bodyPr/>
                    <a:lstStyle/>
                    <a:p>
                      <a:r>
                        <a:rPr lang="en-GB" sz="1400" dirty="0"/>
                        <a:t>Summary of Paper</a:t>
                      </a:r>
                      <a:endParaRPr lang="en-IN" sz="1400" dirty="0">
                        <a:latin typeface="+mn-lt"/>
                      </a:endParaRPr>
                    </a:p>
                  </a:txBody>
                  <a:tcPr/>
                </a:tc>
                <a:tc>
                  <a:txBody>
                    <a:bodyPr/>
                    <a:lstStyle/>
                    <a:p>
                      <a:pPr fontAlgn="t">
                        <a:lnSpc>
                          <a:spcPct val="119048"/>
                        </a:lnSpc>
                        <a:buNone/>
                      </a:pPr>
                      <a:r>
                        <a:rPr lang="en-IN" sz="1400" b="0" dirty="0">
                          <a:effectLst/>
                        </a:rPr>
                        <a:t>Existing Research Limitations</a:t>
                      </a:r>
                      <a:endParaRPr lang="en-IN" sz="1400" b="0" i="0" dirty="0">
                        <a:effectLst/>
                        <a:latin typeface="+mn-lt"/>
                      </a:endParaRPr>
                    </a:p>
                  </a:txBody>
                  <a:tcPr/>
                </a:tc>
                <a:extLst>
                  <a:ext uri="{0D108BD9-81ED-4DB2-BD59-A6C34878D82A}">
                    <a16:rowId xmlns:a16="http://schemas.microsoft.com/office/drawing/2014/main" val="3148997004"/>
                  </a:ext>
                </a:extLst>
              </a:tr>
              <a:tr h="1106933">
                <a:tc>
                  <a:txBody>
                    <a:bodyPr/>
                    <a:lstStyle/>
                    <a:p>
                      <a:pPr fontAlgn="t">
                        <a:lnSpc>
                          <a:spcPct val="119048"/>
                        </a:lnSpc>
                        <a:buNone/>
                      </a:pPr>
                      <a:r>
                        <a:rPr lang="en-IN" sz="1400" b="0" dirty="0">
                          <a:effectLst/>
                        </a:rPr>
                        <a:t>Patrick Lewis et al. (2020)</a:t>
                      </a:r>
                      <a:endParaRPr lang="en-IN" sz="1400" b="0" i="0" dirty="0">
                        <a:effectLst/>
                        <a:latin typeface="+mn-lt"/>
                      </a:endParaRPr>
                    </a:p>
                  </a:txBody>
                  <a:tcPr/>
                </a:tc>
                <a:tc>
                  <a:txBody>
                    <a:bodyPr/>
                    <a:lstStyle/>
                    <a:p>
                      <a:pPr fontAlgn="t">
                        <a:lnSpc>
                          <a:spcPct val="119048"/>
                        </a:lnSpc>
                        <a:buNone/>
                      </a:pPr>
                      <a:r>
                        <a:rPr lang="en-IN" sz="1400" b="0" dirty="0">
                          <a:effectLst/>
                        </a:rPr>
                        <a:t>Retrieval-Augmented Generation for Knowledge-Intensive NLP Tasks</a:t>
                      </a:r>
                      <a:endParaRPr lang="en-IN" sz="1400" b="0" i="0" dirty="0">
                        <a:effectLst/>
                        <a:latin typeface="+mn-lt"/>
                      </a:endParaRPr>
                    </a:p>
                  </a:txBody>
                  <a:tcPr/>
                </a:tc>
                <a:tc>
                  <a:txBody>
                    <a:bodyPr/>
                    <a:lstStyle/>
                    <a:p>
                      <a:pPr fontAlgn="t">
                        <a:lnSpc>
                          <a:spcPct val="119048"/>
                        </a:lnSpc>
                        <a:buNone/>
                      </a:pPr>
                      <a:r>
                        <a:rPr lang="en-IN" sz="1400" b="0" dirty="0">
                          <a:effectLst/>
                        </a:rPr>
                        <a:t>Introduced RAG to improve response quality by combining language models with external knowledge retrieval.</a:t>
                      </a:r>
                      <a:endParaRPr lang="en-IN" sz="1400" b="0" i="0" dirty="0">
                        <a:effectLst/>
                        <a:latin typeface="+mn-lt"/>
                      </a:endParaRPr>
                    </a:p>
                  </a:txBody>
                  <a:tcPr/>
                </a:tc>
                <a:tc>
                  <a:txBody>
                    <a:bodyPr/>
                    <a:lstStyle/>
                    <a:p>
                      <a:pPr fontAlgn="t">
                        <a:lnSpc>
                          <a:spcPct val="119048"/>
                        </a:lnSpc>
                        <a:buNone/>
                      </a:pPr>
                      <a:r>
                        <a:rPr lang="en-IN" sz="1400" b="0" dirty="0">
                          <a:effectLst/>
                        </a:rPr>
                        <a:t>Existing solutions focus on individual capabilities such as RAG, RCA, semantic retrieval, or Kubernetes self-healing.</a:t>
                      </a:r>
                      <a:endParaRPr lang="en-IN" sz="1400" b="0" i="0" dirty="0">
                        <a:effectLst/>
                        <a:latin typeface="+mn-lt"/>
                      </a:endParaRPr>
                    </a:p>
                  </a:txBody>
                  <a:tcPr/>
                </a:tc>
                <a:extLst>
                  <a:ext uri="{0D108BD9-81ED-4DB2-BD59-A6C34878D82A}">
                    <a16:rowId xmlns:a16="http://schemas.microsoft.com/office/drawing/2014/main" val="2474416893"/>
                  </a:ext>
                </a:extLst>
              </a:tr>
              <a:tr h="1106933">
                <a:tc>
                  <a:txBody>
                    <a:bodyPr/>
                    <a:lstStyle/>
                    <a:p>
                      <a:pPr fontAlgn="t">
                        <a:lnSpc>
                          <a:spcPct val="119048"/>
                        </a:lnSpc>
                        <a:buNone/>
                      </a:pPr>
                      <a:r>
                        <a:rPr lang="en-IN" sz="1400" b="0" dirty="0">
                          <a:effectLst/>
                        </a:rPr>
                        <a:t>Nils Reimers &amp; Iryna </a:t>
                      </a:r>
                      <a:r>
                        <a:rPr lang="en-IN" sz="1400" b="0" dirty="0" err="1">
                          <a:effectLst/>
                        </a:rPr>
                        <a:t>Gurevych</a:t>
                      </a:r>
                      <a:r>
                        <a:rPr lang="en-IN" sz="1400" b="0" dirty="0">
                          <a:effectLst/>
                        </a:rPr>
                        <a:t> (2019)</a:t>
                      </a:r>
                      <a:endParaRPr lang="en-IN" sz="1400" b="0" i="0" dirty="0">
                        <a:effectLst/>
                        <a:latin typeface="+mn-lt"/>
                      </a:endParaRPr>
                    </a:p>
                  </a:txBody>
                  <a:tcPr/>
                </a:tc>
                <a:tc>
                  <a:txBody>
                    <a:bodyPr/>
                    <a:lstStyle/>
                    <a:p>
                      <a:pPr fontAlgn="t">
                        <a:lnSpc>
                          <a:spcPct val="119048"/>
                        </a:lnSpc>
                        <a:buNone/>
                      </a:pPr>
                      <a:r>
                        <a:rPr lang="en-IN" sz="1400" b="0" dirty="0">
                          <a:effectLst/>
                        </a:rPr>
                        <a:t>Sentence-BERT: Sentence Embeddings using Siamese BERT-Networks</a:t>
                      </a:r>
                      <a:endParaRPr lang="en-IN" sz="1400" b="0" i="0" dirty="0">
                        <a:effectLst/>
                        <a:latin typeface="+mn-lt"/>
                      </a:endParaRPr>
                    </a:p>
                  </a:txBody>
                  <a:tcPr/>
                </a:tc>
                <a:tc>
                  <a:txBody>
                    <a:bodyPr/>
                    <a:lstStyle/>
                    <a:p>
                      <a:pPr fontAlgn="t">
                        <a:lnSpc>
                          <a:spcPct val="119048"/>
                        </a:lnSpc>
                        <a:buNone/>
                      </a:pPr>
                      <a:r>
                        <a:rPr lang="en-IN" sz="1400" b="0" dirty="0">
                          <a:effectLst/>
                        </a:rPr>
                        <a:t>Proposed Sentence-BERT for efficient semantic similarity search using sentence embeddings.</a:t>
                      </a:r>
                      <a:endParaRPr lang="en-IN" sz="1400" b="0" i="0" dirty="0">
                        <a:effectLst/>
                        <a:latin typeface="+mn-lt"/>
                      </a:endParaRPr>
                    </a:p>
                  </a:txBody>
                  <a:tcPr/>
                </a:tc>
                <a:tc>
                  <a:txBody>
                    <a:bodyPr/>
                    <a:lstStyle/>
                    <a:p>
                      <a:pPr fontAlgn="t">
                        <a:lnSpc>
                          <a:spcPct val="119048"/>
                        </a:lnSpc>
                        <a:buNone/>
                      </a:pPr>
                      <a:r>
                        <a:rPr lang="en-IN" sz="1400" b="0" dirty="0">
                          <a:effectLst/>
                        </a:rPr>
                        <a:t>Most systems do not provide end-to-end automation for incident detection, diagnosis, and recovery.</a:t>
                      </a:r>
                      <a:endParaRPr lang="en-IN" sz="1400" b="0" i="0" dirty="0">
                        <a:effectLst/>
                        <a:latin typeface="+mn-lt"/>
                      </a:endParaRPr>
                    </a:p>
                  </a:txBody>
                  <a:tcPr/>
                </a:tc>
                <a:extLst>
                  <a:ext uri="{0D108BD9-81ED-4DB2-BD59-A6C34878D82A}">
                    <a16:rowId xmlns:a16="http://schemas.microsoft.com/office/drawing/2014/main" val="2984520842"/>
                  </a:ext>
                </a:extLst>
              </a:tr>
              <a:tr h="1106933">
                <a:tc>
                  <a:txBody>
                    <a:bodyPr/>
                    <a:lstStyle/>
                    <a:p>
                      <a:pPr fontAlgn="t">
                        <a:lnSpc>
                          <a:spcPct val="119048"/>
                        </a:lnSpc>
                        <a:buNone/>
                      </a:pPr>
                      <a:r>
                        <a:rPr lang="en-IN" sz="1400" b="0" dirty="0">
                          <a:effectLst/>
                        </a:rPr>
                        <a:t>Tianyu Cui et al. (2025)</a:t>
                      </a:r>
                      <a:endParaRPr lang="en-IN" sz="1400" b="0" i="0" dirty="0">
                        <a:effectLst/>
                        <a:latin typeface="+mn-lt"/>
                      </a:endParaRPr>
                    </a:p>
                  </a:txBody>
                  <a:tcPr/>
                </a:tc>
                <a:tc>
                  <a:txBody>
                    <a:bodyPr/>
                    <a:lstStyle/>
                    <a:p>
                      <a:pPr fontAlgn="t">
                        <a:lnSpc>
                          <a:spcPct val="119048"/>
                        </a:lnSpc>
                        <a:buNone/>
                      </a:pPr>
                      <a:r>
                        <a:rPr lang="en-IN" sz="1400" b="0" dirty="0" err="1">
                          <a:effectLst/>
                        </a:rPr>
                        <a:t>AetherLog</a:t>
                      </a:r>
                      <a:r>
                        <a:rPr lang="en-IN" sz="1400" b="0" dirty="0">
                          <a:effectLst/>
                        </a:rPr>
                        <a:t>: Log-Based Root Cause Analysis by Integrating LLMs with Knowledge Graphs</a:t>
                      </a:r>
                      <a:endParaRPr lang="en-IN" sz="1400" b="0" i="0" dirty="0">
                        <a:effectLst/>
                        <a:latin typeface="+mn-lt"/>
                      </a:endParaRPr>
                    </a:p>
                  </a:txBody>
                  <a:tcPr/>
                </a:tc>
                <a:tc>
                  <a:txBody>
                    <a:bodyPr/>
                    <a:lstStyle/>
                    <a:p>
                      <a:pPr fontAlgn="t">
                        <a:lnSpc>
                          <a:spcPct val="119048"/>
                        </a:lnSpc>
                        <a:buNone/>
                      </a:pPr>
                      <a:r>
                        <a:rPr lang="en-IN" sz="1400" b="0" dirty="0">
                          <a:effectLst/>
                        </a:rPr>
                        <a:t>Improved root cause analysis accuracy by combining LLMs with knowledge graphs.</a:t>
                      </a:r>
                      <a:endParaRPr lang="en-IN" sz="1400" b="0" i="0" dirty="0">
                        <a:effectLst/>
                        <a:latin typeface="+mn-lt"/>
                      </a:endParaRPr>
                    </a:p>
                  </a:txBody>
                  <a:tcPr/>
                </a:tc>
                <a:tc>
                  <a:txBody>
                    <a:bodyPr/>
                    <a:lstStyle/>
                    <a:p>
                      <a:pPr fontAlgn="t">
                        <a:lnSpc>
                          <a:spcPct val="119048"/>
                        </a:lnSpc>
                        <a:buNone/>
                      </a:pPr>
                      <a:r>
                        <a:rPr lang="en-IN" sz="1400" b="0" dirty="0">
                          <a:effectLst/>
                        </a:rPr>
                        <a:t>Manual intervention is still required for troubleshooting and remediation in many incident management solutions.</a:t>
                      </a:r>
                      <a:endParaRPr lang="en-IN" sz="1400" b="0" i="0" dirty="0">
                        <a:effectLst/>
                        <a:latin typeface="+mn-lt"/>
                      </a:endParaRPr>
                    </a:p>
                  </a:txBody>
                  <a:tcPr/>
                </a:tc>
                <a:extLst>
                  <a:ext uri="{0D108BD9-81ED-4DB2-BD59-A6C34878D82A}">
                    <a16:rowId xmlns:a16="http://schemas.microsoft.com/office/drawing/2014/main" val="2400110331"/>
                  </a:ext>
                </a:extLst>
              </a:tr>
              <a:tr h="1360807">
                <a:tc>
                  <a:txBody>
                    <a:bodyPr/>
                    <a:lstStyle/>
                    <a:p>
                      <a:pPr fontAlgn="t">
                        <a:lnSpc>
                          <a:spcPct val="119048"/>
                        </a:lnSpc>
                        <a:buNone/>
                      </a:pPr>
                      <a:r>
                        <a:rPr lang="en-IN" sz="1400" b="0" dirty="0">
                          <a:effectLst/>
                        </a:rPr>
                        <a:t>Sebastian Schmidl (2019)</a:t>
                      </a:r>
                      <a:endParaRPr lang="en-IN" sz="1400" b="0" i="0" dirty="0">
                        <a:effectLst/>
                        <a:latin typeface="+mn-lt"/>
                      </a:endParaRPr>
                    </a:p>
                  </a:txBody>
                  <a:tcPr/>
                </a:tc>
                <a:tc>
                  <a:txBody>
                    <a:bodyPr/>
                    <a:lstStyle/>
                    <a:p>
                      <a:pPr fontAlgn="t">
                        <a:lnSpc>
                          <a:spcPct val="119048"/>
                        </a:lnSpc>
                        <a:buNone/>
                      </a:pPr>
                      <a:r>
                        <a:rPr lang="en-IN" sz="1400" b="0" dirty="0">
                          <a:effectLst/>
                        </a:rPr>
                        <a:t>Self-Healing Microservices with Kubernetes</a:t>
                      </a:r>
                      <a:endParaRPr lang="en-IN" sz="1400" b="0" i="0" dirty="0">
                        <a:effectLst/>
                        <a:latin typeface="+mn-lt"/>
                      </a:endParaRPr>
                    </a:p>
                  </a:txBody>
                  <a:tcPr/>
                </a:tc>
                <a:tc>
                  <a:txBody>
                    <a:bodyPr/>
                    <a:lstStyle/>
                    <a:p>
                      <a:pPr fontAlgn="t">
                        <a:lnSpc>
                          <a:spcPct val="119048"/>
                        </a:lnSpc>
                        <a:buNone/>
                      </a:pPr>
                      <a:r>
                        <a:rPr lang="en-IN" sz="1400" b="0" dirty="0">
                          <a:effectLst/>
                        </a:rPr>
                        <a:t>Demonstrated Kubernetes-based self-healing and automated recovery in microservice environments.</a:t>
                      </a:r>
                      <a:endParaRPr lang="en-IN" sz="1400" b="0" i="0" dirty="0">
                        <a:effectLst/>
                        <a:latin typeface="+mn-lt"/>
                      </a:endParaRPr>
                    </a:p>
                  </a:txBody>
                  <a:tcPr/>
                </a:tc>
                <a:tc>
                  <a:txBody>
                    <a:bodyPr/>
                    <a:lstStyle/>
                    <a:p>
                      <a:pPr fontAlgn="t">
                        <a:lnSpc>
                          <a:spcPct val="119048"/>
                        </a:lnSpc>
                        <a:buNone/>
                      </a:pPr>
                      <a:r>
                        <a:rPr lang="en-IN" sz="1400" b="0" dirty="0">
                          <a:effectLst/>
                        </a:rPr>
                        <a:t>Limited integration of AI reasoning, knowledge retrieval, and Kubernetes-based auto-remediation within a single platform.</a:t>
                      </a:r>
                      <a:endParaRPr lang="en-IN" sz="1400" b="0" i="0" dirty="0">
                        <a:effectLst/>
                        <a:latin typeface="+mn-lt"/>
                      </a:endParaRPr>
                    </a:p>
                  </a:txBody>
                  <a:tcPr/>
                </a:tc>
                <a:extLst>
                  <a:ext uri="{0D108BD9-81ED-4DB2-BD59-A6C34878D82A}">
                    <a16:rowId xmlns:a16="http://schemas.microsoft.com/office/drawing/2014/main" val="2814275510"/>
                  </a:ext>
                </a:extLst>
              </a:tr>
            </a:tbl>
          </a:graphicData>
        </a:graphic>
      </p:graphicFrame>
    </p:spTree>
    <p:extLst>
      <p:ext uri="{BB962C8B-B14F-4D97-AF65-F5344CB8AC3E}">
        <p14:creationId xmlns:p14="http://schemas.microsoft.com/office/powerpoint/2010/main" val="86076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AF3A-1BAA-BB19-865F-8604C4E3B859}"/>
              </a:ext>
            </a:extLst>
          </p:cNvPr>
          <p:cNvSpPr>
            <a:spLocks noGrp="1"/>
          </p:cNvSpPr>
          <p:nvPr>
            <p:ph type="body" sz="quarter" idx="13"/>
          </p:nvPr>
        </p:nvSpPr>
        <p:spPr>
          <a:xfrm>
            <a:off x="255996" y="1271219"/>
            <a:ext cx="10624338" cy="4142989"/>
          </a:xfrm>
        </p:spPr>
        <p:txBody>
          <a:bodyPr/>
          <a:lstStyle/>
          <a:p>
            <a:pPr marL="0" indent="0">
              <a:buNone/>
            </a:pPr>
            <a:r>
              <a:rPr lang="en-IN" b="0" dirty="0"/>
              <a:t>The literature review shows that significant research has been conducted in </a:t>
            </a:r>
            <a:r>
              <a:rPr lang="en-IN" dirty="0"/>
              <a:t>RAG, semantic embeddings, root cause analysis, and Kubernetes self-healing systems</a:t>
            </a:r>
            <a:r>
              <a:rPr lang="en-IN" b="0" dirty="0"/>
              <a:t>. Existing studies have improved knowledge retrieval, fault diagnosis, and automated recovery individually; however, they lack a unified platform that combines these capabilities. The </a:t>
            </a:r>
            <a:r>
              <a:rPr lang="en-IN" dirty="0"/>
              <a:t>Agentic SRE Copilot</a:t>
            </a:r>
            <a:r>
              <a:rPr lang="en-IN" b="0" dirty="0"/>
              <a:t> addresses this gap by integrating </a:t>
            </a:r>
            <a:r>
              <a:rPr lang="en-IN" dirty="0"/>
              <a:t>Multi-Agent AI, RAG, </a:t>
            </a:r>
            <a:r>
              <a:rPr lang="en-IN" dirty="0" err="1"/>
              <a:t>MiniLM</a:t>
            </a:r>
            <a:r>
              <a:rPr lang="en-IN" dirty="0"/>
              <a:t> embeddings, </a:t>
            </a:r>
            <a:r>
              <a:rPr lang="en-IN" dirty="0" err="1"/>
              <a:t>ChromaDB</a:t>
            </a:r>
            <a:r>
              <a:rPr lang="en-IN" dirty="0"/>
              <a:t>, LLM intelligence, and Kubernetes auto-remediation</a:t>
            </a:r>
            <a:r>
              <a:rPr lang="en-IN" b="0" dirty="0"/>
              <a:t> to provide end-to-end automated incident management, reduce MTTR, and enable self-healing cloud-native infrastructure.</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ADF6DB-6CFE-DDC5-997C-E84EE1A9470D}"/>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8041C-313A-C40B-FC93-17DD5FA533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1B1B43-41B7-AF65-8931-B9B6F52D5EA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Timeline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ADD2E5C8-E988-8CDD-8A21-4AB388994AD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4852A73-6716-5BA9-D45C-1158E33A3B15}"/>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pic>
        <p:nvPicPr>
          <p:cNvPr id="10" name="Picture 9">
            <a:extLst>
              <a:ext uri="{FF2B5EF4-FFF2-40B4-BE49-F238E27FC236}">
                <a16:creationId xmlns:a16="http://schemas.microsoft.com/office/drawing/2014/main" id="{F725C8ED-AB08-B1ED-022A-FECDC715711E}"/>
              </a:ext>
            </a:extLst>
          </p:cNvPr>
          <p:cNvPicPr>
            <a:picLocks noChangeAspect="1"/>
          </p:cNvPicPr>
          <p:nvPr/>
        </p:nvPicPr>
        <p:blipFill>
          <a:blip r:embed="rId2"/>
          <a:stretch>
            <a:fillRect/>
          </a:stretch>
        </p:blipFill>
        <p:spPr>
          <a:xfrm>
            <a:off x="221274" y="1234637"/>
            <a:ext cx="11767167" cy="4956296"/>
          </a:xfrm>
          <a:prstGeom prst="rect">
            <a:avLst/>
          </a:prstGeom>
        </p:spPr>
      </p:pic>
    </p:spTree>
    <p:extLst>
      <p:ext uri="{BB962C8B-B14F-4D97-AF65-F5344CB8AC3E}">
        <p14:creationId xmlns:p14="http://schemas.microsoft.com/office/powerpoint/2010/main" val="113942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3BE13-A669-2C9F-E6F7-3F52251319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A5C6E85-5347-B08D-0304-E774B13D3666}"/>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System Architecture and Workflow Overview</a:t>
            </a:r>
          </a:p>
        </p:txBody>
      </p:sp>
      <p:cxnSp>
        <p:nvCxnSpPr>
          <p:cNvPr id="5" name="Straight Connector 4">
            <a:extLst>
              <a:ext uri="{FF2B5EF4-FFF2-40B4-BE49-F238E27FC236}">
                <a16:creationId xmlns:a16="http://schemas.microsoft.com/office/drawing/2014/main" id="{49F1AEF7-FDD9-0F60-F5F2-EB1204935EA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B4D39A5-D59F-BAD5-DF1E-0E75143166DE}"/>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pic>
        <p:nvPicPr>
          <p:cNvPr id="9" name="Picture 8">
            <a:extLst>
              <a:ext uri="{FF2B5EF4-FFF2-40B4-BE49-F238E27FC236}">
                <a16:creationId xmlns:a16="http://schemas.microsoft.com/office/drawing/2014/main" id="{73F7C15C-1069-8F9B-C509-C07A3FAC17E4}"/>
              </a:ext>
            </a:extLst>
          </p:cNvPr>
          <p:cNvPicPr>
            <a:picLocks noChangeAspect="1"/>
          </p:cNvPicPr>
          <p:nvPr/>
        </p:nvPicPr>
        <p:blipFill>
          <a:blip r:embed="rId2"/>
          <a:stretch>
            <a:fillRect/>
          </a:stretch>
        </p:blipFill>
        <p:spPr>
          <a:xfrm>
            <a:off x="1424066" y="1234637"/>
            <a:ext cx="9770463" cy="5162545"/>
          </a:xfrm>
          <a:prstGeom prst="rect">
            <a:avLst/>
          </a:prstGeom>
        </p:spPr>
      </p:pic>
    </p:spTree>
    <p:extLst>
      <p:ext uri="{BB962C8B-B14F-4D97-AF65-F5344CB8AC3E}">
        <p14:creationId xmlns:p14="http://schemas.microsoft.com/office/powerpoint/2010/main" val="2125341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2594A-1BB0-D56A-22AA-24BCC73F45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930B9E-EDF7-29FF-7CFF-FC6D4BA8E3CB}"/>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Technology Stack</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B09851C-214E-626C-6AE2-F0353F0EEF7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73A4FF3-57EA-C45C-7D16-7D130FDEEA74}"/>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graphicFrame>
        <p:nvGraphicFramePr>
          <p:cNvPr id="7" name="Table 6">
            <a:extLst>
              <a:ext uri="{FF2B5EF4-FFF2-40B4-BE49-F238E27FC236}">
                <a16:creationId xmlns:a16="http://schemas.microsoft.com/office/drawing/2014/main" id="{C0441204-243F-4A04-B7E6-AA435B86F19F}"/>
              </a:ext>
            </a:extLst>
          </p:cNvPr>
          <p:cNvGraphicFramePr>
            <a:graphicFrameLocks noGrp="1"/>
          </p:cNvGraphicFramePr>
          <p:nvPr>
            <p:extLst>
              <p:ext uri="{D42A27DB-BD31-4B8C-83A1-F6EECF244321}">
                <p14:modId xmlns:p14="http://schemas.microsoft.com/office/powerpoint/2010/main" val="2514067465"/>
              </p:ext>
            </p:extLst>
          </p:nvPr>
        </p:nvGraphicFramePr>
        <p:xfrm>
          <a:off x="677863" y="1486218"/>
          <a:ext cx="11004549" cy="4602480"/>
        </p:xfrm>
        <a:graphic>
          <a:graphicData uri="http://schemas.openxmlformats.org/drawingml/2006/table">
            <a:tbl>
              <a:tblPr>
                <a:tableStyleId>{2D5ABB26-0587-4C30-8999-92F81FD0307C}</a:tableStyleId>
              </a:tblPr>
              <a:tblGrid>
                <a:gridCol w="3668183">
                  <a:extLst>
                    <a:ext uri="{9D8B030D-6E8A-4147-A177-3AD203B41FA5}">
                      <a16:colId xmlns:a16="http://schemas.microsoft.com/office/drawing/2014/main" val="3622895800"/>
                    </a:ext>
                  </a:extLst>
                </a:gridCol>
                <a:gridCol w="3668183">
                  <a:extLst>
                    <a:ext uri="{9D8B030D-6E8A-4147-A177-3AD203B41FA5}">
                      <a16:colId xmlns:a16="http://schemas.microsoft.com/office/drawing/2014/main" val="4106476772"/>
                    </a:ext>
                  </a:extLst>
                </a:gridCol>
                <a:gridCol w="3668183">
                  <a:extLst>
                    <a:ext uri="{9D8B030D-6E8A-4147-A177-3AD203B41FA5}">
                      <a16:colId xmlns:a16="http://schemas.microsoft.com/office/drawing/2014/main" val="3881674392"/>
                    </a:ext>
                  </a:extLst>
                </a:gridCol>
              </a:tblGrid>
              <a:tr h="0">
                <a:tc>
                  <a:txBody>
                    <a:bodyPr/>
                    <a:lstStyle/>
                    <a:p>
                      <a:pPr>
                        <a:buNone/>
                      </a:pPr>
                      <a:r>
                        <a:rPr lang="en-IN" sz="2000" dirty="0"/>
                        <a:t>Component</a:t>
                      </a:r>
                    </a:p>
                  </a:txBody>
                  <a:tcPr anchor="ctr"/>
                </a:tc>
                <a:tc>
                  <a:txBody>
                    <a:bodyPr/>
                    <a:lstStyle/>
                    <a:p>
                      <a:pPr>
                        <a:buNone/>
                      </a:pPr>
                      <a:r>
                        <a:rPr lang="en-IN" sz="2000"/>
                        <a:t>Technology</a:t>
                      </a:r>
                    </a:p>
                  </a:txBody>
                  <a:tcPr anchor="ctr"/>
                </a:tc>
                <a:tc>
                  <a:txBody>
                    <a:bodyPr/>
                    <a:lstStyle/>
                    <a:p>
                      <a:pPr>
                        <a:buNone/>
                      </a:pPr>
                      <a:r>
                        <a:rPr lang="en-IN" sz="2000"/>
                        <a:t>Purpose</a:t>
                      </a:r>
                    </a:p>
                  </a:txBody>
                  <a:tcPr anchor="ctr"/>
                </a:tc>
                <a:extLst>
                  <a:ext uri="{0D108BD9-81ED-4DB2-BD59-A6C34878D82A}">
                    <a16:rowId xmlns:a16="http://schemas.microsoft.com/office/drawing/2014/main" val="887706231"/>
                  </a:ext>
                </a:extLst>
              </a:tr>
              <a:tr h="0">
                <a:tc>
                  <a:txBody>
                    <a:bodyPr/>
                    <a:lstStyle/>
                    <a:p>
                      <a:pPr>
                        <a:buNone/>
                      </a:pPr>
                      <a:r>
                        <a:rPr lang="en-IN" sz="2000" dirty="0"/>
                        <a:t>Backend &amp; APIs</a:t>
                      </a:r>
                    </a:p>
                  </a:txBody>
                  <a:tcPr anchor="ctr"/>
                </a:tc>
                <a:tc>
                  <a:txBody>
                    <a:bodyPr/>
                    <a:lstStyle/>
                    <a:p>
                      <a:pPr>
                        <a:buNone/>
                      </a:pPr>
                      <a:r>
                        <a:rPr lang="en-IN" sz="2000"/>
                        <a:t>FastAPI, Swagger UI</a:t>
                      </a:r>
                    </a:p>
                  </a:txBody>
                  <a:tcPr anchor="ctr"/>
                </a:tc>
                <a:tc>
                  <a:txBody>
                    <a:bodyPr/>
                    <a:lstStyle/>
                    <a:p>
                      <a:pPr>
                        <a:buNone/>
                      </a:pPr>
                      <a:r>
                        <a:rPr lang="en-IN" sz="2000"/>
                        <a:t>API development, testing, and documentation</a:t>
                      </a:r>
                    </a:p>
                  </a:txBody>
                  <a:tcPr anchor="ctr"/>
                </a:tc>
                <a:extLst>
                  <a:ext uri="{0D108BD9-81ED-4DB2-BD59-A6C34878D82A}">
                    <a16:rowId xmlns:a16="http://schemas.microsoft.com/office/drawing/2014/main" val="4214316963"/>
                  </a:ext>
                </a:extLst>
              </a:tr>
              <a:tr h="0">
                <a:tc>
                  <a:txBody>
                    <a:bodyPr/>
                    <a:lstStyle/>
                    <a:p>
                      <a:pPr>
                        <a:buNone/>
                      </a:pPr>
                      <a:r>
                        <a:rPr lang="en-IN" sz="2000" dirty="0"/>
                        <a:t>AI &amp; Orchestration</a:t>
                      </a:r>
                    </a:p>
                  </a:txBody>
                  <a:tcPr anchor="ctr"/>
                </a:tc>
                <a:tc>
                  <a:txBody>
                    <a:bodyPr/>
                    <a:lstStyle/>
                    <a:p>
                      <a:pPr>
                        <a:buNone/>
                      </a:pPr>
                      <a:r>
                        <a:rPr lang="en-IN" sz="2000"/>
                        <a:t>LangChain, Groq LLM</a:t>
                      </a:r>
                    </a:p>
                  </a:txBody>
                  <a:tcPr anchor="ctr"/>
                </a:tc>
                <a:tc>
                  <a:txBody>
                    <a:bodyPr/>
                    <a:lstStyle/>
                    <a:p>
                      <a:pPr>
                        <a:buNone/>
                      </a:pPr>
                      <a:r>
                        <a:rPr lang="en-IN" sz="2000"/>
                        <a:t>Intelligent analysis and workflow management</a:t>
                      </a:r>
                    </a:p>
                  </a:txBody>
                  <a:tcPr anchor="ctr"/>
                </a:tc>
                <a:extLst>
                  <a:ext uri="{0D108BD9-81ED-4DB2-BD59-A6C34878D82A}">
                    <a16:rowId xmlns:a16="http://schemas.microsoft.com/office/drawing/2014/main" val="22648956"/>
                  </a:ext>
                </a:extLst>
              </a:tr>
              <a:tr h="0">
                <a:tc>
                  <a:txBody>
                    <a:bodyPr/>
                    <a:lstStyle/>
                    <a:p>
                      <a:pPr>
                        <a:buNone/>
                      </a:pPr>
                      <a:r>
                        <a:rPr lang="en-IN" sz="2000" dirty="0"/>
                        <a:t>Embeddings &amp; RAG</a:t>
                      </a:r>
                    </a:p>
                  </a:txBody>
                  <a:tcPr anchor="ctr"/>
                </a:tc>
                <a:tc>
                  <a:txBody>
                    <a:bodyPr/>
                    <a:lstStyle/>
                    <a:p>
                      <a:pPr>
                        <a:buNone/>
                      </a:pPr>
                      <a:r>
                        <a:rPr lang="en-IN" sz="2000"/>
                        <a:t>MiniLM, RAG</a:t>
                      </a:r>
                    </a:p>
                  </a:txBody>
                  <a:tcPr anchor="ctr"/>
                </a:tc>
                <a:tc>
                  <a:txBody>
                    <a:bodyPr/>
                    <a:lstStyle/>
                    <a:p>
                      <a:pPr>
                        <a:buNone/>
                      </a:pPr>
                      <a:r>
                        <a:rPr lang="en-IN" sz="2000"/>
                        <a:t>Semantic search and context-aware runbook retrieval</a:t>
                      </a:r>
                    </a:p>
                  </a:txBody>
                  <a:tcPr anchor="ctr"/>
                </a:tc>
                <a:extLst>
                  <a:ext uri="{0D108BD9-81ED-4DB2-BD59-A6C34878D82A}">
                    <a16:rowId xmlns:a16="http://schemas.microsoft.com/office/drawing/2014/main" val="1454515691"/>
                  </a:ext>
                </a:extLst>
              </a:tr>
              <a:tr h="0">
                <a:tc>
                  <a:txBody>
                    <a:bodyPr/>
                    <a:lstStyle/>
                    <a:p>
                      <a:pPr>
                        <a:buNone/>
                      </a:pPr>
                      <a:r>
                        <a:rPr lang="en-IN" sz="2000" dirty="0"/>
                        <a:t>Vector Database</a:t>
                      </a:r>
                    </a:p>
                  </a:txBody>
                  <a:tcPr anchor="ctr"/>
                </a:tc>
                <a:tc>
                  <a:txBody>
                    <a:bodyPr/>
                    <a:lstStyle/>
                    <a:p>
                      <a:pPr>
                        <a:buNone/>
                      </a:pPr>
                      <a:r>
                        <a:rPr lang="en-IN" sz="2000"/>
                        <a:t>ChromaDB</a:t>
                      </a:r>
                    </a:p>
                  </a:txBody>
                  <a:tcPr anchor="ctr"/>
                </a:tc>
                <a:tc>
                  <a:txBody>
                    <a:bodyPr/>
                    <a:lstStyle/>
                    <a:p>
                      <a:pPr>
                        <a:buNone/>
                      </a:pPr>
                      <a:r>
                        <a:rPr lang="en-IN" sz="2000"/>
                        <a:t>Storage and retrieval of runbook embeddings</a:t>
                      </a:r>
                    </a:p>
                  </a:txBody>
                  <a:tcPr anchor="ctr"/>
                </a:tc>
                <a:extLst>
                  <a:ext uri="{0D108BD9-81ED-4DB2-BD59-A6C34878D82A}">
                    <a16:rowId xmlns:a16="http://schemas.microsoft.com/office/drawing/2014/main" val="1907326076"/>
                  </a:ext>
                </a:extLst>
              </a:tr>
              <a:tr h="0">
                <a:tc>
                  <a:txBody>
                    <a:bodyPr/>
                    <a:lstStyle/>
                    <a:p>
                      <a:pPr>
                        <a:buNone/>
                      </a:pPr>
                      <a:r>
                        <a:rPr lang="en-IN" sz="2000" dirty="0"/>
                        <a:t>Container Orchestration</a:t>
                      </a:r>
                    </a:p>
                  </a:txBody>
                  <a:tcPr anchor="ctr"/>
                </a:tc>
                <a:tc>
                  <a:txBody>
                    <a:bodyPr/>
                    <a:lstStyle/>
                    <a:p>
                      <a:pPr>
                        <a:buNone/>
                      </a:pPr>
                      <a:r>
                        <a:rPr lang="en-IN" sz="2000"/>
                        <a:t>Kubernetes</a:t>
                      </a:r>
                    </a:p>
                  </a:txBody>
                  <a:tcPr anchor="ctr"/>
                </a:tc>
                <a:tc>
                  <a:txBody>
                    <a:bodyPr/>
                    <a:lstStyle/>
                    <a:p>
                      <a:pPr>
                        <a:buNone/>
                      </a:pPr>
                      <a:r>
                        <a:rPr lang="en-IN" sz="2000"/>
                        <a:t>Auto-remediation, scaling, and self-healing</a:t>
                      </a:r>
                    </a:p>
                  </a:txBody>
                  <a:tcPr anchor="ctr"/>
                </a:tc>
                <a:extLst>
                  <a:ext uri="{0D108BD9-81ED-4DB2-BD59-A6C34878D82A}">
                    <a16:rowId xmlns:a16="http://schemas.microsoft.com/office/drawing/2014/main" val="69050517"/>
                  </a:ext>
                </a:extLst>
              </a:tr>
              <a:tr h="0">
                <a:tc>
                  <a:txBody>
                    <a:bodyPr/>
                    <a:lstStyle/>
                    <a:p>
                      <a:pPr>
                        <a:buNone/>
                      </a:pPr>
                      <a:r>
                        <a:rPr lang="en-IN" sz="2000" dirty="0"/>
                        <a:t>Development &amp; Version Control</a:t>
                      </a:r>
                    </a:p>
                  </a:txBody>
                  <a:tcPr anchor="ctr"/>
                </a:tc>
                <a:tc>
                  <a:txBody>
                    <a:bodyPr/>
                    <a:lstStyle/>
                    <a:p>
                      <a:pPr>
                        <a:buNone/>
                      </a:pPr>
                      <a:r>
                        <a:rPr lang="en-IN" sz="2000" dirty="0"/>
                        <a:t>Python, Git, GitHub</a:t>
                      </a:r>
                    </a:p>
                  </a:txBody>
                  <a:tcPr anchor="ctr"/>
                </a:tc>
                <a:tc>
                  <a:txBody>
                    <a:bodyPr/>
                    <a:lstStyle/>
                    <a:p>
                      <a:pPr>
                        <a:buNone/>
                      </a:pPr>
                      <a:r>
                        <a:rPr lang="en-IN" sz="2000" dirty="0"/>
                        <a:t>Application development and source code management</a:t>
                      </a:r>
                    </a:p>
                  </a:txBody>
                  <a:tcPr anchor="ctr"/>
                </a:tc>
                <a:extLst>
                  <a:ext uri="{0D108BD9-81ED-4DB2-BD59-A6C34878D82A}">
                    <a16:rowId xmlns:a16="http://schemas.microsoft.com/office/drawing/2014/main" val="4179544830"/>
                  </a:ext>
                </a:extLst>
              </a:tr>
            </a:tbl>
          </a:graphicData>
        </a:graphic>
      </p:graphicFrame>
    </p:spTree>
    <p:extLst>
      <p:ext uri="{BB962C8B-B14F-4D97-AF65-F5344CB8AC3E}">
        <p14:creationId xmlns:p14="http://schemas.microsoft.com/office/powerpoint/2010/main" val="540525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marL="0" indent="0">
              <a:buNone/>
            </a:pPr>
            <a:r>
              <a:rPr lang="en-IN" b="0" dirty="0">
                <a:latin typeface="+mn-lt"/>
              </a:rPr>
              <a:t>The </a:t>
            </a:r>
            <a:r>
              <a:rPr lang="en-IN" dirty="0">
                <a:latin typeface="+mn-lt"/>
              </a:rPr>
              <a:t>Agentic SRE Copilot</a:t>
            </a:r>
            <a:r>
              <a:rPr lang="en-IN" b="0" dirty="0">
                <a:latin typeface="+mn-lt"/>
              </a:rPr>
              <a:t> is designed to automate incident management using a multi-agent AI architecture. It </a:t>
            </a:r>
            <a:r>
              <a:rPr lang="en-IN" b="0" dirty="0" err="1">
                <a:latin typeface="+mn-lt"/>
              </a:rPr>
              <a:t>analyzes</a:t>
            </a:r>
            <a:r>
              <a:rPr lang="en-IN" b="0" dirty="0">
                <a:latin typeface="+mn-lt"/>
              </a:rPr>
              <a:t> logs, metrics, and operational events to identify and diagnose system issues efficiently. The system performs </a:t>
            </a:r>
            <a:r>
              <a:rPr lang="en-IN" dirty="0">
                <a:latin typeface="+mn-lt"/>
              </a:rPr>
              <a:t>incident triage, Root Cause Analysis (RCA), and runbook retrieval</a:t>
            </a:r>
            <a:r>
              <a:rPr lang="en-IN" b="0" dirty="0">
                <a:latin typeface="+mn-lt"/>
              </a:rPr>
              <a:t> to support faster resolution of incidents. It leverages </a:t>
            </a:r>
            <a:r>
              <a:rPr lang="en-IN" dirty="0">
                <a:latin typeface="+mn-lt"/>
              </a:rPr>
              <a:t>Large Language Models (LLMs)</a:t>
            </a:r>
            <a:r>
              <a:rPr lang="en-IN" b="0" dirty="0">
                <a:latin typeface="+mn-lt"/>
              </a:rPr>
              <a:t> and </a:t>
            </a:r>
            <a:r>
              <a:rPr lang="en-IN" dirty="0">
                <a:latin typeface="+mn-lt"/>
              </a:rPr>
              <a:t>RAG-based knowledge retrieval</a:t>
            </a:r>
            <a:r>
              <a:rPr lang="en-IN" b="0" dirty="0">
                <a:latin typeface="+mn-lt"/>
              </a:rPr>
              <a:t> to provide intelligent remediation recommendations. Integration with </a:t>
            </a:r>
            <a:r>
              <a:rPr lang="en-IN" dirty="0">
                <a:latin typeface="+mn-lt"/>
              </a:rPr>
              <a:t>Kubernetes</a:t>
            </a:r>
            <a:r>
              <a:rPr lang="en-IN" b="0" dirty="0">
                <a:latin typeface="+mn-lt"/>
              </a:rPr>
              <a:t> enables automated recovery actions such as deployment restarts and scaling. By reducing manual effort and Mean Time to Resolution (MTTR), the solution improves operational efficiency, system reliability, and service availability.</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Additional Information</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5" y="1271219"/>
            <a:ext cx="11766115" cy="4142989"/>
          </a:xfrm>
        </p:spPr>
        <p:txBody>
          <a:bodyPr/>
          <a:lstStyle/>
          <a:p>
            <a:pPr marL="0" indent="0">
              <a:buNone/>
            </a:pPr>
            <a:r>
              <a:rPr lang="en-IN" b="0" dirty="0"/>
              <a:t>The </a:t>
            </a:r>
            <a:r>
              <a:rPr lang="en-IN" dirty="0"/>
              <a:t>Agentic SRE Copilot</a:t>
            </a:r>
            <a:r>
              <a:rPr lang="en-IN" b="0" dirty="0"/>
              <a:t> is an AI-powered platform that automates incident detection, analysis, and diagnosis in cloud-native environments. It intelligently processes incident data, </a:t>
            </a:r>
            <a:r>
              <a:rPr lang="en-IN" b="0" dirty="0" err="1"/>
              <a:t>analyzes</a:t>
            </a:r>
            <a:r>
              <a:rPr lang="en-IN" b="0" dirty="0"/>
              <a:t> logs and metrics, and identifies the most probable root cause of failures. This enables faster incident investigation and reduces manual troubleshooting efforts.</a:t>
            </a:r>
          </a:p>
          <a:p>
            <a:pPr marL="0" indent="0">
              <a:buNone/>
            </a:pPr>
            <a:r>
              <a:rPr lang="en-IN" b="0" dirty="0"/>
              <a:t>Using </a:t>
            </a:r>
            <a:r>
              <a:rPr lang="en-IN" dirty="0"/>
              <a:t>RAG-based runbook retrieval</a:t>
            </a:r>
            <a:r>
              <a:rPr lang="en-IN" b="0" dirty="0"/>
              <a:t> and </a:t>
            </a:r>
            <a:r>
              <a:rPr lang="en-IN" dirty="0"/>
              <a:t>LLM-powered intelligence</a:t>
            </a:r>
            <a:r>
              <a:rPr lang="en-IN" b="0" dirty="0"/>
              <a:t>, the system provides context-aware recovery recommendations for efficient incident resolution. It further enables automated remediation through Kubernetes by performing actions such as deployment restarts and scaling. This end-to-end automation reduces </a:t>
            </a:r>
            <a:r>
              <a:rPr lang="en-IN" dirty="0"/>
              <a:t>MTTR</a:t>
            </a:r>
            <a:r>
              <a:rPr lang="en-IN" b="0" dirty="0"/>
              <a:t>, improves service reliability, and supports self-healing infrastructure.</a:t>
            </a:r>
          </a:p>
          <a:p>
            <a:pPr marL="0" indent="0">
              <a:buNone/>
            </a:pPr>
            <a:endParaRPr lang="en-IN" b="0" dirty="0"/>
          </a:p>
          <a:p>
            <a:pPr marL="0" indent="0">
              <a:buNone/>
            </a:pPr>
            <a:endParaRPr lang="en-US" dirty="0">
              <a:solidFill>
                <a:srgbClr val="5583D1"/>
              </a:solidFill>
              <a:latin typeface="+mn-lt"/>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D4A0452-2CB8-E4C6-FAC7-ECD109C50CE1}"/>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b="1" i="1" dirty="0">
              <a:solidFill>
                <a:srgbClr val="FFFFFF"/>
              </a:solidFill>
            </a:endParaRPr>
          </a:p>
          <a:p>
            <a:pPr algn="r"/>
            <a:endParaRPr lang="en-US" dirty="0"/>
          </a:p>
        </p:txBody>
      </p:sp>
      <p:graphicFrame>
        <p:nvGraphicFramePr>
          <p:cNvPr id="14" name="Table 13">
            <a:extLst>
              <a:ext uri="{FF2B5EF4-FFF2-40B4-BE49-F238E27FC236}">
                <a16:creationId xmlns:a16="http://schemas.microsoft.com/office/drawing/2014/main" id="{0B09E795-FC4B-1C1A-15B7-0B4C3C819371}"/>
              </a:ext>
            </a:extLst>
          </p:cNvPr>
          <p:cNvGraphicFramePr>
            <a:graphicFrameLocks noGrp="1"/>
          </p:cNvGraphicFramePr>
          <p:nvPr>
            <p:extLst>
              <p:ext uri="{D42A27DB-BD31-4B8C-83A1-F6EECF244321}">
                <p14:modId xmlns:p14="http://schemas.microsoft.com/office/powerpoint/2010/main" val="2554988898"/>
              </p:ext>
            </p:extLst>
          </p:nvPr>
        </p:nvGraphicFramePr>
        <p:xfrm>
          <a:off x="1079292" y="1425875"/>
          <a:ext cx="10822898" cy="5063713"/>
        </p:xfrm>
        <a:graphic>
          <a:graphicData uri="http://schemas.openxmlformats.org/drawingml/2006/table">
            <a:tbl>
              <a:tblPr firstRow="1" bandRow="1">
                <a:tableStyleId>{2D5ABB26-0587-4C30-8999-92F81FD0307C}</a:tableStyleId>
              </a:tblPr>
              <a:tblGrid>
                <a:gridCol w="5411449">
                  <a:extLst>
                    <a:ext uri="{9D8B030D-6E8A-4147-A177-3AD203B41FA5}">
                      <a16:colId xmlns:a16="http://schemas.microsoft.com/office/drawing/2014/main" val="414448494"/>
                    </a:ext>
                  </a:extLst>
                </a:gridCol>
                <a:gridCol w="5411449">
                  <a:extLst>
                    <a:ext uri="{9D8B030D-6E8A-4147-A177-3AD203B41FA5}">
                      <a16:colId xmlns:a16="http://schemas.microsoft.com/office/drawing/2014/main" val="2280459702"/>
                    </a:ext>
                  </a:extLst>
                </a:gridCol>
              </a:tblGrid>
              <a:tr h="616681">
                <a:tc>
                  <a:txBody>
                    <a:bodyPr/>
                    <a:lstStyle/>
                    <a:p>
                      <a:pPr algn="ctr" fontAlgn="t">
                        <a:lnSpc>
                          <a:spcPct val="119048"/>
                        </a:lnSpc>
                        <a:buNone/>
                      </a:pPr>
                      <a:r>
                        <a:rPr lang="en-IN" sz="2800" b="1" dirty="0">
                          <a:effectLst/>
                        </a:rPr>
                        <a:t>Module</a:t>
                      </a:r>
                      <a:endParaRPr lang="en-IN" sz="2800" b="1" i="0" dirty="0">
                        <a:effectLst/>
                        <a:latin typeface="+mn-lt"/>
                      </a:endParaRPr>
                    </a:p>
                  </a:txBody>
                  <a:tcPr/>
                </a:tc>
                <a:tc>
                  <a:txBody>
                    <a:bodyPr/>
                    <a:lstStyle/>
                    <a:p>
                      <a:pPr algn="ctr" fontAlgn="t">
                        <a:lnSpc>
                          <a:spcPct val="119048"/>
                        </a:lnSpc>
                        <a:buNone/>
                      </a:pPr>
                      <a:r>
                        <a:rPr lang="en-IN" sz="2800" b="1" dirty="0">
                          <a:effectLst/>
                        </a:rPr>
                        <a:t>Description</a:t>
                      </a:r>
                      <a:endParaRPr lang="en-IN" sz="2800" b="1" i="0" dirty="0">
                        <a:effectLst/>
                        <a:latin typeface="+mn-lt"/>
                      </a:endParaRPr>
                    </a:p>
                  </a:txBody>
                  <a:tcPr/>
                </a:tc>
                <a:extLst>
                  <a:ext uri="{0D108BD9-81ED-4DB2-BD59-A6C34878D82A}">
                    <a16:rowId xmlns:a16="http://schemas.microsoft.com/office/drawing/2014/main" val="2669058199"/>
                  </a:ext>
                </a:extLst>
              </a:tr>
              <a:tr h="1025809">
                <a:tc>
                  <a:txBody>
                    <a:bodyPr/>
                    <a:lstStyle/>
                    <a:p>
                      <a:pPr fontAlgn="t">
                        <a:lnSpc>
                          <a:spcPct val="119048"/>
                        </a:lnSpc>
                        <a:buNone/>
                      </a:pPr>
                      <a:r>
                        <a:rPr lang="en-IN" sz="2000" b="0" dirty="0">
                          <a:effectLst/>
                        </a:rPr>
                        <a:t>Incident Ingestion Module</a:t>
                      </a:r>
                      <a:endParaRPr lang="en-IN" sz="2000" b="0" i="0" dirty="0">
                        <a:effectLst/>
                        <a:latin typeface="+mn-lt"/>
                      </a:endParaRPr>
                    </a:p>
                  </a:txBody>
                  <a:tcPr/>
                </a:tc>
                <a:tc>
                  <a:txBody>
                    <a:bodyPr/>
                    <a:lstStyle/>
                    <a:p>
                      <a:pPr fontAlgn="t">
                        <a:lnSpc>
                          <a:spcPct val="119048"/>
                        </a:lnSpc>
                        <a:buNone/>
                      </a:pPr>
                      <a:r>
                        <a:rPr lang="en-IN" sz="2000" b="0" dirty="0">
                          <a:effectLst/>
                        </a:rPr>
                        <a:t>Collects incident data, logs, metrics, and events from monitoring systems and initiates the workflow.</a:t>
                      </a:r>
                      <a:endParaRPr lang="en-IN" sz="2000" b="0" i="0" dirty="0">
                        <a:effectLst/>
                        <a:latin typeface="+mn-lt"/>
                      </a:endParaRPr>
                    </a:p>
                  </a:txBody>
                  <a:tcPr/>
                </a:tc>
                <a:extLst>
                  <a:ext uri="{0D108BD9-81ED-4DB2-BD59-A6C34878D82A}">
                    <a16:rowId xmlns:a16="http://schemas.microsoft.com/office/drawing/2014/main" val="2023324026"/>
                  </a:ext>
                </a:extLst>
              </a:tr>
              <a:tr h="710379">
                <a:tc>
                  <a:txBody>
                    <a:bodyPr/>
                    <a:lstStyle/>
                    <a:p>
                      <a:pPr fontAlgn="t">
                        <a:lnSpc>
                          <a:spcPct val="119048"/>
                        </a:lnSpc>
                        <a:buNone/>
                      </a:pPr>
                      <a:r>
                        <a:rPr lang="en-IN" sz="2000" b="0" dirty="0">
                          <a:effectLst/>
                        </a:rPr>
                        <a:t>Incident Triage Module</a:t>
                      </a:r>
                      <a:endParaRPr lang="en-IN" sz="2000" b="0" i="0" dirty="0">
                        <a:effectLst/>
                        <a:latin typeface="+mn-lt"/>
                      </a:endParaRPr>
                    </a:p>
                  </a:txBody>
                  <a:tcPr/>
                </a:tc>
                <a:tc>
                  <a:txBody>
                    <a:bodyPr/>
                    <a:lstStyle/>
                    <a:p>
                      <a:pPr fontAlgn="t">
                        <a:lnSpc>
                          <a:spcPct val="119048"/>
                        </a:lnSpc>
                        <a:buNone/>
                      </a:pPr>
                      <a:r>
                        <a:rPr lang="en-IN" sz="2000" b="0" dirty="0">
                          <a:effectLst/>
                        </a:rPr>
                        <a:t>Classifies incidents based on severity and priority to ensure timely response.</a:t>
                      </a:r>
                      <a:endParaRPr lang="en-IN" sz="2000" b="0" i="0" dirty="0">
                        <a:effectLst/>
                        <a:latin typeface="+mn-lt"/>
                      </a:endParaRPr>
                    </a:p>
                  </a:txBody>
                  <a:tcPr/>
                </a:tc>
                <a:extLst>
                  <a:ext uri="{0D108BD9-81ED-4DB2-BD59-A6C34878D82A}">
                    <a16:rowId xmlns:a16="http://schemas.microsoft.com/office/drawing/2014/main" val="4041507900"/>
                  </a:ext>
                </a:extLst>
              </a:tr>
              <a:tr h="710379">
                <a:tc>
                  <a:txBody>
                    <a:bodyPr/>
                    <a:lstStyle/>
                    <a:p>
                      <a:pPr fontAlgn="t">
                        <a:lnSpc>
                          <a:spcPct val="119048"/>
                        </a:lnSpc>
                        <a:buNone/>
                      </a:pPr>
                      <a:r>
                        <a:rPr lang="en-IN" sz="2000" b="0" dirty="0">
                          <a:effectLst/>
                        </a:rPr>
                        <a:t>Log Analysis Module</a:t>
                      </a:r>
                      <a:endParaRPr lang="en-IN" sz="2000" b="0" i="0" dirty="0">
                        <a:effectLst/>
                        <a:latin typeface="+mn-lt"/>
                      </a:endParaRPr>
                    </a:p>
                  </a:txBody>
                  <a:tcPr/>
                </a:tc>
                <a:tc>
                  <a:txBody>
                    <a:bodyPr/>
                    <a:lstStyle/>
                    <a:p>
                      <a:pPr fontAlgn="t">
                        <a:lnSpc>
                          <a:spcPct val="119048"/>
                        </a:lnSpc>
                        <a:buNone/>
                      </a:pPr>
                      <a:r>
                        <a:rPr lang="en-IN" sz="2000" b="0" dirty="0" err="1">
                          <a:effectLst/>
                        </a:rPr>
                        <a:t>Analyzes</a:t>
                      </a:r>
                      <a:r>
                        <a:rPr lang="en-IN" sz="2000" b="0" dirty="0">
                          <a:effectLst/>
                        </a:rPr>
                        <a:t> application and system logs to identify errors, exceptions, and failure patterns.</a:t>
                      </a:r>
                      <a:endParaRPr lang="en-IN" sz="2000" b="0" i="0" dirty="0">
                        <a:effectLst/>
                        <a:latin typeface="+mn-lt"/>
                      </a:endParaRPr>
                    </a:p>
                  </a:txBody>
                  <a:tcPr/>
                </a:tc>
                <a:extLst>
                  <a:ext uri="{0D108BD9-81ED-4DB2-BD59-A6C34878D82A}">
                    <a16:rowId xmlns:a16="http://schemas.microsoft.com/office/drawing/2014/main" val="1786461923"/>
                  </a:ext>
                </a:extLst>
              </a:tr>
              <a:tr h="710379">
                <a:tc>
                  <a:txBody>
                    <a:bodyPr/>
                    <a:lstStyle/>
                    <a:p>
                      <a:pPr fontAlgn="t">
                        <a:lnSpc>
                          <a:spcPct val="119048"/>
                        </a:lnSpc>
                        <a:buNone/>
                      </a:pPr>
                      <a:r>
                        <a:rPr lang="en-IN" sz="2000" b="0" dirty="0">
                          <a:effectLst/>
                        </a:rPr>
                        <a:t>Metrics Analysis Module</a:t>
                      </a:r>
                      <a:endParaRPr lang="en-IN" sz="2000" b="0" i="0" dirty="0">
                        <a:effectLst/>
                        <a:latin typeface="+mn-lt"/>
                      </a:endParaRPr>
                    </a:p>
                  </a:txBody>
                  <a:tcPr/>
                </a:tc>
                <a:tc>
                  <a:txBody>
                    <a:bodyPr/>
                    <a:lstStyle/>
                    <a:p>
                      <a:pPr fontAlgn="t">
                        <a:lnSpc>
                          <a:spcPct val="119048"/>
                        </a:lnSpc>
                        <a:buNone/>
                      </a:pPr>
                      <a:r>
                        <a:rPr lang="en-IN" sz="2000" b="0" dirty="0">
                          <a:effectLst/>
                        </a:rPr>
                        <a:t>Monitors latency, response time, and resource utilization to detect performance issues.</a:t>
                      </a:r>
                      <a:endParaRPr lang="en-IN" sz="2000" b="0" i="0" dirty="0">
                        <a:effectLst/>
                        <a:latin typeface="+mn-lt"/>
                      </a:endParaRPr>
                    </a:p>
                  </a:txBody>
                  <a:tcPr/>
                </a:tc>
                <a:extLst>
                  <a:ext uri="{0D108BD9-81ED-4DB2-BD59-A6C34878D82A}">
                    <a16:rowId xmlns:a16="http://schemas.microsoft.com/office/drawing/2014/main" val="4064707286"/>
                  </a:ext>
                </a:extLst>
              </a:tr>
              <a:tr h="616681">
                <a:tc>
                  <a:txBody>
                    <a:bodyPr/>
                    <a:lstStyle/>
                    <a:p>
                      <a:pPr fontAlgn="t">
                        <a:lnSpc>
                          <a:spcPct val="119048"/>
                        </a:lnSpc>
                        <a:buNone/>
                      </a:pPr>
                      <a:r>
                        <a:rPr lang="en-IN" sz="2000" b="0" dirty="0">
                          <a:effectLst/>
                        </a:rPr>
                        <a:t>Root Cause Analysis (RCA) Module</a:t>
                      </a:r>
                      <a:endParaRPr lang="en-IN" sz="2000" b="0" i="0" dirty="0">
                        <a:effectLst/>
                        <a:latin typeface="+mn-lt"/>
                      </a:endParaRPr>
                    </a:p>
                  </a:txBody>
                  <a:tcPr/>
                </a:tc>
                <a:tc>
                  <a:txBody>
                    <a:bodyPr/>
                    <a:lstStyle/>
                    <a:p>
                      <a:pPr fontAlgn="t">
                        <a:lnSpc>
                          <a:spcPct val="119048"/>
                        </a:lnSpc>
                        <a:buNone/>
                      </a:pPr>
                      <a:r>
                        <a:rPr lang="en-IN" sz="2000" b="0" dirty="0">
                          <a:effectLst/>
                        </a:rPr>
                        <a:t>Identifies the underlying cause of incidents by correlating logs and metrics.</a:t>
                      </a:r>
                      <a:endParaRPr lang="en-IN" sz="2000" b="0" i="0" dirty="0">
                        <a:effectLst/>
                        <a:latin typeface="+mn-lt"/>
                      </a:endParaRPr>
                    </a:p>
                  </a:txBody>
                  <a:tcPr/>
                </a:tc>
                <a:extLst>
                  <a:ext uri="{0D108BD9-81ED-4DB2-BD59-A6C34878D82A}">
                    <a16:rowId xmlns:a16="http://schemas.microsoft.com/office/drawing/2014/main" val="1106631421"/>
                  </a:ext>
                </a:extLst>
              </a:tr>
            </a:tbl>
          </a:graphicData>
        </a:graphic>
      </p:graphicFrame>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3980B-DE99-E73A-89E7-1D0908D63C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D04806-4EE6-D344-7222-4A399928C626}"/>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 (Continuation)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EB992EA9-84FE-608E-1E74-B68A6263826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59AB256-384A-24EA-B7D0-FD4529831266}"/>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Real-Time DevOps Incident Triage &amp; Auto-Remediation Agent</a:t>
            </a:r>
            <a:endParaRPr lang="en-US" b="1" dirty="0">
              <a:solidFill>
                <a:prstClr val="white"/>
              </a:solidFill>
              <a:cs typeface="Calibri" panose="020F0502020204030204" pitchFamily="34" charset="0"/>
            </a:endParaRPr>
          </a:p>
          <a:p>
            <a:pPr algn="r"/>
            <a:endParaRPr lang="en-US" b="1" i="1" dirty="0">
              <a:solidFill>
                <a:srgbClr val="FFFFFF"/>
              </a:solidFill>
            </a:endParaRPr>
          </a:p>
          <a:p>
            <a:pPr algn="r"/>
            <a:endParaRPr lang="en-US" dirty="0"/>
          </a:p>
        </p:txBody>
      </p:sp>
      <p:graphicFrame>
        <p:nvGraphicFramePr>
          <p:cNvPr id="14" name="Table 13">
            <a:extLst>
              <a:ext uri="{FF2B5EF4-FFF2-40B4-BE49-F238E27FC236}">
                <a16:creationId xmlns:a16="http://schemas.microsoft.com/office/drawing/2014/main" id="{93FF7CC1-D5CC-BD38-3BD1-4210597F1D4B}"/>
              </a:ext>
            </a:extLst>
          </p:cNvPr>
          <p:cNvGraphicFramePr>
            <a:graphicFrameLocks noGrp="1"/>
          </p:cNvGraphicFramePr>
          <p:nvPr>
            <p:extLst>
              <p:ext uri="{D42A27DB-BD31-4B8C-83A1-F6EECF244321}">
                <p14:modId xmlns:p14="http://schemas.microsoft.com/office/powerpoint/2010/main" val="1308746784"/>
              </p:ext>
            </p:extLst>
          </p:nvPr>
        </p:nvGraphicFramePr>
        <p:xfrm>
          <a:off x="1079292" y="1425875"/>
          <a:ext cx="10822898" cy="4909946"/>
        </p:xfrm>
        <a:graphic>
          <a:graphicData uri="http://schemas.openxmlformats.org/drawingml/2006/table">
            <a:tbl>
              <a:tblPr firstRow="1" bandRow="1">
                <a:tableStyleId>{2D5ABB26-0587-4C30-8999-92F81FD0307C}</a:tableStyleId>
              </a:tblPr>
              <a:tblGrid>
                <a:gridCol w="5411449">
                  <a:extLst>
                    <a:ext uri="{9D8B030D-6E8A-4147-A177-3AD203B41FA5}">
                      <a16:colId xmlns:a16="http://schemas.microsoft.com/office/drawing/2014/main" val="414448494"/>
                    </a:ext>
                  </a:extLst>
                </a:gridCol>
                <a:gridCol w="5411449">
                  <a:extLst>
                    <a:ext uri="{9D8B030D-6E8A-4147-A177-3AD203B41FA5}">
                      <a16:colId xmlns:a16="http://schemas.microsoft.com/office/drawing/2014/main" val="2280459702"/>
                    </a:ext>
                  </a:extLst>
                </a:gridCol>
              </a:tblGrid>
              <a:tr h="616681">
                <a:tc>
                  <a:txBody>
                    <a:bodyPr/>
                    <a:lstStyle/>
                    <a:p>
                      <a:pPr algn="ctr" fontAlgn="t">
                        <a:lnSpc>
                          <a:spcPct val="119048"/>
                        </a:lnSpc>
                        <a:buNone/>
                      </a:pPr>
                      <a:r>
                        <a:rPr lang="en-IN" sz="2800" b="1" dirty="0">
                          <a:effectLst/>
                        </a:rPr>
                        <a:t>Module</a:t>
                      </a:r>
                      <a:endParaRPr lang="en-IN" sz="2800" b="1" i="0" dirty="0">
                        <a:effectLst/>
                        <a:latin typeface="+mn-lt"/>
                      </a:endParaRPr>
                    </a:p>
                  </a:txBody>
                  <a:tcPr/>
                </a:tc>
                <a:tc>
                  <a:txBody>
                    <a:bodyPr/>
                    <a:lstStyle/>
                    <a:p>
                      <a:pPr algn="ctr" fontAlgn="t">
                        <a:lnSpc>
                          <a:spcPct val="119048"/>
                        </a:lnSpc>
                        <a:buNone/>
                      </a:pPr>
                      <a:r>
                        <a:rPr lang="en-IN" sz="2800" b="1" dirty="0">
                          <a:effectLst/>
                        </a:rPr>
                        <a:t>Description</a:t>
                      </a:r>
                      <a:endParaRPr lang="en-IN" sz="2800" b="1" i="0" dirty="0">
                        <a:effectLst/>
                        <a:latin typeface="+mn-lt"/>
                      </a:endParaRPr>
                    </a:p>
                  </a:txBody>
                  <a:tcPr/>
                </a:tc>
                <a:extLst>
                  <a:ext uri="{0D108BD9-81ED-4DB2-BD59-A6C34878D82A}">
                    <a16:rowId xmlns:a16="http://schemas.microsoft.com/office/drawing/2014/main" val="2669058199"/>
                  </a:ext>
                </a:extLst>
              </a:tr>
              <a:tr h="1025809">
                <a:tc>
                  <a:txBody>
                    <a:bodyPr/>
                    <a:lstStyle/>
                    <a:p>
                      <a:pPr fontAlgn="t">
                        <a:lnSpc>
                          <a:spcPct val="119048"/>
                        </a:lnSpc>
                        <a:buNone/>
                      </a:pPr>
                      <a:r>
                        <a:rPr lang="en-IN" sz="2000" b="0" dirty="0">
                          <a:effectLst/>
                        </a:rPr>
                        <a:t>Runbook Retrieval (RAG) Module</a:t>
                      </a:r>
                      <a:endParaRPr lang="en-IN" sz="2000" b="0" i="0" dirty="0">
                        <a:effectLst/>
                        <a:latin typeface="+mn-lt"/>
                      </a:endParaRPr>
                    </a:p>
                  </a:txBody>
                  <a:tcPr/>
                </a:tc>
                <a:tc>
                  <a:txBody>
                    <a:bodyPr/>
                    <a:lstStyle/>
                    <a:p>
                      <a:pPr fontAlgn="t">
                        <a:lnSpc>
                          <a:spcPct val="119048"/>
                        </a:lnSpc>
                        <a:buNone/>
                      </a:pPr>
                      <a:r>
                        <a:rPr lang="en-IN" sz="2000" b="0" dirty="0">
                          <a:effectLst/>
                        </a:rPr>
                        <a:t>Retrieves relevant troubleshooting guides and remediation runbooks using semantic search.</a:t>
                      </a:r>
                      <a:endParaRPr lang="en-IN" sz="2000" b="0" i="0" dirty="0">
                        <a:effectLst/>
                        <a:latin typeface="+mn-lt"/>
                      </a:endParaRPr>
                    </a:p>
                  </a:txBody>
                  <a:tcPr/>
                </a:tc>
                <a:extLst>
                  <a:ext uri="{0D108BD9-81ED-4DB2-BD59-A6C34878D82A}">
                    <a16:rowId xmlns:a16="http://schemas.microsoft.com/office/drawing/2014/main" val="2023324026"/>
                  </a:ext>
                </a:extLst>
              </a:tr>
              <a:tr h="710379">
                <a:tc>
                  <a:txBody>
                    <a:bodyPr/>
                    <a:lstStyle/>
                    <a:p>
                      <a:pPr fontAlgn="t">
                        <a:lnSpc>
                          <a:spcPct val="119048"/>
                        </a:lnSpc>
                        <a:buNone/>
                      </a:pPr>
                      <a:r>
                        <a:rPr lang="en-IN" sz="2000" b="0" dirty="0">
                          <a:effectLst/>
                        </a:rPr>
                        <a:t>Remediation Planning Module</a:t>
                      </a:r>
                      <a:endParaRPr lang="en-IN" sz="2000" b="0" i="0" dirty="0">
                        <a:effectLst/>
                        <a:latin typeface="+mn-lt"/>
                      </a:endParaRPr>
                    </a:p>
                  </a:txBody>
                  <a:tcPr/>
                </a:tc>
                <a:tc>
                  <a:txBody>
                    <a:bodyPr/>
                    <a:lstStyle/>
                    <a:p>
                      <a:pPr fontAlgn="t">
                        <a:lnSpc>
                          <a:spcPct val="119048"/>
                        </a:lnSpc>
                        <a:buNone/>
                      </a:pPr>
                      <a:r>
                        <a:rPr lang="en-IN" sz="2000" b="0" dirty="0">
                          <a:effectLst/>
                        </a:rPr>
                        <a:t>Generates recovery recommendations and step-by-step remediation plans.</a:t>
                      </a:r>
                      <a:endParaRPr lang="en-IN" sz="2000" b="0" i="0" dirty="0">
                        <a:effectLst/>
                        <a:latin typeface="+mn-lt"/>
                      </a:endParaRPr>
                    </a:p>
                  </a:txBody>
                  <a:tcPr/>
                </a:tc>
                <a:extLst>
                  <a:ext uri="{0D108BD9-81ED-4DB2-BD59-A6C34878D82A}">
                    <a16:rowId xmlns:a16="http://schemas.microsoft.com/office/drawing/2014/main" val="4041507900"/>
                  </a:ext>
                </a:extLst>
              </a:tr>
              <a:tr h="710379">
                <a:tc>
                  <a:txBody>
                    <a:bodyPr/>
                    <a:lstStyle/>
                    <a:p>
                      <a:pPr fontAlgn="t">
                        <a:lnSpc>
                          <a:spcPct val="119048"/>
                        </a:lnSpc>
                        <a:buNone/>
                      </a:pPr>
                      <a:r>
                        <a:rPr lang="en-IN" sz="2000" b="0" dirty="0">
                          <a:effectLst/>
                        </a:rPr>
                        <a:t>LLM Intelligence Module</a:t>
                      </a:r>
                      <a:endParaRPr lang="en-IN" sz="2000" b="0" i="0" dirty="0">
                        <a:effectLst/>
                        <a:latin typeface="+mn-lt"/>
                      </a:endParaRPr>
                    </a:p>
                  </a:txBody>
                  <a:tcPr/>
                </a:tc>
                <a:tc>
                  <a:txBody>
                    <a:bodyPr/>
                    <a:lstStyle/>
                    <a:p>
                      <a:pPr fontAlgn="t">
                        <a:lnSpc>
                          <a:spcPct val="119048"/>
                        </a:lnSpc>
                        <a:buNone/>
                      </a:pPr>
                      <a:r>
                        <a:rPr lang="en-IN" sz="2000" b="0" dirty="0">
                          <a:effectLst/>
                        </a:rPr>
                        <a:t>Uses </a:t>
                      </a:r>
                      <a:r>
                        <a:rPr lang="en-IN" sz="2000" b="0" dirty="0" err="1">
                          <a:effectLst/>
                        </a:rPr>
                        <a:t>Groq</a:t>
                      </a:r>
                      <a:r>
                        <a:rPr lang="en-IN" sz="2000" b="0" dirty="0">
                          <a:effectLst/>
                        </a:rPr>
                        <a:t>-powered LLMs to provide intelligent reasoning and AI-driven insights.</a:t>
                      </a:r>
                      <a:endParaRPr lang="en-IN" sz="2000" b="0" i="0" dirty="0">
                        <a:effectLst/>
                        <a:latin typeface="+mn-lt"/>
                      </a:endParaRPr>
                    </a:p>
                  </a:txBody>
                  <a:tcPr/>
                </a:tc>
                <a:extLst>
                  <a:ext uri="{0D108BD9-81ED-4DB2-BD59-A6C34878D82A}">
                    <a16:rowId xmlns:a16="http://schemas.microsoft.com/office/drawing/2014/main" val="1786461923"/>
                  </a:ext>
                </a:extLst>
              </a:tr>
              <a:tr h="710379">
                <a:tc>
                  <a:txBody>
                    <a:bodyPr/>
                    <a:lstStyle/>
                    <a:p>
                      <a:pPr fontAlgn="t">
                        <a:lnSpc>
                          <a:spcPct val="119048"/>
                        </a:lnSpc>
                        <a:buNone/>
                      </a:pPr>
                      <a:r>
                        <a:rPr lang="en-IN" sz="2000" b="0" dirty="0">
                          <a:effectLst/>
                        </a:rPr>
                        <a:t>Kubernetes Auto-Remediation Module</a:t>
                      </a:r>
                      <a:endParaRPr lang="en-IN" sz="2000" b="0" i="0" dirty="0">
                        <a:effectLst/>
                        <a:latin typeface="+mn-lt"/>
                      </a:endParaRPr>
                    </a:p>
                  </a:txBody>
                  <a:tcPr/>
                </a:tc>
                <a:tc>
                  <a:txBody>
                    <a:bodyPr/>
                    <a:lstStyle/>
                    <a:p>
                      <a:pPr fontAlgn="t">
                        <a:lnSpc>
                          <a:spcPct val="119048"/>
                        </a:lnSpc>
                        <a:buNone/>
                      </a:pPr>
                      <a:r>
                        <a:rPr lang="en-IN" sz="2000" b="0" dirty="0">
                          <a:effectLst/>
                        </a:rPr>
                        <a:t>Executes automated recovery actions such as deployment restarts and scaling.</a:t>
                      </a:r>
                      <a:endParaRPr lang="en-IN" sz="2000" b="0" i="0" dirty="0">
                        <a:effectLst/>
                        <a:latin typeface="+mn-lt"/>
                      </a:endParaRPr>
                    </a:p>
                  </a:txBody>
                  <a:tcPr/>
                </a:tc>
                <a:extLst>
                  <a:ext uri="{0D108BD9-81ED-4DB2-BD59-A6C34878D82A}">
                    <a16:rowId xmlns:a16="http://schemas.microsoft.com/office/drawing/2014/main" val="4064707286"/>
                  </a:ext>
                </a:extLst>
              </a:tr>
              <a:tr h="616681">
                <a:tc>
                  <a:txBody>
                    <a:bodyPr/>
                    <a:lstStyle/>
                    <a:p>
                      <a:pPr fontAlgn="t">
                        <a:lnSpc>
                          <a:spcPct val="119048"/>
                        </a:lnSpc>
                        <a:buNone/>
                      </a:pPr>
                      <a:r>
                        <a:rPr lang="en-IN" sz="2000" b="0" dirty="0">
                          <a:effectLst/>
                        </a:rPr>
                        <a:t>Workflow Orchestration Module</a:t>
                      </a:r>
                      <a:endParaRPr lang="en-IN" sz="2000" b="0" i="0" dirty="0">
                        <a:effectLst/>
                        <a:latin typeface="+mn-lt"/>
                      </a:endParaRPr>
                    </a:p>
                  </a:txBody>
                  <a:tcPr/>
                </a:tc>
                <a:tc>
                  <a:txBody>
                    <a:bodyPr/>
                    <a:lstStyle/>
                    <a:p>
                      <a:pPr fontAlgn="t">
                        <a:lnSpc>
                          <a:spcPct val="119048"/>
                        </a:lnSpc>
                        <a:buNone/>
                      </a:pPr>
                      <a:r>
                        <a:rPr lang="en-IN" sz="2000" b="0" dirty="0">
                          <a:effectLst/>
                        </a:rPr>
                        <a:t>Coordinates all modules and manages the end-to-end incident response workflow.</a:t>
                      </a:r>
                      <a:endParaRPr lang="en-IN" sz="2000" b="0" i="0" dirty="0">
                        <a:effectLst/>
                        <a:latin typeface="+mn-lt"/>
                      </a:endParaRPr>
                    </a:p>
                  </a:txBody>
                  <a:tcPr/>
                </a:tc>
                <a:extLst>
                  <a:ext uri="{0D108BD9-81ED-4DB2-BD59-A6C34878D82A}">
                    <a16:rowId xmlns:a16="http://schemas.microsoft.com/office/drawing/2014/main" val="1106631421"/>
                  </a:ext>
                </a:extLst>
              </a:tr>
            </a:tbl>
          </a:graphicData>
        </a:graphic>
      </p:graphicFrame>
    </p:spTree>
    <p:extLst>
      <p:ext uri="{BB962C8B-B14F-4D97-AF65-F5344CB8AC3E}">
        <p14:creationId xmlns:p14="http://schemas.microsoft.com/office/powerpoint/2010/main" val="1474804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4893647"/>
          </a:xfrm>
          <a:prstGeom prst="rect">
            <a:avLst/>
          </a:prstGeom>
          <a:noFill/>
        </p:spPr>
        <p:txBody>
          <a:bodyPr wrap="square">
            <a:spAutoFit/>
          </a:bodyPr>
          <a:lstStyle/>
          <a:p>
            <a:pPr algn="ctr">
              <a:defRPr/>
            </a:pPr>
            <a:r>
              <a:rPr lang="en-IN" sz="3600" dirty="0">
                <a:solidFill>
                  <a:schemeClr val="bg1"/>
                </a:solidFill>
              </a:rPr>
              <a:t>Agentic AI-Based Project Health and Risk Monitoring System for Automated Project Governance</a:t>
            </a:r>
            <a:endParaRPr lang="en-US" sz="3600" b="1" dirty="0">
              <a:solidFill>
                <a:prstClr val="white"/>
              </a:solidFill>
              <a:cs typeface="Calibri" panose="020F0502020204030204" pitchFamily="34" charset="0"/>
            </a:endParaRPr>
          </a:p>
          <a:p>
            <a:pPr algn="ctr">
              <a:defRPr/>
            </a:pPr>
            <a:endParaRPr lang="en-US" sz="36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Noel Jacob Biju</a:t>
            </a:r>
          </a:p>
          <a:p>
            <a:pPr lvl="0" algn="ctr">
              <a:defRPr/>
            </a:pPr>
            <a:r>
              <a:rPr lang="en-US" sz="2400" b="1" dirty="0" err="1">
                <a:solidFill>
                  <a:prstClr val="white"/>
                </a:solidFill>
                <a:cs typeface="Calibri" panose="020F0502020204030204" pitchFamily="34" charset="0"/>
              </a:rPr>
              <a:t>M.Tech</a:t>
            </a:r>
            <a:r>
              <a:rPr lang="en-US" sz="2400" b="1" dirty="0">
                <a:solidFill>
                  <a:prstClr val="white"/>
                </a:solidFill>
                <a:cs typeface="Calibri" panose="020F0502020204030204" pitchFamily="34" charset="0"/>
              </a:rPr>
              <a:t> AI&amp;ML with </a:t>
            </a:r>
            <a:r>
              <a:rPr lang="en-US" sz="2400" b="1" dirty="0" err="1">
                <a:solidFill>
                  <a:prstClr val="white"/>
                </a:solidFill>
                <a:cs typeface="Calibri" panose="020F0502020204030204" pitchFamily="34" charset="0"/>
              </a:rPr>
              <a:t>LTiMindtree</a:t>
            </a:r>
            <a:endParaRPr lang="en-US" sz="24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VIT Chennai</a:t>
            </a:r>
          </a:p>
          <a:p>
            <a:pPr lvl="0" algn="ctr">
              <a:defRPr/>
            </a:pPr>
            <a:r>
              <a:rPr lang="en-US" sz="2400" b="1" dirty="0">
                <a:solidFill>
                  <a:prstClr val="white"/>
                </a:solidFill>
                <a:cs typeface="Calibri" panose="020F0502020204030204" pitchFamily="34" charset="0"/>
              </a:rPr>
              <a:t>T9988</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217E9F01-5DFF-CDE1-D4A0-BC89ACD61CD9}"/>
              </a:ext>
            </a:extLst>
          </p:cNvPr>
          <p:cNvPicPr>
            <a:picLocks noChangeAspect="1"/>
          </p:cNvPicPr>
          <p:nvPr/>
        </p:nvPicPr>
        <p:blipFill>
          <a:blip r:embed="rId3"/>
          <a:stretch>
            <a:fillRect/>
          </a:stretch>
        </p:blipFill>
        <p:spPr>
          <a:xfrm>
            <a:off x="0" y="5790038"/>
            <a:ext cx="3642610" cy="1020277"/>
          </a:xfrm>
          <a:prstGeom prst="rect">
            <a:avLst/>
          </a:prstGeom>
        </p:spPr>
      </p:pic>
    </p:spTree>
    <p:extLst>
      <p:ext uri="{BB962C8B-B14F-4D97-AF65-F5344CB8AC3E}">
        <p14:creationId xmlns:p14="http://schemas.microsoft.com/office/powerpoint/2010/main" val="1647689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1936004" cy="4142989"/>
          </a:xfrm>
        </p:spPr>
        <p:txBody>
          <a:bodyPr/>
          <a:lstStyle/>
          <a:p>
            <a:pPr fontAlgn="t">
              <a:buNone/>
            </a:pPr>
            <a:r>
              <a:rPr lang="en-IN" b="0" dirty="0"/>
              <a:t>Organizations today use tools such as </a:t>
            </a:r>
            <a:r>
              <a:rPr lang="en-IN" dirty="0"/>
              <a:t>Microsoft Planner, Teams, and Excel</a:t>
            </a:r>
            <a:r>
              <a:rPr lang="en-IN" b="0" dirty="0"/>
              <a:t> to manage projects, but project monitoring, risk identification, and status reporting are still largely manual processes. This often results in delayed issue detection, increased management effort, and reactive decision-making. With the growing demand for faster risk identification, better project visibility, and intelligent automation, there is a need for a solution that can proactively monitor project activities and support project managers. To address these challenges, this project proposes an </a:t>
            </a:r>
            <a:r>
              <a:rPr lang="en-IN" dirty="0"/>
              <a:t>Agentic AI-Based Project Health and Risk Monitoring System</a:t>
            </a:r>
            <a:r>
              <a:rPr lang="en-IN" b="0" dirty="0"/>
              <a:t>. Using </a:t>
            </a:r>
            <a:r>
              <a:rPr lang="en-IN" dirty="0"/>
              <a:t>Microsoft Copilot Studio, Power Automate, Microsoft Planner or Excel, and Teams</a:t>
            </a:r>
            <a:r>
              <a:rPr lang="en-IN" b="0" dirty="0"/>
              <a:t>, the system automatically monitors project activities, identifies risks and delays, evaluates project health, and generates actionable recommendations. This improves project governance, reduces manual effort, and enables timely and informed decision-making.</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1200329"/>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1230256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marL="342900" lvl="0" indent="-342900" fontAlgn="t"/>
            <a:r>
              <a:rPr lang="en-IN" b="0" dirty="0">
                <a:latin typeface="+mn-lt"/>
              </a:rPr>
              <a:t>To develop an </a:t>
            </a:r>
            <a:r>
              <a:rPr lang="en-IN" dirty="0">
                <a:latin typeface="+mn-lt"/>
              </a:rPr>
              <a:t>Agentic AI-based system</a:t>
            </a:r>
            <a:r>
              <a:rPr lang="en-IN" b="0" dirty="0">
                <a:latin typeface="+mn-lt"/>
              </a:rPr>
              <a:t> that automatically monitors project tasks and activities from Microsoft 365 tools.</a:t>
            </a:r>
          </a:p>
          <a:p>
            <a:pPr marL="342900" lvl="0" indent="-342900" fontAlgn="t"/>
            <a:r>
              <a:rPr lang="en-IN" b="0" dirty="0">
                <a:latin typeface="+mn-lt"/>
              </a:rPr>
              <a:t>To identify delayed, blocked, and high-priority tasks for early risk detection.</a:t>
            </a:r>
          </a:p>
          <a:p>
            <a:pPr marL="342900" lvl="0" indent="-342900" fontAlgn="t"/>
            <a:r>
              <a:rPr lang="en-IN" b="0" dirty="0">
                <a:latin typeface="+mn-lt"/>
              </a:rPr>
              <a:t>To evaluate project health and classify projects as </a:t>
            </a:r>
            <a:r>
              <a:rPr lang="en-IN" dirty="0">
                <a:latin typeface="+mn-lt"/>
              </a:rPr>
              <a:t>Green, Amber, or Red</a:t>
            </a:r>
            <a:r>
              <a:rPr lang="en-IN" b="0" dirty="0">
                <a:latin typeface="+mn-lt"/>
              </a:rPr>
              <a:t> based on predefined criteria.</a:t>
            </a:r>
          </a:p>
          <a:p>
            <a:pPr marL="342900" lvl="0" indent="-342900" fontAlgn="t"/>
            <a:r>
              <a:rPr lang="en-IN" b="0" dirty="0">
                <a:latin typeface="+mn-lt"/>
              </a:rPr>
              <a:t>To generate intelligent recommendations and mitigation actions for identified project risks.</a:t>
            </a:r>
          </a:p>
          <a:p>
            <a:pPr marL="342900" lvl="0" indent="-342900" fontAlgn="t"/>
            <a:r>
              <a:rPr lang="en-IN" b="0" dirty="0">
                <a:latin typeface="+mn-lt"/>
              </a:rPr>
              <a:t>To automate stakeholder communication through Microsoft Teams notifications and email reports, reducing manual project monitoring effort.</a:t>
            </a:r>
          </a:p>
          <a:p>
            <a:pPr>
              <a:lnSpc>
                <a:spcPct val="150000"/>
              </a:lnSpc>
            </a:pPr>
            <a:endParaRPr lang="en-US" sz="2400" b="0" dirty="0">
              <a:solidFill>
                <a:srgbClr val="5583D1"/>
              </a:solidFill>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1200329"/>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2377563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5" y="1271219"/>
            <a:ext cx="11571243" cy="4142989"/>
          </a:xfrm>
        </p:spPr>
        <p:txBody>
          <a:bodyPr/>
          <a:lstStyle/>
          <a:p>
            <a:pPr marL="0" indent="0">
              <a:buNone/>
            </a:pPr>
            <a:r>
              <a:rPr lang="en-IN" b="0" dirty="0"/>
              <a:t>The scope of this project is to develop an </a:t>
            </a:r>
            <a:r>
              <a:rPr lang="en-IN" dirty="0"/>
              <a:t>Agentic AI-Based Project Health and Risk Monitoring System</a:t>
            </a:r>
            <a:r>
              <a:rPr lang="en-IN" b="0" dirty="0"/>
              <a:t> that automatically monitors project tasks, identifies delays and risks, evaluates project health, and provides actionable recommendations. The system uses </a:t>
            </a:r>
            <a:r>
              <a:rPr lang="en-IN" dirty="0"/>
              <a:t>Microsoft Planner or an Excel-based Project Tracker</a:t>
            </a:r>
            <a:r>
              <a:rPr lang="en-IN" b="0" dirty="0"/>
              <a:t> as the project data source, </a:t>
            </a:r>
            <a:r>
              <a:rPr lang="en-IN" dirty="0"/>
              <a:t>Microsoft Copilot Studio</a:t>
            </a:r>
            <a:r>
              <a:rPr lang="en-IN" b="0" dirty="0"/>
              <a:t> for AI-driven analysis, </a:t>
            </a:r>
            <a:r>
              <a:rPr lang="en-IN" dirty="0"/>
              <a:t>Power Automate</a:t>
            </a:r>
            <a:r>
              <a:rPr lang="en-IN" b="0" dirty="0"/>
              <a:t> for workflow automation, and </a:t>
            </a:r>
            <a:r>
              <a:rPr lang="en-IN" dirty="0"/>
              <a:t>Microsoft Teams/Outlook</a:t>
            </a:r>
            <a:r>
              <a:rPr lang="en-IN" b="0" dirty="0"/>
              <a:t> for notifications and reporting. It focuses on improving project governance through automated monitoring, risk detection, project health assessment, recommendation generation, and stakeholder communication. The project does not cover financial forecasting, budget management, employee performance evaluation, payroll processing, or customer data analytics.</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1200329"/>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1593301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4F4041-8131-3536-FDDF-513CA3ABA637}"/>
              </a:ext>
            </a:extLst>
          </p:cNvPr>
          <p:cNvSpPr txBox="1"/>
          <p:nvPr/>
        </p:nvSpPr>
        <p:spPr>
          <a:xfrm>
            <a:off x="6093893" y="57036"/>
            <a:ext cx="6098107" cy="923330"/>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dirty="0"/>
          </a:p>
        </p:txBody>
      </p:sp>
      <p:graphicFrame>
        <p:nvGraphicFramePr>
          <p:cNvPr id="7" name="Table 6">
            <a:extLst>
              <a:ext uri="{FF2B5EF4-FFF2-40B4-BE49-F238E27FC236}">
                <a16:creationId xmlns:a16="http://schemas.microsoft.com/office/drawing/2014/main" id="{E65BC3C8-5DD5-7E05-0E86-C8F3D6130665}"/>
              </a:ext>
            </a:extLst>
          </p:cNvPr>
          <p:cNvGraphicFramePr>
            <a:graphicFrameLocks noGrp="1"/>
          </p:cNvGraphicFramePr>
          <p:nvPr>
            <p:extLst>
              <p:ext uri="{D42A27DB-BD31-4B8C-83A1-F6EECF244321}">
                <p14:modId xmlns:p14="http://schemas.microsoft.com/office/powerpoint/2010/main" val="4057356179"/>
              </p:ext>
            </p:extLst>
          </p:nvPr>
        </p:nvGraphicFramePr>
        <p:xfrm>
          <a:off x="837780" y="1425875"/>
          <a:ext cx="10684716" cy="4929580"/>
        </p:xfrm>
        <a:graphic>
          <a:graphicData uri="http://schemas.openxmlformats.org/drawingml/2006/table">
            <a:tbl>
              <a:tblPr>
                <a:tableStyleId>{2D5ABB26-0587-4C30-8999-92F81FD0307C}</a:tableStyleId>
              </a:tblPr>
              <a:tblGrid>
                <a:gridCol w="3561572">
                  <a:extLst>
                    <a:ext uri="{9D8B030D-6E8A-4147-A177-3AD203B41FA5}">
                      <a16:colId xmlns:a16="http://schemas.microsoft.com/office/drawing/2014/main" val="163051207"/>
                    </a:ext>
                  </a:extLst>
                </a:gridCol>
                <a:gridCol w="3561572">
                  <a:extLst>
                    <a:ext uri="{9D8B030D-6E8A-4147-A177-3AD203B41FA5}">
                      <a16:colId xmlns:a16="http://schemas.microsoft.com/office/drawing/2014/main" val="1978321146"/>
                    </a:ext>
                  </a:extLst>
                </a:gridCol>
                <a:gridCol w="3561572">
                  <a:extLst>
                    <a:ext uri="{9D8B030D-6E8A-4147-A177-3AD203B41FA5}">
                      <a16:colId xmlns:a16="http://schemas.microsoft.com/office/drawing/2014/main" val="566725128"/>
                    </a:ext>
                  </a:extLst>
                </a:gridCol>
              </a:tblGrid>
              <a:tr h="365155">
                <a:tc>
                  <a:txBody>
                    <a:bodyPr/>
                    <a:lstStyle/>
                    <a:p>
                      <a:pPr>
                        <a:buNone/>
                      </a:pPr>
                      <a:r>
                        <a:rPr lang="en-IN" sz="1700"/>
                        <a:t>Author(s) &amp; Paper</a:t>
                      </a:r>
                    </a:p>
                  </a:txBody>
                  <a:tcPr marL="88782" marR="88782" marT="44391" marB="44391" anchor="ctr"/>
                </a:tc>
                <a:tc>
                  <a:txBody>
                    <a:bodyPr/>
                    <a:lstStyle/>
                    <a:p>
                      <a:pPr>
                        <a:buNone/>
                      </a:pPr>
                      <a:r>
                        <a:rPr lang="en-IN" sz="1700"/>
                        <a:t>Summary of the Paper</a:t>
                      </a:r>
                    </a:p>
                  </a:txBody>
                  <a:tcPr marL="88782" marR="88782" marT="44391" marB="44391" anchor="ctr"/>
                </a:tc>
                <a:tc>
                  <a:txBody>
                    <a:bodyPr/>
                    <a:lstStyle/>
                    <a:p>
                      <a:pPr>
                        <a:buNone/>
                      </a:pPr>
                      <a:r>
                        <a:rPr lang="en-IN" sz="1700"/>
                        <a:t>Research Gap</a:t>
                      </a:r>
                    </a:p>
                  </a:txBody>
                  <a:tcPr marL="88782" marR="88782" marT="44391" marB="44391" anchor="ctr"/>
                </a:tc>
                <a:extLst>
                  <a:ext uri="{0D108BD9-81ED-4DB2-BD59-A6C34878D82A}">
                    <a16:rowId xmlns:a16="http://schemas.microsoft.com/office/drawing/2014/main" val="1566897014"/>
                  </a:ext>
                </a:extLst>
              </a:tr>
              <a:tr h="912885">
                <a:tc>
                  <a:txBody>
                    <a:bodyPr/>
                    <a:lstStyle/>
                    <a:p>
                      <a:pPr>
                        <a:buNone/>
                      </a:pPr>
                      <a:r>
                        <a:rPr lang="en-IN" sz="1700"/>
                        <a:t>Zhiheng Xi et al. (2023)</a:t>
                      </a:r>
                    </a:p>
                  </a:txBody>
                  <a:tcPr marL="88782" marR="88782" marT="44391" marB="44391" anchor="ctr"/>
                </a:tc>
                <a:tc>
                  <a:txBody>
                    <a:bodyPr/>
                    <a:lstStyle/>
                    <a:p>
                      <a:pPr>
                        <a:buNone/>
                      </a:pPr>
                      <a:r>
                        <a:rPr lang="en-IN" sz="1700"/>
                        <a:t>Explains how LLM-based agents enable autonomous reasoning, decision-making, and task execution.</a:t>
                      </a:r>
                    </a:p>
                  </a:txBody>
                  <a:tcPr marL="88782" marR="88782" marT="44391" marB="44391" anchor="ctr"/>
                </a:tc>
                <a:tc>
                  <a:txBody>
                    <a:bodyPr/>
                    <a:lstStyle/>
                    <a:p>
                      <a:pPr>
                        <a:buNone/>
                      </a:pPr>
                      <a:r>
                        <a:rPr lang="en-IN" sz="1700"/>
                        <a:t>Does not address project health monitoring or project governance applications.</a:t>
                      </a:r>
                    </a:p>
                  </a:txBody>
                  <a:tcPr marL="88782" marR="88782" marT="44391" marB="44391" anchor="ctr"/>
                </a:tc>
                <a:extLst>
                  <a:ext uri="{0D108BD9-81ED-4DB2-BD59-A6C34878D82A}">
                    <a16:rowId xmlns:a16="http://schemas.microsoft.com/office/drawing/2014/main" val="2655382668"/>
                  </a:ext>
                </a:extLst>
              </a:tr>
              <a:tr h="912885">
                <a:tc>
                  <a:txBody>
                    <a:bodyPr/>
                    <a:lstStyle/>
                    <a:p>
                      <a:pPr>
                        <a:buNone/>
                      </a:pPr>
                      <a:r>
                        <a:rPr lang="en-IN" sz="1700" dirty="0"/>
                        <a:t>Guo et al. (2024)</a:t>
                      </a:r>
                    </a:p>
                  </a:txBody>
                  <a:tcPr marL="88782" marR="88782" marT="44391" marB="44391" anchor="ctr"/>
                </a:tc>
                <a:tc>
                  <a:txBody>
                    <a:bodyPr/>
                    <a:lstStyle/>
                    <a:p>
                      <a:pPr>
                        <a:buNone/>
                      </a:pPr>
                      <a:r>
                        <a:rPr lang="en-IN" sz="1700"/>
                        <a:t>Reviews the architecture and capabilities of autonomous AI agents for complex tasks.</a:t>
                      </a:r>
                    </a:p>
                  </a:txBody>
                  <a:tcPr marL="88782" marR="88782" marT="44391" marB="44391" anchor="ctr"/>
                </a:tc>
                <a:tc>
                  <a:txBody>
                    <a:bodyPr/>
                    <a:lstStyle/>
                    <a:p>
                      <a:pPr>
                        <a:buNone/>
                      </a:pPr>
                      <a:r>
                        <a:rPr lang="en-IN" sz="1700"/>
                        <a:t>Lacks focus on project risk analysis and automated stakeholder communication.</a:t>
                      </a:r>
                    </a:p>
                  </a:txBody>
                  <a:tcPr marL="88782" marR="88782" marT="44391" marB="44391" anchor="ctr"/>
                </a:tc>
                <a:extLst>
                  <a:ext uri="{0D108BD9-81ED-4DB2-BD59-A6C34878D82A}">
                    <a16:rowId xmlns:a16="http://schemas.microsoft.com/office/drawing/2014/main" val="2252737811"/>
                  </a:ext>
                </a:extLst>
              </a:tr>
              <a:tr h="912885">
                <a:tc>
                  <a:txBody>
                    <a:bodyPr/>
                    <a:lstStyle/>
                    <a:p>
                      <a:pPr>
                        <a:buNone/>
                      </a:pPr>
                      <a:r>
                        <a:rPr lang="en-IN" sz="1700"/>
                        <a:t>Adamantiadou &amp; Tsironis (2025)</a:t>
                      </a:r>
                    </a:p>
                  </a:txBody>
                  <a:tcPr marL="88782" marR="88782" marT="44391" marB="44391" anchor="ctr"/>
                </a:tc>
                <a:tc>
                  <a:txBody>
                    <a:bodyPr/>
                    <a:lstStyle/>
                    <a:p>
                      <a:pPr>
                        <a:buNone/>
                      </a:pPr>
                      <a:r>
                        <a:rPr lang="en-IN" sz="1700"/>
                        <a:t>Highlights the use of AI for project monitoring, forecasting, and decision support.</a:t>
                      </a:r>
                    </a:p>
                  </a:txBody>
                  <a:tcPr marL="88782" marR="88782" marT="44391" marB="44391" anchor="ctr"/>
                </a:tc>
                <a:tc>
                  <a:txBody>
                    <a:bodyPr/>
                    <a:lstStyle/>
                    <a:p>
                      <a:pPr>
                        <a:buNone/>
                      </a:pPr>
                      <a:r>
                        <a:rPr lang="en-IN" sz="1700"/>
                        <a:t>Does not provide an integrated Agentic AI solution within the Microsoft 365 ecosystem.</a:t>
                      </a:r>
                    </a:p>
                  </a:txBody>
                  <a:tcPr marL="88782" marR="88782" marT="44391" marB="44391" anchor="ctr"/>
                </a:tc>
                <a:extLst>
                  <a:ext uri="{0D108BD9-81ED-4DB2-BD59-A6C34878D82A}">
                    <a16:rowId xmlns:a16="http://schemas.microsoft.com/office/drawing/2014/main" val="314368027"/>
                  </a:ext>
                </a:extLst>
              </a:tr>
              <a:tr h="912885">
                <a:tc>
                  <a:txBody>
                    <a:bodyPr/>
                    <a:lstStyle/>
                    <a:p>
                      <a:pPr>
                        <a:buNone/>
                      </a:pPr>
                      <a:r>
                        <a:rPr lang="en-IN" sz="1700"/>
                        <a:t>Salimimoghadam et al. (2025)</a:t>
                      </a:r>
                    </a:p>
                  </a:txBody>
                  <a:tcPr marL="88782" marR="88782" marT="44391" marB="44391" anchor="ctr"/>
                </a:tc>
                <a:tc>
                  <a:txBody>
                    <a:bodyPr/>
                    <a:lstStyle/>
                    <a:p>
                      <a:pPr>
                        <a:buNone/>
                      </a:pPr>
                      <a:r>
                        <a:rPr lang="en-IN" sz="1700"/>
                        <a:t>Examines the impact of AI on project efficiency, risk mitigation, and decision-making.</a:t>
                      </a:r>
                    </a:p>
                  </a:txBody>
                  <a:tcPr marL="88782" marR="88782" marT="44391" marB="44391" anchor="ctr"/>
                </a:tc>
                <a:tc>
                  <a:txBody>
                    <a:bodyPr/>
                    <a:lstStyle/>
                    <a:p>
                      <a:pPr>
                        <a:buNone/>
                      </a:pPr>
                      <a:r>
                        <a:rPr lang="en-IN" sz="1700"/>
                        <a:t>Lacks automated project health assessment and real-time governance mechanisms.</a:t>
                      </a:r>
                    </a:p>
                  </a:txBody>
                  <a:tcPr marL="88782" marR="88782" marT="44391" marB="44391" anchor="ctr"/>
                </a:tc>
                <a:extLst>
                  <a:ext uri="{0D108BD9-81ED-4DB2-BD59-A6C34878D82A}">
                    <a16:rowId xmlns:a16="http://schemas.microsoft.com/office/drawing/2014/main" val="3941833206"/>
                  </a:ext>
                </a:extLst>
              </a:tr>
              <a:tr h="912885">
                <a:tc>
                  <a:txBody>
                    <a:bodyPr/>
                    <a:lstStyle/>
                    <a:p>
                      <a:pPr>
                        <a:buNone/>
                      </a:pPr>
                      <a:r>
                        <a:rPr lang="en-IN" sz="1700"/>
                        <a:t>Kristen Kerr (2026)</a:t>
                      </a:r>
                    </a:p>
                  </a:txBody>
                  <a:tcPr marL="88782" marR="88782" marT="44391" marB="44391" anchor="ctr"/>
                </a:tc>
                <a:tc>
                  <a:txBody>
                    <a:bodyPr/>
                    <a:lstStyle/>
                    <a:p>
                      <a:pPr>
                        <a:buNone/>
                      </a:pPr>
                      <a:r>
                        <a:rPr lang="en-IN" sz="1700"/>
                        <a:t>Discusses how AI enables proactive project risk identification and mitigation.</a:t>
                      </a:r>
                    </a:p>
                  </a:txBody>
                  <a:tcPr marL="88782" marR="88782" marT="44391" marB="44391" anchor="ctr"/>
                </a:tc>
                <a:tc>
                  <a:txBody>
                    <a:bodyPr/>
                    <a:lstStyle/>
                    <a:p>
                      <a:pPr>
                        <a:buNone/>
                      </a:pPr>
                      <a:r>
                        <a:rPr lang="en-IN" sz="1700" dirty="0"/>
                        <a:t>Does not integrate AI agents with workflow automation, reporting, and notifications.</a:t>
                      </a:r>
                    </a:p>
                  </a:txBody>
                  <a:tcPr marL="88782" marR="88782" marT="44391" marB="44391" anchor="ctr"/>
                </a:tc>
                <a:extLst>
                  <a:ext uri="{0D108BD9-81ED-4DB2-BD59-A6C34878D82A}">
                    <a16:rowId xmlns:a16="http://schemas.microsoft.com/office/drawing/2014/main" val="409062377"/>
                  </a:ext>
                </a:extLst>
              </a:tr>
            </a:tbl>
          </a:graphicData>
        </a:graphic>
      </p:graphicFrame>
    </p:spTree>
    <p:extLst>
      <p:ext uri="{BB962C8B-B14F-4D97-AF65-F5344CB8AC3E}">
        <p14:creationId xmlns:p14="http://schemas.microsoft.com/office/powerpoint/2010/main" val="8031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AF3A-1BAA-BB19-865F-8604C4E3B859}"/>
              </a:ext>
            </a:extLst>
          </p:cNvPr>
          <p:cNvSpPr>
            <a:spLocks noGrp="1"/>
          </p:cNvSpPr>
          <p:nvPr>
            <p:ph type="body" sz="quarter" idx="13"/>
          </p:nvPr>
        </p:nvSpPr>
        <p:spPr>
          <a:xfrm>
            <a:off x="255996" y="1271219"/>
            <a:ext cx="10624338" cy="4142989"/>
          </a:xfrm>
        </p:spPr>
        <p:txBody>
          <a:bodyPr/>
          <a:lstStyle/>
          <a:p>
            <a:pPr fontAlgn="t">
              <a:buNone/>
            </a:pPr>
            <a:r>
              <a:rPr lang="en-IN" b="0" dirty="0"/>
              <a:t>The literature review indicates that </a:t>
            </a:r>
            <a:r>
              <a:rPr lang="en-IN" dirty="0"/>
              <a:t>Artificial Intelligence, Large Language Models (LLMs), and AI Agents</a:t>
            </a:r>
            <a:r>
              <a:rPr lang="en-IN" b="0" dirty="0"/>
              <a:t> have significantly enhanced automation, decision-making, and risk assessment capabilities across various domains. Existing studies demonstrate the effectiveness of AI in project monitoring, forecasting, and risk management. However, there is limited research on integrating </a:t>
            </a:r>
            <a:r>
              <a:rPr lang="en-IN" dirty="0"/>
              <a:t>Agentic AI with Microsoft Copilot Studio, Power Automate, Microsoft Planner or Excel, and Microsoft Teams</a:t>
            </a:r>
            <a:r>
              <a:rPr lang="en-IN" b="0" dirty="0"/>
              <a:t> for automated project health monitoring and governance. This gap highlights the need for a unified intelligent system capable of proactive risk detection, recommendation generation, and stakeholder communication, which forms the basis of the proposed project.</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ADF6DB-6CFE-DDC5-997C-E84EE1A9470D}"/>
              </a:ext>
            </a:extLst>
          </p:cNvPr>
          <p:cNvSpPr txBox="1"/>
          <p:nvPr/>
        </p:nvSpPr>
        <p:spPr>
          <a:xfrm>
            <a:off x="6093893" y="57036"/>
            <a:ext cx="6098107" cy="1200329"/>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1753678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B21DA-31B8-00AD-3219-1EB67FAA33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DBDB85-0B7F-22AB-6982-AC6585CC576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rgbClr val="5B9BD5">
                    <a:lumMod val="50000"/>
                  </a:srgbClr>
                </a:solidFill>
                <a:latin typeface="Calibri" panose="020F0502020204030204"/>
              </a:rPr>
              <a:t>Project Timeline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58BB910-D335-0043-53A3-07530F103E8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475D225-CAA9-14AF-7C04-0E3495BC900C}"/>
              </a:ext>
            </a:extLst>
          </p:cNvPr>
          <p:cNvSpPr txBox="1"/>
          <p:nvPr/>
        </p:nvSpPr>
        <p:spPr>
          <a:xfrm>
            <a:off x="6093893" y="57036"/>
            <a:ext cx="6098107" cy="1200329"/>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sz="1800" b="1" i="1" dirty="0">
              <a:solidFill>
                <a:srgbClr val="FFFFFF"/>
              </a:solidFill>
            </a:endParaRPr>
          </a:p>
          <a:p>
            <a:pPr algn="r"/>
            <a:endParaRPr lang="en-US" dirty="0"/>
          </a:p>
        </p:txBody>
      </p:sp>
      <p:pic>
        <p:nvPicPr>
          <p:cNvPr id="6" name="Picture 5">
            <a:extLst>
              <a:ext uri="{FF2B5EF4-FFF2-40B4-BE49-F238E27FC236}">
                <a16:creationId xmlns:a16="http://schemas.microsoft.com/office/drawing/2014/main" id="{CF1BFA4F-DD38-69BB-93EC-4156E8F63384}"/>
              </a:ext>
            </a:extLst>
          </p:cNvPr>
          <p:cNvPicPr>
            <a:picLocks noChangeAspect="1"/>
          </p:cNvPicPr>
          <p:nvPr/>
        </p:nvPicPr>
        <p:blipFill>
          <a:blip r:embed="rId2"/>
          <a:stretch>
            <a:fillRect/>
          </a:stretch>
        </p:blipFill>
        <p:spPr>
          <a:xfrm>
            <a:off x="1663908" y="1300245"/>
            <a:ext cx="10328223" cy="5204501"/>
          </a:xfrm>
          <a:prstGeom prst="rect">
            <a:avLst/>
          </a:prstGeom>
        </p:spPr>
      </p:pic>
    </p:spTree>
    <p:extLst>
      <p:ext uri="{BB962C8B-B14F-4D97-AF65-F5344CB8AC3E}">
        <p14:creationId xmlns:p14="http://schemas.microsoft.com/office/powerpoint/2010/main" val="289897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521A6-D90A-7EE0-87AA-C6EC2F7C2C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D0F058-8992-7A5E-7BAB-E3A5AA4106E5}"/>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Technology Stack</a:t>
            </a:r>
          </a:p>
        </p:txBody>
      </p:sp>
      <p:cxnSp>
        <p:nvCxnSpPr>
          <p:cNvPr id="5" name="Straight Connector 4">
            <a:extLst>
              <a:ext uri="{FF2B5EF4-FFF2-40B4-BE49-F238E27FC236}">
                <a16:creationId xmlns:a16="http://schemas.microsoft.com/office/drawing/2014/main" id="{672E38BE-5965-780A-3F25-F04D99BEEF4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110DCBC-757F-1DC9-39DE-222D99F910D0}"/>
              </a:ext>
            </a:extLst>
          </p:cNvPr>
          <p:cNvSpPr txBox="1"/>
          <p:nvPr/>
        </p:nvSpPr>
        <p:spPr>
          <a:xfrm>
            <a:off x="6093893" y="57036"/>
            <a:ext cx="6098107" cy="1200329"/>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sz="1800" b="1" i="1" dirty="0">
              <a:solidFill>
                <a:srgbClr val="FFFFFF"/>
              </a:solidFill>
            </a:endParaRPr>
          </a:p>
          <a:p>
            <a:pPr algn="r"/>
            <a:endParaRPr lang="en-US" dirty="0"/>
          </a:p>
        </p:txBody>
      </p:sp>
      <p:graphicFrame>
        <p:nvGraphicFramePr>
          <p:cNvPr id="2" name="Table 1">
            <a:extLst>
              <a:ext uri="{FF2B5EF4-FFF2-40B4-BE49-F238E27FC236}">
                <a16:creationId xmlns:a16="http://schemas.microsoft.com/office/drawing/2014/main" id="{941380B2-AC23-F7D6-2C76-0CC162695706}"/>
              </a:ext>
            </a:extLst>
          </p:cNvPr>
          <p:cNvGraphicFramePr>
            <a:graphicFrameLocks noGrp="1"/>
          </p:cNvGraphicFramePr>
          <p:nvPr>
            <p:extLst>
              <p:ext uri="{D42A27DB-BD31-4B8C-83A1-F6EECF244321}">
                <p14:modId xmlns:p14="http://schemas.microsoft.com/office/powerpoint/2010/main" val="3492753544"/>
              </p:ext>
            </p:extLst>
          </p:nvPr>
        </p:nvGraphicFramePr>
        <p:xfrm>
          <a:off x="1394085" y="1300246"/>
          <a:ext cx="10229210" cy="4860715"/>
        </p:xfrm>
        <a:graphic>
          <a:graphicData uri="http://schemas.openxmlformats.org/drawingml/2006/table">
            <a:tbl>
              <a:tblPr>
                <a:tableStyleId>{2D5ABB26-0587-4C30-8999-92F81FD0307C}</a:tableStyleId>
              </a:tblPr>
              <a:tblGrid>
                <a:gridCol w="5114605">
                  <a:extLst>
                    <a:ext uri="{9D8B030D-6E8A-4147-A177-3AD203B41FA5}">
                      <a16:colId xmlns:a16="http://schemas.microsoft.com/office/drawing/2014/main" val="1443047906"/>
                    </a:ext>
                  </a:extLst>
                </a:gridCol>
                <a:gridCol w="5114605">
                  <a:extLst>
                    <a:ext uri="{9D8B030D-6E8A-4147-A177-3AD203B41FA5}">
                      <a16:colId xmlns:a16="http://schemas.microsoft.com/office/drawing/2014/main" val="657019089"/>
                    </a:ext>
                  </a:extLst>
                </a:gridCol>
              </a:tblGrid>
              <a:tr h="366456">
                <a:tc>
                  <a:txBody>
                    <a:bodyPr/>
                    <a:lstStyle/>
                    <a:p>
                      <a:pPr>
                        <a:buNone/>
                      </a:pPr>
                      <a:r>
                        <a:rPr lang="en-IN" sz="1800" dirty="0"/>
                        <a:t>Technology</a:t>
                      </a:r>
                    </a:p>
                  </a:txBody>
                  <a:tcPr marL="90458" marR="90458" marT="45229" marB="45229" anchor="ctr"/>
                </a:tc>
                <a:tc>
                  <a:txBody>
                    <a:bodyPr/>
                    <a:lstStyle/>
                    <a:p>
                      <a:pPr>
                        <a:buNone/>
                      </a:pPr>
                      <a:r>
                        <a:rPr lang="en-IN" sz="1800"/>
                        <a:t>Purpose</a:t>
                      </a:r>
                    </a:p>
                  </a:txBody>
                  <a:tcPr marL="90458" marR="90458" marT="45229" marB="45229" anchor="ctr"/>
                </a:tc>
                <a:extLst>
                  <a:ext uri="{0D108BD9-81ED-4DB2-BD59-A6C34878D82A}">
                    <a16:rowId xmlns:a16="http://schemas.microsoft.com/office/drawing/2014/main" val="600894427"/>
                  </a:ext>
                </a:extLst>
              </a:tr>
              <a:tr h="642037">
                <a:tc>
                  <a:txBody>
                    <a:bodyPr/>
                    <a:lstStyle/>
                    <a:p>
                      <a:pPr>
                        <a:buNone/>
                      </a:pPr>
                      <a:r>
                        <a:rPr lang="en-IN" sz="1800" dirty="0"/>
                        <a:t>Microsoft Planner</a:t>
                      </a:r>
                    </a:p>
                  </a:txBody>
                  <a:tcPr marL="90458" marR="90458" marT="45229" marB="45229" anchor="ctr"/>
                </a:tc>
                <a:tc>
                  <a:txBody>
                    <a:bodyPr/>
                    <a:lstStyle/>
                    <a:p>
                      <a:pPr>
                        <a:buNone/>
                      </a:pPr>
                      <a:r>
                        <a:rPr lang="en-IN" sz="1800"/>
                        <a:t>Manages project tasks, schedules, priorities, and progress tracking.</a:t>
                      </a:r>
                    </a:p>
                  </a:txBody>
                  <a:tcPr marL="90458" marR="90458" marT="45229" marB="45229" anchor="ctr"/>
                </a:tc>
                <a:extLst>
                  <a:ext uri="{0D108BD9-81ED-4DB2-BD59-A6C34878D82A}">
                    <a16:rowId xmlns:a16="http://schemas.microsoft.com/office/drawing/2014/main" val="1448355152"/>
                  </a:ext>
                </a:extLst>
              </a:tr>
              <a:tr h="642037">
                <a:tc>
                  <a:txBody>
                    <a:bodyPr/>
                    <a:lstStyle/>
                    <a:p>
                      <a:pPr>
                        <a:buNone/>
                      </a:pPr>
                      <a:r>
                        <a:rPr lang="en-IN" sz="1800" dirty="0"/>
                        <a:t>Microsoft Copilot Studio</a:t>
                      </a:r>
                    </a:p>
                  </a:txBody>
                  <a:tcPr marL="90458" marR="90458" marT="45229" marB="45229" anchor="ctr"/>
                </a:tc>
                <a:tc>
                  <a:txBody>
                    <a:bodyPr/>
                    <a:lstStyle/>
                    <a:p>
                      <a:pPr>
                        <a:buNone/>
                      </a:pPr>
                      <a:r>
                        <a:rPr lang="en-IN" sz="1800"/>
                        <a:t>Develops the AI-powered Project Health Agent for risk analysis and recommendation generation.</a:t>
                      </a:r>
                    </a:p>
                  </a:txBody>
                  <a:tcPr marL="90458" marR="90458" marT="45229" marB="45229" anchor="ctr"/>
                </a:tc>
                <a:extLst>
                  <a:ext uri="{0D108BD9-81ED-4DB2-BD59-A6C34878D82A}">
                    <a16:rowId xmlns:a16="http://schemas.microsoft.com/office/drawing/2014/main" val="3541375409"/>
                  </a:ext>
                </a:extLst>
              </a:tr>
              <a:tr h="642037">
                <a:tc>
                  <a:txBody>
                    <a:bodyPr/>
                    <a:lstStyle/>
                    <a:p>
                      <a:pPr>
                        <a:buNone/>
                      </a:pPr>
                      <a:r>
                        <a:rPr lang="en-IN" sz="1800" dirty="0"/>
                        <a:t>Power Automate</a:t>
                      </a:r>
                    </a:p>
                  </a:txBody>
                  <a:tcPr marL="90458" marR="90458" marT="45229" marB="45229" anchor="ctr"/>
                </a:tc>
                <a:tc>
                  <a:txBody>
                    <a:bodyPr/>
                    <a:lstStyle/>
                    <a:p>
                      <a:pPr>
                        <a:buNone/>
                      </a:pPr>
                      <a:r>
                        <a:rPr lang="en-IN" sz="1800"/>
                        <a:t>Automates workflows, integrates services, and orchestrates project monitoring activities.</a:t>
                      </a:r>
                    </a:p>
                  </a:txBody>
                  <a:tcPr marL="90458" marR="90458" marT="45229" marB="45229" anchor="ctr"/>
                </a:tc>
                <a:extLst>
                  <a:ext uri="{0D108BD9-81ED-4DB2-BD59-A6C34878D82A}">
                    <a16:rowId xmlns:a16="http://schemas.microsoft.com/office/drawing/2014/main" val="1227212509"/>
                  </a:ext>
                </a:extLst>
              </a:tr>
              <a:tr h="642037">
                <a:tc>
                  <a:txBody>
                    <a:bodyPr/>
                    <a:lstStyle/>
                    <a:p>
                      <a:pPr>
                        <a:buNone/>
                      </a:pPr>
                      <a:r>
                        <a:rPr lang="en-IN" sz="1800" dirty="0"/>
                        <a:t>Microsoft Teams</a:t>
                      </a:r>
                    </a:p>
                  </a:txBody>
                  <a:tcPr marL="90458" marR="90458" marT="45229" marB="45229" anchor="ctr"/>
                </a:tc>
                <a:tc>
                  <a:txBody>
                    <a:bodyPr/>
                    <a:lstStyle/>
                    <a:p>
                      <a:pPr>
                        <a:buNone/>
                      </a:pPr>
                      <a:r>
                        <a:rPr lang="en-IN" sz="1800"/>
                        <a:t>Delivers project alerts, notifications, and stakeholder communication.</a:t>
                      </a:r>
                    </a:p>
                  </a:txBody>
                  <a:tcPr marL="90458" marR="90458" marT="45229" marB="45229" anchor="ctr"/>
                </a:tc>
                <a:extLst>
                  <a:ext uri="{0D108BD9-81ED-4DB2-BD59-A6C34878D82A}">
                    <a16:rowId xmlns:a16="http://schemas.microsoft.com/office/drawing/2014/main" val="3197802446"/>
                  </a:ext>
                </a:extLst>
              </a:tr>
              <a:tr h="642037">
                <a:tc>
                  <a:txBody>
                    <a:bodyPr/>
                    <a:lstStyle/>
                    <a:p>
                      <a:pPr>
                        <a:buNone/>
                      </a:pPr>
                      <a:r>
                        <a:rPr lang="en-IN" sz="1800" dirty="0"/>
                        <a:t>Microsoft Outlook</a:t>
                      </a:r>
                    </a:p>
                  </a:txBody>
                  <a:tcPr marL="90458" marR="90458" marT="45229" marB="45229" anchor="ctr"/>
                </a:tc>
                <a:tc>
                  <a:txBody>
                    <a:bodyPr/>
                    <a:lstStyle/>
                    <a:p>
                      <a:pPr>
                        <a:buNone/>
                      </a:pPr>
                      <a:r>
                        <a:rPr lang="en-IN" sz="1800"/>
                        <a:t>Sends automated project health reports and escalation emails.</a:t>
                      </a:r>
                    </a:p>
                  </a:txBody>
                  <a:tcPr marL="90458" marR="90458" marT="45229" marB="45229" anchor="ctr"/>
                </a:tc>
                <a:extLst>
                  <a:ext uri="{0D108BD9-81ED-4DB2-BD59-A6C34878D82A}">
                    <a16:rowId xmlns:a16="http://schemas.microsoft.com/office/drawing/2014/main" val="3863655765"/>
                  </a:ext>
                </a:extLst>
              </a:tr>
              <a:tr h="642037">
                <a:tc>
                  <a:txBody>
                    <a:bodyPr/>
                    <a:lstStyle/>
                    <a:p>
                      <a:pPr>
                        <a:buNone/>
                      </a:pPr>
                      <a:r>
                        <a:rPr lang="en-IN" sz="1800" dirty="0"/>
                        <a:t>Microsoft Excel (Optional)</a:t>
                      </a:r>
                    </a:p>
                  </a:txBody>
                  <a:tcPr marL="90458" marR="90458" marT="45229" marB="45229" anchor="ctr"/>
                </a:tc>
                <a:tc>
                  <a:txBody>
                    <a:bodyPr/>
                    <a:lstStyle/>
                    <a:p>
                      <a:pPr>
                        <a:buNone/>
                      </a:pPr>
                      <a:r>
                        <a:rPr lang="en-IN" sz="1800"/>
                        <a:t>Stores project records, reports, and analysis results for reference and tracking.</a:t>
                      </a:r>
                    </a:p>
                  </a:txBody>
                  <a:tcPr marL="90458" marR="90458" marT="45229" marB="45229" anchor="ctr"/>
                </a:tc>
                <a:extLst>
                  <a:ext uri="{0D108BD9-81ED-4DB2-BD59-A6C34878D82A}">
                    <a16:rowId xmlns:a16="http://schemas.microsoft.com/office/drawing/2014/main" val="454386840"/>
                  </a:ext>
                </a:extLst>
              </a:tr>
              <a:tr h="642037">
                <a:tc>
                  <a:txBody>
                    <a:bodyPr/>
                    <a:lstStyle/>
                    <a:p>
                      <a:pPr>
                        <a:buNone/>
                      </a:pPr>
                      <a:r>
                        <a:rPr lang="en-IN" sz="1800" dirty="0"/>
                        <a:t>Microsoft 365</a:t>
                      </a:r>
                    </a:p>
                  </a:txBody>
                  <a:tcPr marL="90458" marR="90458" marT="45229" marB="45229" anchor="ctr"/>
                </a:tc>
                <a:tc>
                  <a:txBody>
                    <a:bodyPr/>
                    <a:lstStyle/>
                    <a:p>
                      <a:pPr>
                        <a:buNone/>
                      </a:pPr>
                      <a:r>
                        <a:rPr lang="en-IN" sz="1800" dirty="0"/>
                        <a:t>Provides the integrated cloud environment for collaboration, automation, and AI capabilities.</a:t>
                      </a:r>
                    </a:p>
                  </a:txBody>
                  <a:tcPr marL="90458" marR="90458" marT="45229" marB="45229" anchor="ctr"/>
                </a:tc>
                <a:extLst>
                  <a:ext uri="{0D108BD9-81ED-4DB2-BD59-A6C34878D82A}">
                    <a16:rowId xmlns:a16="http://schemas.microsoft.com/office/drawing/2014/main" val="2084272239"/>
                  </a:ext>
                </a:extLst>
              </a:tr>
            </a:tbl>
          </a:graphicData>
        </a:graphic>
      </p:graphicFrame>
    </p:spTree>
    <p:extLst>
      <p:ext uri="{BB962C8B-B14F-4D97-AF65-F5344CB8AC3E}">
        <p14:creationId xmlns:p14="http://schemas.microsoft.com/office/powerpoint/2010/main" val="354299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marL="342900" lvl="0" indent="-342900" fontAlgn="t"/>
            <a:r>
              <a:rPr lang="en-IN" b="0" dirty="0">
                <a:latin typeface="+mn-lt"/>
              </a:rPr>
              <a:t>The project leverages </a:t>
            </a:r>
            <a:r>
              <a:rPr lang="en-IN" dirty="0">
                <a:latin typeface="+mn-lt"/>
              </a:rPr>
              <a:t>Agentic AI principles</a:t>
            </a:r>
            <a:r>
              <a:rPr lang="en-IN" b="0" dirty="0">
                <a:latin typeface="+mn-lt"/>
              </a:rPr>
              <a:t>, enabling the system to </a:t>
            </a:r>
            <a:r>
              <a:rPr lang="en-IN" dirty="0">
                <a:latin typeface="+mn-lt"/>
              </a:rPr>
              <a:t>observe, reason, decide, and act</a:t>
            </a:r>
            <a:r>
              <a:rPr lang="en-IN" b="0" dirty="0">
                <a:latin typeface="+mn-lt"/>
              </a:rPr>
              <a:t> autonomously on project data.</a:t>
            </a:r>
          </a:p>
          <a:p>
            <a:pPr marL="342900" lvl="0" indent="-342900" fontAlgn="t"/>
            <a:r>
              <a:rPr lang="en-IN" b="0" dirty="0">
                <a:latin typeface="+mn-lt"/>
              </a:rPr>
              <a:t>The solution is implemented using the </a:t>
            </a:r>
            <a:r>
              <a:rPr lang="en-IN" dirty="0">
                <a:latin typeface="+mn-lt"/>
              </a:rPr>
              <a:t>Microsoft 365 ecosystem</a:t>
            </a:r>
            <a:r>
              <a:rPr lang="en-IN" b="0" dirty="0">
                <a:latin typeface="+mn-lt"/>
              </a:rPr>
              <a:t>, including Microsoft Planner, Copilot Studio, Power Automate, Teams, and Outlook.</a:t>
            </a:r>
          </a:p>
          <a:p>
            <a:pPr marL="342900" lvl="0" indent="-342900" fontAlgn="t"/>
            <a:r>
              <a:rPr lang="en-IN" b="0" dirty="0">
                <a:latin typeface="+mn-lt"/>
              </a:rPr>
              <a:t>It provides </a:t>
            </a:r>
            <a:r>
              <a:rPr lang="en-IN" dirty="0">
                <a:latin typeface="+mn-lt"/>
              </a:rPr>
              <a:t>real-time project visibility</a:t>
            </a:r>
            <a:r>
              <a:rPr lang="en-IN" b="0" dirty="0">
                <a:latin typeface="+mn-lt"/>
              </a:rPr>
              <a:t> by continuously monitoring task status, due dates, and priorities.</a:t>
            </a:r>
          </a:p>
          <a:p>
            <a:pPr marL="342900" lvl="0" indent="-342900" fontAlgn="t"/>
            <a:r>
              <a:rPr lang="en-IN" b="0" dirty="0">
                <a:latin typeface="+mn-lt"/>
              </a:rPr>
              <a:t>The system automatically classifies project health as </a:t>
            </a:r>
            <a:r>
              <a:rPr lang="en-IN" dirty="0">
                <a:latin typeface="+mn-lt"/>
              </a:rPr>
              <a:t>Green, Amber, or Red</a:t>
            </a:r>
            <a:r>
              <a:rPr lang="en-IN" b="0" dirty="0">
                <a:latin typeface="+mn-lt"/>
              </a:rPr>
              <a:t> based on predefined project governance rules.</a:t>
            </a:r>
          </a:p>
          <a:p>
            <a:pPr marL="342900" lvl="0" indent="-342900" fontAlgn="t"/>
            <a:r>
              <a:rPr lang="en-IN" b="0" dirty="0">
                <a:latin typeface="+mn-lt"/>
              </a:rPr>
              <a:t>AI-generated recommendations help project managers take proactive actions before issues become critical.</a:t>
            </a:r>
          </a:p>
          <a:p>
            <a:pPr>
              <a:lnSpc>
                <a:spcPct val="150000"/>
              </a:lnSpc>
            </a:pPr>
            <a:endParaRPr lang="en-US" sz="2400" b="0" dirty="0">
              <a:solidFill>
                <a:srgbClr val="5583D1"/>
              </a:solidFill>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Additional Information</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1200329"/>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sz="1800" b="1" i="1" dirty="0">
              <a:solidFill>
                <a:srgbClr val="FFFFFF"/>
              </a:solidFill>
            </a:endParaRPr>
          </a:p>
          <a:p>
            <a:pPr algn="r"/>
            <a:endParaRPr lang="en-US" dirty="0"/>
          </a:p>
        </p:txBody>
      </p:sp>
    </p:spTree>
    <p:extLst>
      <p:ext uri="{BB962C8B-B14F-4D97-AF65-F5344CB8AC3E}">
        <p14:creationId xmlns:p14="http://schemas.microsoft.com/office/powerpoint/2010/main" val="135409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D4A0452-2CB8-E4C6-FAC7-ECD109C50CE1}"/>
              </a:ext>
            </a:extLst>
          </p:cNvPr>
          <p:cNvSpPr txBox="1"/>
          <p:nvPr/>
        </p:nvSpPr>
        <p:spPr>
          <a:xfrm>
            <a:off x="6093893" y="57036"/>
            <a:ext cx="6098107" cy="1200329"/>
          </a:xfrm>
          <a:prstGeom prst="rect">
            <a:avLst/>
          </a:prstGeom>
          <a:noFill/>
        </p:spPr>
        <p:txBody>
          <a:bodyPr wrap="square" rtlCol="0">
            <a:spAutoFit/>
          </a:bodyPr>
          <a:lstStyle/>
          <a:p>
            <a:pPr algn="r"/>
            <a:r>
              <a:rPr lang="en-IN" dirty="0">
                <a:solidFill>
                  <a:schemeClr val="bg1"/>
                </a:solidFill>
              </a:rPr>
              <a:t>Agentic AI-Based Project Health and Risk Monitoring System for </a:t>
            </a:r>
            <a:r>
              <a:rPr lang="en-IN" dirty="0"/>
              <a:t>Automated Project Governance</a:t>
            </a:r>
            <a:endParaRPr lang="en-US" b="1" dirty="0">
              <a:cs typeface="Calibri" panose="020F0502020204030204" pitchFamily="34" charset="0"/>
            </a:endParaRPr>
          </a:p>
          <a:p>
            <a:pPr algn="r"/>
            <a:endParaRPr lang="en-US" sz="1800" b="1" i="1" dirty="0">
              <a:solidFill>
                <a:srgbClr val="FFFFFF"/>
              </a:solidFill>
            </a:endParaRPr>
          </a:p>
          <a:p>
            <a:pPr algn="r"/>
            <a:endParaRPr lang="en-US" dirty="0"/>
          </a:p>
        </p:txBody>
      </p:sp>
      <p:graphicFrame>
        <p:nvGraphicFramePr>
          <p:cNvPr id="7" name="Table 6">
            <a:extLst>
              <a:ext uri="{FF2B5EF4-FFF2-40B4-BE49-F238E27FC236}">
                <a16:creationId xmlns:a16="http://schemas.microsoft.com/office/drawing/2014/main" id="{23C4719C-1196-8CBC-1B5B-2F0FBEB1E1BF}"/>
              </a:ext>
            </a:extLst>
          </p:cNvPr>
          <p:cNvGraphicFramePr>
            <a:graphicFrameLocks noGrp="1"/>
          </p:cNvGraphicFramePr>
          <p:nvPr>
            <p:extLst>
              <p:ext uri="{D42A27DB-BD31-4B8C-83A1-F6EECF244321}">
                <p14:modId xmlns:p14="http://schemas.microsoft.com/office/powerpoint/2010/main" val="3145838965"/>
              </p:ext>
            </p:extLst>
          </p:nvPr>
        </p:nvGraphicFramePr>
        <p:xfrm>
          <a:off x="1573967" y="1424068"/>
          <a:ext cx="9878518" cy="4937396"/>
        </p:xfrm>
        <a:graphic>
          <a:graphicData uri="http://schemas.openxmlformats.org/drawingml/2006/table">
            <a:tbl>
              <a:tblPr>
                <a:tableStyleId>{2D5ABB26-0587-4C30-8999-92F81FD0307C}</a:tableStyleId>
              </a:tblPr>
              <a:tblGrid>
                <a:gridCol w="4939259">
                  <a:extLst>
                    <a:ext uri="{9D8B030D-6E8A-4147-A177-3AD203B41FA5}">
                      <a16:colId xmlns:a16="http://schemas.microsoft.com/office/drawing/2014/main" val="1309750702"/>
                    </a:ext>
                  </a:extLst>
                </a:gridCol>
                <a:gridCol w="4939259">
                  <a:extLst>
                    <a:ext uri="{9D8B030D-6E8A-4147-A177-3AD203B41FA5}">
                      <a16:colId xmlns:a16="http://schemas.microsoft.com/office/drawing/2014/main" val="527067496"/>
                    </a:ext>
                  </a:extLst>
                </a:gridCol>
              </a:tblGrid>
              <a:tr h="228312">
                <a:tc>
                  <a:txBody>
                    <a:bodyPr/>
                    <a:lstStyle/>
                    <a:p>
                      <a:pPr>
                        <a:buNone/>
                      </a:pPr>
                      <a:r>
                        <a:rPr lang="en-IN" sz="1400" dirty="0"/>
                        <a:t>Module Name</a:t>
                      </a:r>
                    </a:p>
                  </a:txBody>
                  <a:tcPr marL="61465" marR="61465" marT="30732" marB="30732" anchor="ctr"/>
                </a:tc>
                <a:tc>
                  <a:txBody>
                    <a:bodyPr/>
                    <a:lstStyle/>
                    <a:p>
                      <a:pPr>
                        <a:buNone/>
                      </a:pPr>
                      <a:r>
                        <a:rPr lang="en-IN" sz="1400"/>
                        <a:t>Description</a:t>
                      </a:r>
                    </a:p>
                  </a:txBody>
                  <a:tcPr marL="61465" marR="61465" marT="30732" marB="30732" anchor="ctr"/>
                </a:tc>
                <a:extLst>
                  <a:ext uri="{0D108BD9-81ED-4DB2-BD59-A6C34878D82A}">
                    <a16:rowId xmlns:a16="http://schemas.microsoft.com/office/drawing/2014/main" val="4083228074"/>
                  </a:ext>
                </a:extLst>
              </a:tr>
              <a:tr h="570779">
                <a:tc>
                  <a:txBody>
                    <a:bodyPr/>
                    <a:lstStyle/>
                    <a:p>
                      <a:pPr>
                        <a:buNone/>
                      </a:pPr>
                      <a:r>
                        <a:rPr lang="en-IN" sz="1400" dirty="0"/>
                        <a:t>Project Data Management</a:t>
                      </a:r>
                    </a:p>
                  </a:txBody>
                  <a:tcPr marL="61465" marR="61465" marT="30732" marB="30732" anchor="ctr"/>
                </a:tc>
                <a:tc>
                  <a:txBody>
                    <a:bodyPr/>
                    <a:lstStyle/>
                    <a:p>
                      <a:pPr>
                        <a:buNone/>
                      </a:pPr>
                      <a:r>
                        <a:rPr lang="en-IN" sz="1400"/>
                        <a:t>Maintains and organizes project task information such as task name, owner, priority, status, and due date for effective monitoring and analysis.</a:t>
                      </a:r>
                    </a:p>
                  </a:txBody>
                  <a:tcPr marL="61465" marR="61465" marT="30732" marB="30732" anchor="ctr"/>
                </a:tc>
                <a:extLst>
                  <a:ext uri="{0D108BD9-81ED-4DB2-BD59-A6C34878D82A}">
                    <a16:rowId xmlns:a16="http://schemas.microsoft.com/office/drawing/2014/main" val="1533622667"/>
                  </a:ext>
                </a:extLst>
              </a:tr>
              <a:tr h="570779">
                <a:tc>
                  <a:txBody>
                    <a:bodyPr/>
                    <a:lstStyle/>
                    <a:p>
                      <a:pPr>
                        <a:buNone/>
                      </a:pPr>
                      <a:r>
                        <a:rPr lang="en-IN" sz="1400" dirty="0"/>
                        <a:t>Task Monitoring &amp; Tracking</a:t>
                      </a:r>
                    </a:p>
                  </a:txBody>
                  <a:tcPr marL="61465" marR="61465" marT="30732" marB="30732" anchor="ctr"/>
                </a:tc>
                <a:tc>
                  <a:txBody>
                    <a:bodyPr/>
                    <a:lstStyle/>
                    <a:p>
                      <a:pPr>
                        <a:buNone/>
                      </a:pPr>
                      <a:r>
                        <a:rPr lang="en-IN" sz="1400"/>
                        <a:t>Continuously monitors project activities and identifies delayed, overdue, or blocked tasks that may affect project progress.</a:t>
                      </a:r>
                    </a:p>
                  </a:txBody>
                  <a:tcPr marL="61465" marR="61465" marT="30732" marB="30732" anchor="ctr"/>
                </a:tc>
                <a:extLst>
                  <a:ext uri="{0D108BD9-81ED-4DB2-BD59-A6C34878D82A}">
                    <a16:rowId xmlns:a16="http://schemas.microsoft.com/office/drawing/2014/main" val="964175601"/>
                  </a:ext>
                </a:extLst>
              </a:tr>
              <a:tr h="399546">
                <a:tc>
                  <a:txBody>
                    <a:bodyPr/>
                    <a:lstStyle/>
                    <a:p>
                      <a:pPr>
                        <a:buNone/>
                      </a:pPr>
                      <a:r>
                        <a:rPr lang="en-IN" sz="1400" dirty="0"/>
                        <a:t>Project Health Assessment</a:t>
                      </a:r>
                    </a:p>
                  </a:txBody>
                  <a:tcPr marL="61465" marR="61465" marT="30732" marB="30732" anchor="ctr"/>
                </a:tc>
                <a:tc>
                  <a:txBody>
                    <a:bodyPr/>
                    <a:lstStyle/>
                    <a:p>
                      <a:pPr>
                        <a:buNone/>
                      </a:pPr>
                      <a:r>
                        <a:rPr lang="en-IN" sz="1400"/>
                        <a:t>Evaluates the overall project status and categorizes it as Green, Amber, or Red based on predefined health rules.</a:t>
                      </a:r>
                    </a:p>
                  </a:txBody>
                  <a:tcPr marL="61465" marR="61465" marT="30732" marB="30732" anchor="ctr"/>
                </a:tc>
                <a:extLst>
                  <a:ext uri="{0D108BD9-81ED-4DB2-BD59-A6C34878D82A}">
                    <a16:rowId xmlns:a16="http://schemas.microsoft.com/office/drawing/2014/main" val="1591176118"/>
                  </a:ext>
                </a:extLst>
              </a:tr>
              <a:tr h="399546">
                <a:tc>
                  <a:txBody>
                    <a:bodyPr/>
                    <a:lstStyle/>
                    <a:p>
                      <a:pPr>
                        <a:buNone/>
                      </a:pPr>
                      <a:r>
                        <a:rPr lang="en-IN" sz="1400" dirty="0"/>
                        <a:t>Risk Detection &amp; Analysis</a:t>
                      </a:r>
                    </a:p>
                  </a:txBody>
                  <a:tcPr marL="61465" marR="61465" marT="30732" marB="30732" anchor="ctr"/>
                </a:tc>
                <a:tc>
                  <a:txBody>
                    <a:bodyPr/>
                    <a:lstStyle/>
                    <a:p>
                      <a:pPr>
                        <a:buNone/>
                      </a:pPr>
                      <a:r>
                        <a:rPr lang="en-IN" sz="1400"/>
                        <a:t>Identifies potential project risks by analyzing task delays, critical activities, and project dependencies.</a:t>
                      </a:r>
                    </a:p>
                  </a:txBody>
                  <a:tcPr marL="61465" marR="61465" marT="30732" marB="30732" anchor="ctr"/>
                </a:tc>
                <a:extLst>
                  <a:ext uri="{0D108BD9-81ED-4DB2-BD59-A6C34878D82A}">
                    <a16:rowId xmlns:a16="http://schemas.microsoft.com/office/drawing/2014/main" val="4153660619"/>
                  </a:ext>
                </a:extLst>
              </a:tr>
              <a:tr h="570779">
                <a:tc>
                  <a:txBody>
                    <a:bodyPr/>
                    <a:lstStyle/>
                    <a:p>
                      <a:pPr>
                        <a:buNone/>
                      </a:pPr>
                      <a:r>
                        <a:rPr lang="en-IN" sz="1400" dirty="0"/>
                        <a:t>AI Recommendation Engine</a:t>
                      </a:r>
                    </a:p>
                  </a:txBody>
                  <a:tcPr marL="61465" marR="61465" marT="30732" marB="30732" anchor="ctr"/>
                </a:tc>
                <a:tc>
                  <a:txBody>
                    <a:bodyPr/>
                    <a:lstStyle/>
                    <a:p>
                      <a:pPr>
                        <a:buNone/>
                      </a:pPr>
                      <a:r>
                        <a:rPr lang="en-IN" sz="1400"/>
                        <a:t>Utilizes the Copilot Studio Agent to generate intelligent recommendations and mitigation strategies for identified risks.</a:t>
                      </a:r>
                    </a:p>
                  </a:txBody>
                  <a:tcPr marL="61465" marR="61465" marT="30732" marB="30732" anchor="ctr"/>
                </a:tc>
                <a:extLst>
                  <a:ext uri="{0D108BD9-81ED-4DB2-BD59-A6C34878D82A}">
                    <a16:rowId xmlns:a16="http://schemas.microsoft.com/office/drawing/2014/main" val="2050321504"/>
                  </a:ext>
                </a:extLst>
              </a:tr>
              <a:tr h="570779">
                <a:tc>
                  <a:txBody>
                    <a:bodyPr/>
                    <a:lstStyle/>
                    <a:p>
                      <a:pPr>
                        <a:buNone/>
                      </a:pPr>
                      <a:r>
                        <a:rPr lang="en-IN" sz="1400" dirty="0"/>
                        <a:t>Automated Reporting</a:t>
                      </a:r>
                    </a:p>
                  </a:txBody>
                  <a:tcPr marL="61465" marR="61465" marT="30732" marB="30732" anchor="ctr"/>
                </a:tc>
                <a:tc>
                  <a:txBody>
                    <a:bodyPr/>
                    <a:lstStyle/>
                    <a:p>
                      <a:pPr>
                        <a:buNone/>
                      </a:pPr>
                      <a:r>
                        <a:rPr lang="en-IN" sz="1400"/>
                        <a:t>Creates project status summaries and reports automatically, reducing manual reporting effort and improving visibility.</a:t>
                      </a:r>
                    </a:p>
                  </a:txBody>
                  <a:tcPr marL="61465" marR="61465" marT="30732" marB="30732" anchor="ctr"/>
                </a:tc>
                <a:extLst>
                  <a:ext uri="{0D108BD9-81ED-4DB2-BD59-A6C34878D82A}">
                    <a16:rowId xmlns:a16="http://schemas.microsoft.com/office/drawing/2014/main" val="2859853446"/>
                  </a:ext>
                </a:extLst>
              </a:tr>
              <a:tr h="570779">
                <a:tc>
                  <a:txBody>
                    <a:bodyPr/>
                    <a:lstStyle/>
                    <a:p>
                      <a:pPr>
                        <a:buNone/>
                      </a:pPr>
                      <a:r>
                        <a:rPr lang="en-IN" sz="1400" dirty="0"/>
                        <a:t>Notification &amp; Stakeholder Communication</a:t>
                      </a:r>
                    </a:p>
                  </a:txBody>
                  <a:tcPr marL="61465" marR="61465" marT="30732" marB="30732" anchor="ctr"/>
                </a:tc>
                <a:tc>
                  <a:txBody>
                    <a:bodyPr/>
                    <a:lstStyle/>
                    <a:p>
                      <a:pPr>
                        <a:buNone/>
                      </a:pPr>
                      <a:r>
                        <a:rPr lang="en-IN" sz="1400"/>
                        <a:t>Sends project updates, alerts, and recommendations through Microsoft Teams and Outlook to keep stakeholders informed.</a:t>
                      </a:r>
                    </a:p>
                  </a:txBody>
                  <a:tcPr marL="61465" marR="61465" marT="30732" marB="30732" anchor="ctr"/>
                </a:tc>
                <a:extLst>
                  <a:ext uri="{0D108BD9-81ED-4DB2-BD59-A6C34878D82A}">
                    <a16:rowId xmlns:a16="http://schemas.microsoft.com/office/drawing/2014/main" val="533789780"/>
                  </a:ext>
                </a:extLst>
              </a:tr>
              <a:tr h="570779">
                <a:tc>
                  <a:txBody>
                    <a:bodyPr/>
                    <a:lstStyle/>
                    <a:p>
                      <a:pPr>
                        <a:buNone/>
                      </a:pPr>
                      <a:r>
                        <a:rPr lang="en-IN" sz="1400" dirty="0"/>
                        <a:t>Escalation Management</a:t>
                      </a:r>
                    </a:p>
                  </a:txBody>
                  <a:tcPr marL="61465" marR="61465" marT="30732" marB="30732" anchor="ctr"/>
                </a:tc>
                <a:tc>
                  <a:txBody>
                    <a:bodyPr/>
                    <a:lstStyle/>
                    <a:p>
                      <a:pPr>
                        <a:buNone/>
                      </a:pPr>
                      <a:r>
                        <a:rPr lang="en-IN" sz="1400" dirty="0"/>
                        <a:t>Automatically escalates critical project issues and high-risk situations to project managers and stakeholders for immediate action.</a:t>
                      </a:r>
                    </a:p>
                  </a:txBody>
                  <a:tcPr marL="61465" marR="61465" marT="30732" marB="30732" anchor="ctr"/>
                </a:tc>
                <a:extLst>
                  <a:ext uri="{0D108BD9-81ED-4DB2-BD59-A6C34878D82A}">
                    <a16:rowId xmlns:a16="http://schemas.microsoft.com/office/drawing/2014/main" val="2295903709"/>
                  </a:ext>
                </a:extLst>
              </a:tr>
            </a:tbl>
          </a:graphicData>
        </a:graphic>
      </p:graphicFrame>
    </p:spTree>
    <p:extLst>
      <p:ext uri="{BB962C8B-B14F-4D97-AF65-F5344CB8AC3E}">
        <p14:creationId xmlns:p14="http://schemas.microsoft.com/office/powerpoint/2010/main" val="55144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p:txBody>
          <a:bodyPr/>
          <a:lstStyle/>
          <a:p>
            <a:pPr marL="342900" lvl="0" indent="-342900" fontAlgn="t"/>
            <a:r>
              <a:rPr lang="en-IN" b="0" dirty="0"/>
              <a:t>Project Data Management Module</a:t>
            </a:r>
          </a:p>
          <a:p>
            <a:pPr marL="342900" lvl="0" indent="-342900" fontAlgn="t"/>
            <a:r>
              <a:rPr lang="en-IN" b="0" dirty="0"/>
              <a:t>Task Monitoring Module</a:t>
            </a:r>
          </a:p>
          <a:p>
            <a:pPr marL="342900" lvl="0" indent="-342900" fontAlgn="t"/>
            <a:r>
              <a:rPr lang="en-IN" b="0" dirty="0"/>
              <a:t>Project Health Assessment Module</a:t>
            </a:r>
          </a:p>
          <a:p>
            <a:pPr marL="342900" lvl="0" indent="-342900" fontAlgn="t"/>
            <a:r>
              <a:rPr lang="en-IN" b="0" dirty="0"/>
              <a:t>Risk Detection and Analysis Module</a:t>
            </a:r>
          </a:p>
          <a:p>
            <a:pPr marL="342900" lvl="0" indent="-342900" fontAlgn="t"/>
            <a:r>
              <a:rPr lang="en-IN" b="0" dirty="0"/>
              <a:t>Agentic AI Recommendation Engine Module</a:t>
            </a:r>
          </a:p>
          <a:p>
            <a:pPr marL="342900" lvl="0" indent="-342900" fontAlgn="t"/>
            <a:r>
              <a:rPr lang="en-IN" b="0" dirty="0"/>
              <a:t>Automated Reporting Module</a:t>
            </a:r>
          </a:p>
          <a:p>
            <a:pPr marL="342900" lvl="0" indent="-342900" fontAlgn="t"/>
            <a:r>
              <a:rPr lang="en-IN" b="0" dirty="0"/>
              <a:t>Teams and Email Notification Module</a:t>
            </a:r>
          </a:p>
          <a:p>
            <a:pPr marL="342900" lvl="0" indent="-342900" fontAlgn="t"/>
            <a:r>
              <a:rPr lang="en-IN" b="0" dirty="0"/>
              <a:t>Escalation Management Module</a:t>
            </a:r>
          </a:p>
          <a:p>
            <a:pPr lvl="1"/>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US" b="1" i="1" dirty="0">
                <a:solidFill>
                  <a:srgbClr val="FFFFFF"/>
                </a:solidFill>
              </a:rPr>
              <a:t>Project Title -  Calibri body 18</a:t>
            </a:r>
          </a:p>
          <a:p>
            <a:pPr algn="r"/>
            <a:endParaRPr lang="en-US" dirty="0"/>
          </a:p>
        </p:txBody>
      </p:sp>
    </p:spTree>
    <p:extLst>
      <p:ext uri="{BB962C8B-B14F-4D97-AF65-F5344CB8AC3E}">
        <p14:creationId xmlns:p14="http://schemas.microsoft.com/office/powerpoint/2010/main" val="3964333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861</TotalTime>
  <Words>2475</Words>
  <Application>Microsoft Office PowerPoint</Application>
  <PresentationFormat>Widescreen</PresentationFormat>
  <Paragraphs>219</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NoelJacob Biju</cp:lastModifiedBy>
  <cp:revision>66</cp:revision>
  <dcterms:created xsi:type="dcterms:W3CDTF">2024-05-13T10:33:11Z</dcterms:created>
  <dcterms:modified xsi:type="dcterms:W3CDTF">2026-09-15T04:30:09Z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